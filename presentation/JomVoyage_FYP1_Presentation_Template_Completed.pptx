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Lst>
  <p:sldSz cx="18288000" cy="10287000"/>
  <p:notesSz cx="6858000" cy="9144000"/>
  <p:embeddedFontLst>
    <p:embeddedFont>
      <p:font typeface="Hero Bold" panose="020B0604020202020204" charset="0"/>
      <p:regular r:id="rId18"/>
    </p:embeddedFont>
    <p:embeddedFont>
      <p:font typeface="Quicksand" panose="020B0604020202020204" charset="0"/>
      <p:regular r:id="rId19"/>
    </p:embeddedFont>
    <p:embeddedFont>
      <p:font typeface="Quicksand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The trained spaCy model identifies the user’s intent. Rules extract travel preferences and approximate matching helps with likely speech recognition errors. The retrieval stage first applies structured conditions such as state and accessibility. FTS5 ranks keyword matches, while semantic similarity helps when the wording differs. The stored constraints remain in control.</a:t>
            </a:r>
          </a:p>
          <a:p>
            <a:endParaRPr/>
          </a:p>
          <a:p>
            <a:r>
              <a:t>Source: FYP1 report, Sections 3.3 and 3.3.1.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The general catalogue provides broad tourism coverage through 430 attractions. A separate reviewed layer contains 66 attractions with recorded elderly-accessibility details. General searches can use the whole catalogue. Requests involving elderly travellers, wheelchair access or easier mobility use the reviewed layer. The system keeps unknown values as not recorded instead of treating them as available.</a:t>
            </a:r>
          </a:p>
          <a:p>
            <a:endParaRPr/>
          </a:p>
          <a:p>
            <a:r>
              <a:t>Source: FYP1 report, Sections 3.2, 3.4 and 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The main interface features support a guided trip-planning conversation. Maya remembers the current preferences and lets the user change them. The interface provides larger text, high contrast, speech input and generated read-aloud audio. Users can also save conversations and request additional options without losing earlier cards. Malay and Simplified Chinese support uses a controlled phrase vocabulary rather than unrestricted conversation.</a:t>
            </a:r>
          </a:p>
          <a:p>
            <a:endParaRPr/>
          </a:p>
          <a:p>
            <a:r>
              <a:t>Source: FYP1 report, Sections 3.3.4 and 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The current prototype has four main limitations. Accessibility evidence covers only 66 attractions. Malay and Chinese input follows a controlled vocabulary. Speech recognition quality depends on the device and browser. The project has not yet conducted formal usability testing with elderly participants. The system also provides travel recommendations only. It does not perform booking or medical assessment.</a:t>
            </a:r>
          </a:p>
          <a:p>
            <a:endParaRPr/>
          </a:p>
          <a:p>
            <a:r>
              <a:t>Source: FYP1 report, Sections 1.3 and 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FYP2 will focus on evidence coverage and evaluation with the intended users. I plan to expand the reviewed accessibility records, conduct task-based sessions with elderly participants and collect a System Usability Scale score. Their observations will guide improvements to the dialogue and interface. The final phase will repeat the technical evaluation and complete the report. A mobile prototype remains optional until the web workflow is stable.</a:t>
            </a:r>
          </a:p>
          <a:p>
            <a:endParaRPr/>
          </a:p>
          <a:p>
            <a:r>
              <a:t>Source: FYP1 report, Sections 1.4 and 5.2, and the project Gantt chart.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JomVoyage demonstrates that an AI-based travel chatbot can use a trained intent classifier, preference extraction and controlled retrieval without relying on an unrestricted large language model. The prototype already supports guided planning and evidence-based accessibility explanations. The next priority is to evaluate whether elderly users can complete planning tasks comfortably and understand the results.</a:t>
            </a:r>
          </a:p>
          <a:p>
            <a:endParaRPr/>
          </a:p>
          <a:p>
            <a:r>
              <a:t>Source: FYP1 report, Chapter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Thank you. I am ready for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50C1-A76E-4AAC-B372-583B3FE91361}"/>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211FD359-A99D-4F84-A888-C8B477CED083}"/>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59CF9697-1A47-4580-B6A4-020E0B26E340}"/>
              </a:ext>
            </a:extLst>
          </p:cNvPr>
          <p:cNvSpPr>
            <a:spLocks noGrp="1"/>
          </p:cNvSpPr>
          <p:nvPr>
            <p:ph type="dt" idx="10"/>
          </p:nvPr>
        </p:nvSpPr>
        <p:spPr/>
        <p:txBody>
          <a:bodyPr/>
          <a:lstStyle/>
          <a:p>
            <a:fld id="{1D8BD707-D9CF-40AE-B4C6-C98DA3205C09}" type="datetimeFigureOut">
              <a:t>9/7/2026</a:t>
            </a:fld>
            <a:endParaRPr/>
          </a:p>
        </p:txBody>
      </p:sp>
      <p:sp>
        <p:nvSpPr>
          <p:cNvPr id="5" name="Footer Placeholder 4">
            <a:extLst>
              <a:ext uri="{FF2B5EF4-FFF2-40B4-BE49-F238E27FC236}">
                <a16:creationId xmlns:a16="http://schemas.microsoft.com/office/drawing/2014/main" id="{6D7CFC9D-5CA9-494C-9182-2E51BBFD6BD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451E19C-2FA6-47B8-AE46-E74052DB0BE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FAA12-248F-4CB2-86F0-0407F1D55DE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15FCDA5-12E1-47C1-8132-DAC3F86AF07A}"/>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C91D43-02AB-4ECD-92AB-A0BEB5704BAD}"/>
              </a:ext>
            </a:extLst>
          </p:cNvPr>
          <p:cNvSpPr>
            <a:spLocks noGrp="1"/>
          </p:cNvSpPr>
          <p:nvPr>
            <p:ph type="dt" idx="10"/>
          </p:nvPr>
        </p:nvSpPr>
        <p:spPr/>
        <p:txBody>
          <a:bodyPr/>
          <a:lstStyle/>
          <a:p>
            <a:fld id="{1D8BD707-D9CF-40AE-B4C6-C98DA3205C09}" type="datetimeFigureOut">
              <a:t>9/7/2026</a:t>
            </a:fld>
            <a:endParaRPr/>
          </a:p>
        </p:txBody>
      </p:sp>
      <p:sp>
        <p:nvSpPr>
          <p:cNvPr id="5" name="Footer Placeholder 4">
            <a:extLst>
              <a:ext uri="{FF2B5EF4-FFF2-40B4-BE49-F238E27FC236}">
                <a16:creationId xmlns:a16="http://schemas.microsoft.com/office/drawing/2014/main" id="{7821D8CB-5F5D-41D7-8D2B-82AA3E15300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8E46FB5-8E84-48E9-A912-49FCF45815C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F380-2B92-47E0-920E-143B3A2B4325}"/>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738453E6-3338-4774-B52F-5ED4BC82F72E}"/>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388B4C48-0EAA-4357-9494-4C7E45189210}"/>
              </a:ext>
            </a:extLst>
          </p:cNvPr>
          <p:cNvSpPr>
            <a:spLocks noGrp="1"/>
          </p:cNvSpPr>
          <p:nvPr>
            <p:ph type="dt" idx="10"/>
          </p:nvPr>
        </p:nvSpPr>
        <p:spPr/>
        <p:txBody>
          <a:bodyPr/>
          <a:lstStyle/>
          <a:p>
            <a:fld id="{1D8BD707-D9CF-40AE-B4C6-C98DA3205C09}" type="datetimeFigureOut">
              <a:t>9/7/2026</a:t>
            </a:fld>
            <a:endParaRPr/>
          </a:p>
        </p:txBody>
      </p:sp>
      <p:sp>
        <p:nvSpPr>
          <p:cNvPr id="5" name="Footer Placeholder 4">
            <a:extLst>
              <a:ext uri="{FF2B5EF4-FFF2-40B4-BE49-F238E27FC236}">
                <a16:creationId xmlns:a16="http://schemas.microsoft.com/office/drawing/2014/main" id="{6614D0AD-5930-4697-BF39-57528A7358B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FD13942-3909-45D6-A649-F289708885F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A3E1-92F8-438B-B06C-FC2798C586C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DA330B0-C1ED-42C7-9B1B-D3B15FA307E7}"/>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D5281DC-AA3D-4FB5-8898-1831AC2AB37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A2E8B9A-0762-41C5-977E-7F6F9BE81C66}"/>
              </a:ext>
            </a:extLst>
          </p:cNvPr>
          <p:cNvSpPr>
            <a:spLocks noGrp="1"/>
          </p:cNvSpPr>
          <p:nvPr>
            <p:ph type="dt" idx="10"/>
          </p:nvPr>
        </p:nvSpPr>
        <p:spPr/>
        <p:txBody>
          <a:bodyPr/>
          <a:lstStyle/>
          <a:p>
            <a:fld id="{1D8BD707-D9CF-40AE-B4C6-C98DA3205C09}" type="datetimeFigureOut">
              <a:t>9/7/2026</a:t>
            </a:fld>
            <a:endParaRPr/>
          </a:p>
        </p:txBody>
      </p:sp>
      <p:sp>
        <p:nvSpPr>
          <p:cNvPr id="6" name="Footer Placeholder 5">
            <a:extLst>
              <a:ext uri="{FF2B5EF4-FFF2-40B4-BE49-F238E27FC236}">
                <a16:creationId xmlns:a16="http://schemas.microsoft.com/office/drawing/2014/main" id="{7ABB02C6-33E3-4CBF-BBD6-F6547F72ED9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AA3167-8548-42FE-A733-74F06DEB941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65BB-7901-420E-B48B-2058E331C2DD}"/>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D89594D5-0E68-44F9-8692-EA99E442B3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8418CFA-79D1-419B-B35D-C9EB24B504CE}"/>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038D11E8-7860-4D73-B835-24CA9AB7F77F}"/>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E54A54AD-FFFB-4CAD-A9D1-738B0F078B80}"/>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01393CD-1EF0-44AF-9936-ED7DE1840B7A}"/>
              </a:ext>
            </a:extLst>
          </p:cNvPr>
          <p:cNvSpPr>
            <a:spLocks noGrp="1"/>
          </p:cNvSpPr>
          <p:nvPr>
            <p:ph type="dt" idx="10"/>
          </p:nvPr>
        </p:nvSpPr>
        <p:spPr/>
        <p:txBody>
          <a:bodyPr/>
          <a:lstStyle/>
          <a:p>
            <a:fld id="{1D8BD707-D9CF-40AE-B4C6-C98DA3205C09}" type="datetimeFigureOut">
              <a:t>9/7/2026</a:t>
            </a:fld>
            <a:endParaRPr/>
          </a:p>
        </p:txBody>
      </p:sp>
      <p:sp>
        <p:nvSpPr>
          <p:cNvPr id="8" name="Footer Placeholder 7">
            <a:extLst>
              <a:ext uri="{FF2B5EF4-FFF2-40B4-BE49-F238E27FC236}">
                <a16:creationId xmlns:a16="http://schemas.microsoft.com/office/drawing/2014/main" id="{5AA0A34E-3ADA-4EAB-A6A1-9B61F37338E8}"/>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DF81161-914E-43E6-B518-F24474E15A73}"/>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E25E5-E851-452B-9546-97F7CCD2E71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F7990D04-0522-41A1-9C27-C4763DE330A3}"/>
              </a:ext>
            </a:extLst>
          </p:cNvPr>
          <p:cNvSpPr>
            <a:spLocks noGrp="1"/>
          </p:cNvSpPr>
          <p:nvPr>
            <p:ph type="dt" idx="10"/>
          </p:nvPr>
        </p:nvSpPr>
        <p:spPr/>
        <p:txBody>
          <a:bodyPr/>
          <a:lstStyle/>
          <a:p>
            <a:fld id="{1D8BD707-D9CF-40AE-B4C6-C98DA3205C09}" type="datetimeFigureOut">
              <a:t>9/7/2026</a:t>
            </a:fld>
            <a:endParaRPr/>
          </a:p>
        </p:txBody>
      </p:sp>
      <p:sp>
        <p:nvSpPr>
          <p:cNvPr id="4" name="Footer Placeholder 3">
            <a:extLst>
              <a:ext uri="{FF2B5EF4-FFF2-40B4-BE49-F238E27FC236}">
                <a16:creationId xmlns:a16="http://schemas.microsoft.com/office/drawing/2014/main" id="{E926435E-4C45-4E94-B052-10812E682B5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869E7C3-611E-4A13-B13F-2E20F82AEA4C}"/>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DAD25A-C94D-40F7-8987-8DE738F60155}"/>
              </a:ext>
            </a:extLst>
          </p:cNvPr>
          <p:cNvSpPr>
            <a:spLocks noGrp="1"/>
          </p:cNvSpPr>
          <p:nvPr>
            <p:ph type="dt" idx="10"/>
          </p:nvPr>
        </p:nvSpPr>
        <p:spPr/>
        <p:txBody>
          <a:bodyPr/>
          <a:lstStyle/>
          <a:p>
            <a:fld id="{1D8BD707-D9CF-40AE-B4C6-C98DA3205C09}" type="datetimeFigureOut">
              <a:t>9/7/2026</a:t>
            </a:fld>
            <a:endParaRPr/>
          </a:p>
        </p:txBody>
      </p:sp>
      <p:sp>
        <p:nvSpPr>
          <p:cNvPr id="3" name="Footer Placeholder 2">
            <a:extLst>
              <a:ext uri="{FF2B5EF4-FFF2-40B4-BE49-F238E27FC236}">
                <a16:creationId xmlns:a16="http://schemas.microsoft.com/office/drawing/2014/main" id="{62A8E673-0ACF-48C1-A41A-A6F16DDD7AF2}"/>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DEA8235-B9EC-479F-98CB-433547C1BF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19E1-AAC6-4A77-9C43-7944A4185F77}"/>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110C5042-D953-459A-A0C2-72BBBA8C2FDC}"/>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7FFD1409-20E9-4264-B0A1-303D0B65CBFC}"/>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07E82B59-47B8-4E63-A47A-B38B0C4CF51F}"/>
              </a:ext>
            </a:extLst>
          </p:cNvPr>
          <p:cNvSpPr>
            <a:spLocks noGrp="1"/>
          </p:cNvSpPr>
          <p:nvPr>
            <p:ph type="dt" idx="10"/>
          </p:nvPr>
        </p:nvSpPr>
        <p:spPr/>
        <p:txBody>
          <a:bodyPr/>
          <a:lstStyle/>
          <a:p>
            <a:fld id="{1D8BD707-D9CF-40AE-B4C6-C98DA3205C09}" type="datetimeFigureOut">
              <a:t>9/7/2026</a:t>
            </a:fld>
            <a:endParaRPr/>
          </a:p>
        </p:txBody>
      </p:sp>
      <p:sp>
        <p:nvSpPr>
          <p:cNvPr id="6" name="Footer Placeholder 5">
            <a:extLst>
              <a:ext uri="{FF2B5EF4-FFF2-40B4-BE49-F238E27FC236}">
                <a16:creationId xmlns:a16="http://schemas.microsoft.com/office/drawing/2014/main" id="{4ECFF4EA-2DE3-4CEE-B4CF-78A6D79DA32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9C1A14C-D378-45AE-AAB4-CEACE6DD2F4D}"/>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E6F02-996C-4C71-8189-54E7563FF1D7}"/>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6AD3CB2F-8CDD-4882-A15E-7860C4912860}"/>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D95F880-30BE-4F79-AF70-C4C77E179F8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9159D464-AC2E-45FE-9219-82430CACC21D}"/>
              </a:ext>
            </a:extLst>
          </p:cNvPr>
          <p:cNvSpPr>
            <a:spLocks noGrp="1"/>
          </p:cNvSpPr>
          <p:nvPr>
            <p:ph type="dt" idx="10"/>
          </p:nvPr>
        </p:nvSpPr>
        <p:spPr/>
        <p:txBody>
          <a:bodyPr/>
          <a:lstStyle/>
          <a:p>
            <a:fld id="{1D8BD707-D9CF-40AE-B4C6-C98DA3205C09}" type="datetimeFigureOut">
              <a:t>9/7/2026</a:t>
            </a:fld>
            <a:endParaRPr/>
          </a:p>
        </p:txBody>
      </p:sp>
      <p:sp>
        <p:nvSpPr>
          <p:cNvPr id="6" name="Footer Placeholder 5">
            <a:extLst>
              <a:ext uri="{FF2B5EF4-FFF2-40B4-BE49-F238E27FC236}">
                <a16:creationId xmlns:a16="http://schemas.microsoft.com/office/drawing/2014/main" id="{6E254979-9EFE-4FEA-9D3F-98E29386FC9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6AC0B60-FEF9-4ABD-AC79-37CDBAEAD57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59563-937F-4316-B9F1-33F62E4913C7}"/>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F0ADCB3-76BA-40CC-B925-9874DCE5A53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612B45-6B5A-4417-B672-378C3934EEF7}"/>
              </a:ext>
            </a:extLst>
          </p:cNvPr>
          <p:cNvSpPr>
            <a:spLocks noGrp="1"/>
          </p:cNvSpPr>
          <p:nvPr>
            <p:ph type="dt" idx="10"/>
          </p:nvPr>
        </p:nvSpPr>
        <p:spPr/>
        <p:txBody>
          <a:bodyPr/>
          <a:lstStyle/>
          <a:p>
            <a:fld id="{1D8BD707-D9CF-40AE-B4C6-C98DA3205C09}" type="datetimeFigureOut">
              <a:t>9/7/2026</a:t>
            </a:fld>
            <a:endParaRPr/>
          </a:p>
        </p:txBody>
      </p:sp>
      <p:sp>
        <p:nvSpPr>
          <p:cNvPr id="5" name="Footer Placeholder 4">
            <a:extLst>
              <a:ext uri="{FF2B5EF4-FFF2-40B4-BE49-F238E27FC236}">
                <a16:creationId xmlns:a16="http://schemas.microsoft.com/office/drawing/2014/main" id="{6BA9A1EE-2FCD-446B-876C-4067AF34D9E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8F0D118-2218-4339-94A7-18C51E4B05F2}"/>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8CDBEA-177C-4D4E-B516-9E811D670B38}"/>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F48672D-0445-497B-BB80-FBE006762E9C}"/>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D1F16EC-ECBA-44C3-8CDA-D0F3A7302590}"/>
              </a:ext>
            </a:extLst>
          </p:cNvPr>
          <p:cNvSpPr>
            <a:spLocks noGrp="1"/>
          </p:cNvSpPr>
          <p:nvPr>
            <p:ph type="dt" idx="10"/>
          </p:nvPr>
        </p:nvSpPr>
        <p:spPr/>
        <p:txBody>
          <a:bodyPr/>
          <a:lstStyle/>
          <a:p>
            <a:fld id="{1D8BD707-D9CF-40AE-B4C6-C98DA3205C09}" type="datetimeFigureOut">
              <a:t>9/7/2026</a:t>
            </a:fld>
            <a:endParaRPr/>
          </a:p>
        </p:txBody>
      </p:sp>
      <p:sp>
        <p:nvSpPr>
          <p:cNvPr id="5" name="Footer Placeholder 4">
            <a:extLst>
              <a:ext uri="{FF2B5EF4-FFF2-40B4-BE49-F238E27FC236}">
                <a16:creationId xmlns:a16="http://schemas.microsoft.com/office/drawing/2014/main" id="{BEB34F47-AA7D-42CF-8561-2CC74764FE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B4B2B86-2525-48FE-8EA0-4DE9BCA2E927}"/>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D1D39-B3AA-4893-AB60-A43337967372}"/>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0369CC0F-4E7A-4D72-9995-8B3363FFFD9C}"/>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2F0B658-8804-4802-B5D8-7A9F1089F5ED}"/>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9/7/2026</a:t>
            </a:fld>
            <a:endParaRPr/>
          </a:p>
        </p:txBody>
      </p:sp>
      <p:sp>
        <p:nvSpPr>
          <p:cNvPr id="5" name="Footer Placeholder 4">
            <a:extLst>
              <a:ext uri="{FF2B5EF4-FFF2-40B4-BE49-F238E27FC236}">
                <a16:creationId xmlns:a16="http://schemas.microsoft.com/office/drawing/2014/main" id="{D61811C5-7A88-41EB-A2C6-5F43600FDAF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F1BB17C1-0E34-4762-A4F2-2D128A08082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sv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AAB395E3-0C9C-4EB7-A05F-D28C4797A4F9}"/>
              </a:ext>
            </a:extLst>
          </p:cNvPr>
          <p:cNvSpPr>
            <a:spLocks noGrp="1"/>
          </p:cNvSpPr>
          <p:nvPr/>
        </p:nvSpPr>
        <p:spPr>
          <a:xfrm rot="5400000">
            <a:off x="-321394" y="-223327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4" name="Freeform 4">
            <a:extLst>
              <a:ext uri="{FF2B5EF4-FFF2-40B4-BE49-F238E27FC236}">
                <a16:creationId xmlns:a16="http://schemas.microsoft.com/office/drawing/2014/main" id="{14CF12A8-63B8-4FDC-AA41-8B36D3EBC20E}"/>
              </a:ext>
            </a:extLst>
          </p:cNvPr>
          <p:cNvSpPr>
            <a:spLocks noGrp="1"/>
          </p:cNvSpPr>
          <p:nvPr/>
        </p:nvSpPr>
        <p:spPr>
          <a:xfrm>
            <a:off x="1488477" y="1028700"/>
            <a:ext cx="3684917" cy="610379"/>
          </a:xfrm>
          <a:custGeom>
            <a:avLst/>
            <a:gdLst/>
            <a:ahLst/>
            <a:cxnLst/>
            <a:rect l="l" t="t" r="r" b="b"/>
            <a:pathLst>
              <a:path w="970513" h="160758">
                <a:moveTo>
                  <a:pt x="80379" y="0"/>
                </a:moveTo>
                <a:lnTo>
                  <a:pt x="890134" y="0"/>
                </a:lnTo>
                <a:cubicBezTo>
                  <a:pt x="911452" y="0"/>
                  <a:pt x="931897" y="8468"/>
                  <a:pt x="946971" y="23542"/>
                </a:cubicBezTo>
                <a:cubicBezTo>
                  <a:pt x="962045" y="38616"/>
                  <a:pt x="970513" y="59061"/>
                  <a:pt x="970513" y="80379"/>
                </a:cubicBezTo>
                <a:lnTo>
                  <a:pt x="970513" y="80379"/>
                </a:lnTo>
                <a:cubicBezTo>
                  <a:pt x="970513" y="101697"/>
                  <a:pt x="962045" y="122142"/>
                  <a:pt x="946971" y="137216"/>
                </a:cubicBezTo>
                <a:cubicBezTo>
                  <a:pt x="931897" y="152290"/>
                  <a:pt x="911452" y="160758"/>
                  <a:pt x="890134" y="160758"/>
                </a:cubicBezTo>
                <a:lnTo>
                  <a:pt x="80379" y="160758"/>
                </a:lnTo>
                <a:cubicBezTo>
                  <a:pt x="59061" y="160758"/>
                  <a:pt x="38616" y="152290"/>
                  <a:pt x="23542" y="137216"/>
                </a:cubicBezTo>
                <a:cubicBezTo>
                  <a:pt x="8468" y="122142"/>
                  <a:pt x="0" y="101697"/>
                  <a:pt x="0" y="80379"/>
                </a:cubicBezTo>
                <a:lnTo>
                  <a:pt x="0" y="80379"/>
                </a:lnTo>
                <a:cubicBezTo>
                  <a:pt x="0" y="59061"/>
                  <a:pt x="8468" y="38616"/>
                  <a:pt x="23542" y="23542"/>
                </a:cubicBezTo>
                <a:cubicBezTo>
                  <a:pt x="38616" y="8468"/>
                  <a:pt x="59061" y="0"/>
                  <a:pt x="80379" y="0"/>
                </a:cubicBezTo>
                <a:close/>
              </a:path>
            </a:pathLst>
          </a:custGeom>
          <a:solidFill>
            <a:srgbClr val="FFFFFF"/>
          </a:solidFill>
        </p:spPr>
        <p:txBody>
          <a:bodyPr/>
          <a:lstStyle/>
          <a:p>
            <a:endParaRPr lang="en-MY"/>
          </a:p>
        </p:txBody>
      </p:sp>
      <p:sp>
        <p:nvSpPr>
          <p:cNvPr id="5" name="TextBox 5">
            <a:extLst>
              <a:ext uri="{FF2B5EF4-FFF2-40B4-BE49-F238E27FC236}">
                <a16:creationId xmlns:a16="http://schemas.microsoft.com/office/drawing/2014/main" id="{BDEE5048-E7E5-4E1D-8F06-F84D1D9417A5}"/>
              </a:ext>
            </a:extLst>
          </p:cNvPr>
          <p:cNvSpPr>
            <a:spLocks noGrp="1"/>
          </p:cNvSpPr>
          <p:nvPr/>
        </p:nvSpPr>
        <p:spPr>
          <a:xfrm>
            <a:off x="1488477" y="884039"/>
            <a:ext cx="3684917" cy="755040"/>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EFBBE145-1695-41B3-8B33-B4914D666E8F}"/>
              </a:ext>
            </a:extLst>
          </p:cNvPr>
          <p:cNvSpPr>
            <a:spLocks noGrp="1"/>
          </p:cNvSpPr>
          <p:nvPr/>
        </p:nvSpPr>
        <p:spPr>
          <a:xfrm>
            <a:off x="6149097" y="6036107"/>
            <a:ext cx="14853785" cy="4524380"/>
          </a:xfrm>
          <a:custGeom>
            <a:avLst/>
            <a:gdLst/>
            <a:ahLst/>
            <a:cxnLst/>
            <a:rect l="l" t="t" r="r" b="b"/>
            <a:pathLst>
              <a:path w="14853785" h="4524380">
                <a:moveTo>
                  <a:pt x="0" y="0"/>
                </a:moveTo>
                <a:lnTo>
                  <a:pt x="14853786" y="0"/>
                </a:lnTo>
                <a:lnTo>
                  <a:pt x="14853786" y="4524380"/>
                </a:lnTo>
                <a:lnTo>
                  <a:pt x="0" y="45243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7" name="Freeform 7">
            <a:extLst>
              <a:ext uri="{FF2B5EF4-FFF2-40B4-BE49-F238E27FC236}">
                <a16:creationId xmlns:a16="http://schemas.microsoft.com/office/drawing/2014/main" id="{6221DF6B-EBA5-4D1A-93F8-2AD2DE23B942}"/>
              </a:ext>
            </a:extLst>
          </p:cNvPr>
          <p:cNvSpPr>
            <a:spLocks noGrp="1"/>
          </p:cNvSpPr>
          <p:nvPr/>
        </p:nvSpPr>
        <p:spPr>
          <a:xfrm rot="5400000" flipH="1">
            <a:off x="-965225" y="6575929"/>
            <a:ext cx="7422142" cy="7422142"/>
          </a:xfrm>
          <a:custGeom>
            <a:avLst/>
            <a:gdLst/>
            <a:ahLst/>
            <a:cxnLst/>
            <a:rect l="l" t="t" r="r" b="b"/>
            <a:pathLst>
              <a:path w="7422142" h="7422142">
                <a:moveTo>
                  <a:pt x="7422142" y="0"/>
                </a:moveTo>
                <a:lnTo>
                  <a:pt x="0" y="0"/>
                </a:lnTo>
                <a:lnTo>
                  <a:pt x="0" y="7422142"/>
                </a:lnTo>
                <a:lnTo>
                  <a:pt x="7422142" y="7422142"/>
                </a:lnTo>
                <a:lnTo>
                  <a:pt x="7422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8" name="Freeform 8">
            <a:extLst>
              <a:ext uri="{FF2B5EF4-FFF2-40B4-BE49-F238E27FC236}">
                <a16:creationId xmlns:a16="http://schemas.microsoft.com/office/drawing/2014/main" id="{08B41CAC-D12E-44CA-BB9F-8BE167282BA8}"/>
              </a:ext>
            </a:extLst>
          </p:cNvPr>
          <p:cNvSpPr>
            <a:spLocks noGrp="1"/>
          </p:cNvSpPr>
          <p:nvPr/>
        </p:nvSpPr>
        <p:spPr>
          <a:xfrm>
            <a:off x="5164436" y="-3965528"/>
            <a:ext cx="6537235" cy="6537235"/>
          </a:xfrm>
          <a:custGeom>
            <a:avLst/>
            <a:gdLst/>
            <a:ahLst/>
            <a:cxnLst/>
            <a:rect l="l" t="t" r="r" b="b"/>
            <a:pathLst>
              <a:path w="6537235" h="6537235">
                <a:moveTo>
                  <a:pt x="0" y="0"/>
                </a:moveTo>
                <a:lnTo>
                  <a:pt x="6537235" y="0"/>
                </a:lnTo>
                <a:lnTo>
                  <a:pt x="6537235" y="6537234"/>
                </a:lnTo>
                <a:lnTo>
                  <a:pt x="0" y="65372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11" name="Freeform 11">
            <a:extLst>
              <a:ext uri="{FF2B5EF4-FFF2-40B4-BE49-F238E27FC236}">
                <a16:creationId xmlns:a16="http://schemas.microsoft.com/office/drawing/2014/main" id="{0E77B4C9-2855-4A97-9A5D-CB3FB80AC368}"/>
              </a:ext>
            </a:extLst>
          </p:cNvPr>
          <p:cNvSpPr>
            <a:spLocks noGrp="1"/>
          </p:cNvSpPr>
          <p:nvPr/>
        </p:nvSpPr>
        <p:spPr>
          <a:xfrm>
            <a:off x="1028700" y="8508965"/>
            <a:ext cx="596574" cy="610379"/>
          </a:xfrm>
          <a:custGeom>
            <a:avLst/>
            <a:gdLst/>
            <a:ahLst/>
            <a:cxnLst/>
            <a:rect l="l" t="t" r="r" b="b"/>
            <a:pathLst>
              <a:path w="157122" h="160758">
                <a:moveTo>
                  <a:pt x="78561" y="0"/>
                </a:moveTo>
                <a:lnTo>
                  <a:pt x="78561" y="0"/>
                </a:lnTo>
                <a:cubicBezTo>
                  <a:pt x="121949" y="0"/>
                  <a:pt x="157122" y="35173"/>
                  <a:pt x="157122" y="78561"/>
                </a:cubicBezTo>
                <a:lnTo>
                  <a:pt x="157122" y="82197"/>
                </a:lnTo>
                <a:cubicBezTo>
                  <a:pt x="157122" y="125585"/>
                  <a:pt x="121949" y="160758"/>
                  <a:pt x="78561" y="160758"/>
                </a:cubicBezTo>
                <a:lnTo>
                  <a:pt x="78561" y="160758"/>
                </a:lnTo>
                <a:cubicBezTo>
                  <a:pt x="35173" y="160758"/>
                  <a:pt x="0" y="125585"/>
                  <a:pt x="0" y="82197"/>
                </a:cubicBezTo>
                <a:lnTo>
                  <a:pt x="0" y="78561"/>
                </a:lnTo>
                <a:cubicBezTo>
                  <a:pt x="0" y="35173"/>
                  <a:pt x="35173" y="0"/>
                  <a:pt x="78561" y="0"/>
                </a:cubicBezTo>
                <a:close/>
              </a:path>
            </a:pathLst>
          </a:custGeom>
          <a:solidFill>
            <a:srgbClr val="000000"/>
          </a:solidFill>
        </p:spPr>
        <p:txBody>
          <a:bodyPr/>
          <a:lstStyle/>
          <a:p>
            <a:endParaRPr lang="en-MY"/>
          </a:p>
        </p:txBody>
      </p:sp>
      <p:sp>
        <p:nvSpPr>
          <p:cNvPr id="12" name="TextBox 12">
            <a:extLst>
              <a:ext uri="{FF2B5EF4-FFF2-40B4-BE49-F238E27FC236}">
                <a16:creationId xmlns:a16="http://schemas.microsoft.com/office/drawing/2014/main" id="{53612210-465F-4A89-9EC0-019173F239D8}"/>
              </a:ext>
            </a:extLst>
          </p:cNvPr>
          <p:cNvSpPr>
            <a:spLocks noGrp="1"/>
          </p:cNvSpPr>
          <p:nvPr/>
        </p:nvSpPr>
        <p:spPr>
          <a:xfrm>
            <a:off x="1028700" y="8364304"/>
            <a:ext cx="596574" cy="755040"/>
          </a:xfrm>
          <a:prstGeom prst="rect">
            <a:avLst/>
          </a:prstGeom>
        </p:spPr>
        <p:txBody>
          <a:bodyPr lIns="50800" tIns="50800" rIns="50800" bIns="50800" anchor="ctr"/>
          <a:lstStyle/>
          <a:p>
            <a:pPr algn="ctr">
              <a:lnSpc>
                <a:spcPts val="2659"/>
              </a:lnSpc>
              <a:buNone/>
            </a:pPr>
            <a:endParaRPr/>
          </a:p>
        </p:txBody>
      </p:sp>
      <p:sp>
        <p:nvSpPr>
          <p:cNvPr id="13" name="Freeform 13">
            <a:extLst>
              <a:ext uri="{FF2B5EF4-FFF2-40B4-BE49-F238E27FC236}">
                <a16:creationId xmlns:a16="http://schemas.microsoft.com/office/drawing/2014/main" id="{FE90455C-D1A0-40CE-A7E8-4DA75AD575DD}"/>
              </a:ext>
            </a:extLst>
          </p:cNvPr>
          <p:cNvSpPr>
            <a:spLocks noGrp="1"/>
          </p:cNvSpPr>
          <p:nvPr/>
        </p:nvSpPr>
        <p:spPr>
          <a:xfrm>
            <a:off x="1212702" y="8647430"/>
            <a:ext cx="228570" cy="333446"/>
          </a:xfrm>
          <a:custGeom>
            <a:avLst/>
            <a:gdLst/>
            <a:ahLst/>
            <a:cxnLst/>
            <a:rect l="l" t="t" r="r" b="b"/>
            <a:pathLst>
              <a:path w="304761" h="444595">
                <a:moveTo>
                  <a:pt x="0" y="0"/>
                </a:moveTo>
                <a:lnTo>
                  <a:pt x="304760" y="0"/>
                </a:lnTo>
                <a:lnTo>
                  <a:pt x="304760" y="444596"/>
                </a:lnTo>
                <a:lnTo>
                  <a:pt x="0" y="44459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MY"/>
          </a:p>
        </p:txBody>
      </p:sp>
      <p:sp>
        <p:nvSpPr>
          <p:cNvPr id="14" name="Freeform 14">
            <a:extLst>
              <a:ext uri="{FF2B5EF4-FFF2-40B4-BE49-F238E27FC236}">
                <a16:creationId xmlns:a16="http://schemas.microsoft.com/office/drawing/2014/main" id="{1C891F54-28A2-4161-9D50-01991A0A8357}"/>
              </a:ext>
            </a:extLst>
          </p:cNvPr>
          <p:cNvSpPr>
            <a:spLocks noGrp="1"/>
          </p:cNvSpPr>
          <p:nvPr/>
        </p:nvSpPr>
        <p:spPr>
          <a:xfrm>
            <a:off x="14465648" y="2362069"/>
            <a:ext cx="6537235" cy="6537235"/>
          </a:xfrm>
          <a:custGeom>
            <a:avLst/>
            <a:gdLst/>
            <a:ahLst/>
            <a:cxnLst/>
            <a:rect l="l" t="t" r="r" b="b"/>
            <a:pathLst>
              <a:path w="6537235" h="6537235">
                <a:moveTo>
                  <a:pt x="0" y="0"/>
                </a:moveTo>
                <a:lnTo>
                  <a:pt x="6537235" y="0"/>
                </a:lnTo>
                <a:lnTo>
                  <a:pt x="6537235" y="6537235"/>
                </a:lnTo>
                <a:lnTo>
                  <a:pt x="0" y="65372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15" name="AutoShape 15">
            <a:extLst>
              <a:ext uri="{FF2B5EF4-FFF2-40B4-BE49-F238E27FC236}">
                <a16:creationId xmlns:a16="http://schemas.microsoft.com/office/drawing/2014/main" id="{906E9C83-84D7-4F3C-A222-ED604A785715}"/>
              </a:ext>
            </a:extLst>
          </p:cNvPr>
          <p:cNvSpPr>
            <a:spLocks noGrp="1"/>
          </p:cNvSpPr>
          <p:nvPr/>
        </p:nvSpPr>
        <p:spPr>
          <a:xfrm flipV="1">
            <a:off x="4557280" y="8507333"/>
            <a:ext cx="0" cy="1359835"/>
          </a:xfrm>
          <a:prstGeom prst="line">
            <a:avLst/>
          </a:prstGeom>
          <a:ln w="57150">
            <a:solidFill>
              <a:srgbClr val="000000"/>
            </a:solidFill>
            <a:prstDash val="solid"/>
            <a:headEnd type="none" w="sm" len="sm"/>
            <a:tailEnd type="none" w="sm" len="sm"/>
          </a:ln>
        </p:spPr>
        <p:txBody>
          <a:bodyPr/>
          <a:lstStyle/>
          <a:p>
            <a:endParaRPr lang="en-MY"/>
          </a:p>
        </p:txBody>
      </p:sp>
      <p:sp>
        <p:nvSpPr>
          <p:cNvPr id="16" name="Freeform 16">
            <a:extLst>
              <a:ext uri="{FF2B5EF4-FFF2-40B4-BE49-F238E27FC236}">
                <a16:creationId xmlns:a16="http://schemas.microsoft.com/office/drawing/2014/main" id="{CE88B11A-3475-47D8-86F7-C29624382E96}"/>
              </a:ext>
            </a:extLst>
          </p:cNvPr>
          <p:cNvSpPr>
            <a:spLocks noGrp="1"/>
          </p:cNvSpPr>
          <p:nvPr/>
        </p:nvSpPr>
        <p:spPr>
          <a:xfrm rot="5400000" flipH="1">
            <a:off x="14021149" y="-3889739"/>
            <a:ext cx="7422142" cy="7422142"/>
          </a:xfrm>
          <a:custGeom>
            <a:avLst/>
            <a:gdLst/>
            <a:ahLst/>
            <a:cxnLst/>
            <a:rect l="l" t="t" r="r" b="b"/>
            <a:pathLst>
              <a:path w="7422142" h="7422142">
                <a:moveTo>
                  <a:pt x="7422142" y="0"/>
                </a:moveTo>
                <a:lnTo>
                  <a:pt x="0" y="0"/>
                </a:lnTo>
                <a:lnTo>
                  <a:pt x="0" y="7422142"/>
                </a:lnTo>
                <a:lnTo>
                  <a:pt x="7422142" y="7422142"/>
                </a:lnTo>
                <a:lnTo>
                  <a:pt x="74221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7" name="Freeform 17">
            <a:extLst>
              <a:ext uri="{FF2B5EF4-FFF2-40B4-BE49-F238E27FC236}">
                <a16:creationId xmlns:a16="http://schemas.microsoft.com/office/drawing/2014/main" id="{EAD27487-BB8C-46EB-9AE0-E6C020C4CCE2}"/>
              </a:ext>
            </a:extLst>
          </p:cNvPr>
          <p:cNvSpPr>
            <a:spLocks noGrp="1"/>
          </p:cNvSpPr>
          <p:nvPr/>
        </p:nvSpPr>
        <p:spPr>
          <a:xfrm>
            <a:off x="14021149" y="-4307045"/>
            <a:ext cx="9225142" cy="9225142"/>
          </a:xfrm>
          <a:custGeom>
            <a:avLst/>
            <a:gdLst/>
            <a:ahLst/>
            <a:cxnLst/>
            <a:rect l="l" t="t" r="r" b="b"/>
            <a:pathLst>
              <a:path w="9225142" h="9225142">
                <a:moveTo>
                  <a:pt x="0" y="0"/>
                </a:moveTo>
                <a:lnTo>
                  <a:pt x="9225141" y="0"/>
                </a:lnTo>
                <a:lnTo>
                  <a:pt x="9225141" y="9225141"/>
                </a:lnTo>
                <a:lnTo>
                  <a:pt x="0" y="922514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MY"/>
          </a:p>
        </p:txBody>
      </p:sp>
      <p:sp>
        <p:nvSpPr>
          <p:cNvPr id="19" name="Freeform 19">
            <a:extLst>
              <a:ext uri="{FF2B5EF4-FFF2-40B4-BE49-F238E27FC236}">
                <a16:creationId xmlns:a16="http://schemas.microsoft.com/office/drawing/2014/main" id="{18A4CD97-9844-4961-9C90-5088FA2EDEA3}"/>
              </a:ext>
            </a:extLst>
          </p:cNvPr>
          <p:cNvSpPr>
            <a:spLocks noGrp="1"/>
          </p:cNvSpPr>
          <p:nvPr/>
        </p:nvSpPr>
        <p:spPr>
          <a:xfrm>
            <a:off x="9144000" y="1228608"/>
            <a:ext cx="9478999" cy="4807499"/>
          </a:xfrm>
          <a:custGeom>
            <a:avLst/>
            <a:gdLst/>
            <a:ahLst/>
            <a:cxnLst/>
            <a:rect l="l" t="t" r="r" b="b"/>
            <a:pathLst>
              <a:path w="1529611" h="775778">
                <a:moveTo>
                  <a:pt x="32670" y="0"/>
                </a:moveTo>
                <a:lnTo>
                  <a:pt x="1496941" y="0"/>
                </a:lnTo>
                <a:cubicBezTo>
                  <a:pt x="1505606" y="0"/>
                  <a:pt x="1513915" y="3442"/>
                  <a:pt x="1520042" y="9569"/>
                </a:cubicBezTo>
                <a:cubicBezTo>
                  <a:pt x="1526169" y="15696"/>
                  <a:pt x="1529611" y="24005"/>
                  <a:pt x="1529611" y="32670"/>
                </a:cubicBezTo>
                <a:lnTo>
                  <a:pt x="1529611" y="743109"/>
                </a:lnTo>
                <a:cubicBezTo>
                  <a:pt x="1529611" y="751773"/>
                  <a:pt x="1526169" y="760083"/>
                  <a:pt x="1520042" y="766210"/>
                </a:cubicBezTo>
                <a:cubicBezTo>
                  <a:pt x="1513915" y="772336"/>
                  <a:pt x="1505606" y="775778"/>
                  <a:pt x="1496941" y="775778"/>
                </a:cubicBezTo>
                <a:lnTo>
                  <a:pt x="32670" y="775778"/>
                </a:lnTo>
                <a:cubicBezTo>
                  <a:pt x="24005" y="775778"/>
                  <a:pt x="15696" y="772336"/>
                  <a:pt x="9569" y="766210"/>
                </a:cubicBezTo>
                <a:cubicBezTo>
                  <a:pt x="3442" y="760083"/>
                  <a:pt x="0" y="751773"/>
                  <a:pt x="0" y="743109"/>
                </a:cubicBezTo>
                <a:lnTo>
                  <a:pt x="0" y="32670"/>
                </a:lnTo>
                <a:cubicBezTo>
                  <a:pt x="0" y="24005"/>
                  <a:pt x="3442" y="15696"/>
                  <a:pt x="9569" y="9569"/>
                </a:cubicBezTo>
                <a:cubicBezTo>
                  <a:pt x="15696" y="3442"/>
                  <a:pt x="24005" y="0"/>
                  <a:pt x="32670" y="0"/>
                </a:cubicBezTo>
                <a:close/>
              </a:path>
            </a:pathLst>
          </a:custGeom>
          <a:blipFill>
            <a:blip r:embed="rId8"/>
            <a:stretch>
              <a:fillRect t="-15723" b="-15723"/>
            </a:stretch>
          </a:blipFill>
        </p:spPr>
        <p:txBody>
          <a:bodyPr/>
          <a:lstStyle/>
          <a:p>
            <a:endParaRPr lang="en-MY"/>
          </a:p>
        </p:txBody>
      </p:sp>
      <p:sp>
        <p:nvSpPr>
          <p:cNvPr id="20" name="Freeform 20">
            <a:extLst>
              <a:ext uri="{FF2B5EF4-FFF2-40B4-BE49-F238E27FC236}">
                <a16:creationId xmlns:a16="http://schemas.microsoft.com/office/drawing/2014/main" id="{A1CE2222-C0CB-42A7-BFB0-3C145AB52626}"/>
              </a:ext>
            </a:extLst>
          </p:cNvPr>
          <p:cNvSpPr>
            <a:spLocks noGrp="1"/>
          </p:cNvSpPr>
          <p:nvPr/>
        </p:nvSpPr>
        <p:spPr>
          <a:xfrm>
            <a:off x="-2548293" y="226252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21" name="TextBox 21">
            <a:extLst>
              <a:ext uri="{FF2B5EF4-FFF2-40B4-BE49-F238E27FC236}">
                <a16:creationId xmlns:a16="http://schemas.microsoft.com/office/drawing/2014/main" id="{9FF90C72-58EB-4CE8-8F95-16EDD55ACBAD}"/>
              </a:ext>
            </a:extLst>
          </p:cNvPr>
          <p:cNvSpPr>
            <a:spLocks noGrp="1"/>
          </p:cNvSpPr>
          <p:nvPr/>
        </p:nvSpPr>
        <p:spPr>
          <a:xfrm>
            <a:off x="1028700" y="2755650"/>
            <a:ext cx="7695724" cy="4335145"/>
          </a:xfrm>
          <a:prstGeom prst="rect">
            <a:avLst/>
          </a:prstGeom>
        </p:spPr>
        <p:txBody>
          <a:bodyPr lIns="0" tIns="0" rIns="0" bIns="0" anchor="t">
            <a:spAutoFit/>
          </a:bodyPr>
          <a:lstStyle/>
          <a:p>
            <a:pPr algn="l">
              <a:lnSpc>
                <a:spcPts val="6800"/>
              </a:lnSpc>
              <a:buNone/>
            </a:pPr>
            <a:r>
              <a:rPr sz="6800">
                <a:solidFill>
                  <a:srgbClr val="000000"/>
                </a:solidFill>
                <a:latin typeface="Hero Bold"/>
                <a:ea typeface="Hero Bold"/>
                <a:cs typeface="Hero Bold"/>
              </a:rPr>
              <a:t>Elderly-Friendly AI-Based Travel Recommendation Chatbot in Malaysia</a:t>
            </a:r>
          </a:p>
        </p:txBody>
      </p:sp>
      <p:sp>
        <p:nvSpPr>
          <p:cNvPr id="22" name="TextBox 22">
            <a:extLst>
              <a:ext uri="{FF2B5EF4-FFF2-40B4-BE49-F238E27FC236}">
                <a16:creationId xmlns:a16="http://schemas.microsoft.com/office/drawing/2014/main" id="{C05FA34A-D469-4902-9FE7-361EC5C7CB7E}"/>
              </a:ext>
            </a:extLst>
          </p:cNvPr>
          <p:cNvSpPr>
            <a:spLocks noGrp="1"/>
          </p:cNvSpPr>
          <p:nvPr/>
        </p:nvSpPr>
        <p:spPr>
          <a:xfrm>
            <a:off x="1028700" y="7285955"/>
            <a:ext cx="4891112" cy="603885"/>
          </a:xfrm>
          <a:prstGeom prst="rect">
            <a:avLst/>
          </a:prstGeom>
        </p:spPr>
        <p:txBody>
          <a:bodyPr lIns="0" tIns="0" rIns="0" bIns="0" anchor="t">
            <a:spAutoFit/>
          </a:bodyPr>
          <a:lstStyle/>
          <a:p>
            <a:pPr algn="l">
              <a:lnSpc>
                <a:spcPts val="5040"/>
              </a:lnSpc>
              <a:buNone/>
            </a:pPr>
            <a:r>
              <a:rPr sz="3600" b="1">
                <a:solidFill>
                  <a:srgbClr val="000000"/>
                </a:solidFill>
                <a:latin typeface="Quicksand Bold"/>
                <a:ea typeface="Quicksand Bold"/>
                <a:cs typeface="Quicksand Bold"/>
              </a:rPr>
              <a:t>JomVoyage</a:t>
            </a:r>
          </a:p>
        </p:txBody>
      </p:sp>
      <p:sp>
        <p:nvSpPr>
          <p:cNvPr id="23" name="TextBox 23">
            <a:extLst>
              <a:ext uri="{FF2B5EF4-FFF2-40B4-BE49-F238E27FC236}">
                <a16:creationId xmlns:a16="http://schemas.microsoft.com/office/drawing/2014/main" id="{F17C1947-B21E-4484-B6FB-79710EA6127F}"/>
              </a:ext>
            </a:extLst>
          </p:cNvPr>
          <p:cNvSpPr>
            <a:spLocks noGrp="1"/>
          </p:cNvSpPr>
          <p:nvPr/>
        </p:nvSpPr>
        <p:spPr>
          <a:xfrm>
            <a:off x="1566507" y="1097669"/>
            <a:ext cx="3528858" cy="415290"/>
          </a:xfrm>
          <a:prstGeom prst="rect">
            <a:avLst/>
          </a:prstGeom>
        </p:spPr>
        <p:txBody>
          <a:bodyPr lIns="0" tIns="0" rIns="0" bIns="0" anchor="t">
            <a:spAutoFit/>
          </a:bodyPr>
          <a:lstStyle/>
          <a:p>
            <a:pPr algn="ctr">
              <a:lnSpc>
                <a:spcPts val="3359"/>
              </a:lnSpc>
              <a:buNone/>
            </a:pPr>
            <a:r>
              <a:rPr sz="2400" b="1">
                <a:solidFill>
                  <a:srgbClr val="000000"/>
                </a:solidFill>
                <a:latin typeface="Quicksand Bold"/>
                <a:ea typeface="Quicksand Bold"/>
                <a:cs typeface="Quicksand Bold"/>
              </a:rPr>
              <a:t>FYP1 Presentation</a:t>
            </a:r>
          </a:p>
        </p:txBody>
      </p:sp>
      <p:sp>
        <p:nvSpPr>
          <p:cNvPr id="24" name="TextBox 24">
            <a:extLst>
              <a:ext uri="{FF2B5EF4-FFF2-40B4-BE49-F238E27FC236}">
                <a16:creationId xmlns:a16="http://schemas.microsoft.com/office/drawing/2014/main" id="{368115E7-4D0A-4937-A9D4-D0A07D830F28}"/>
              </a:ext>
            </a:extLst>
          </p:cNvPr>
          <p:cNvSpPr>
            <a:spLocks noGrp="1"/>
          </p:cNvSpPr>
          <p:nvPr/>
        </p:nvSpPr>
        <p:spPr>
          <a:xfrm>
            <a:off x="1736006" y="8370128"/>
            <a:ext cx="3088876" cy="490855"/>
          </a:xfrm>
          <a:prstGeom prst="rect">
            <a:avLst/>
          </a:prstGeom>
        </p:spPr>
        <p:txBody>
          <a:bodyPr lIns="0" tIns="0" rIns="0" bIns="0" anchor="t">
            <a:spAutoFit/>
          </a:bodyPr>
          <a:lstStyle/>
          <a:p>
            <a:pPr algn="l">
              <a:lnSpc>
                <a:spcPts val="3919"/>
              </a:lnSpc>
              <a:buNone/>
            </a:pPr>
            <a:r>
              <a:rPr sz="2799">
                <a:solidFill>
                  <a:srgbClr val="000000"/>
                </a:solidFill>
                <a:latin typeface="Quicksand"/>
                <a:ea typeface="Quicksand"/>
                <a:cs typeface="Quicksand"/>
              </a:rPr>
              <a:t>Presented By:</a:t>
            </a:r>
          </a:p>
        </p:txBody>
      </p:sp>
      <p:sp>
        <p:nvSpPr>
          <p:cNvPr id="25" name="TextBox 25">
            <a:extLst>
              <a:ext uri="{FF2B5EF4-FFF2-40B4-BE49-F238E27FC236}">
                <a16:creationId xmlns:a16="http://schemas.microsoft.com/office/drawing/2014/main" id="{890370C0-EC82-4AF0-9F1D-01195999D49C}"/>
              </a:ext>
            </a:extLst>
          </p:cNvPr>
          <p:cNvSpPr>
            <a:spLocks noGrp="1"/>
          </p:cNvSpPr>
          <p:nvPr/>
        </p:nvSpPr>
        <p:spPr>
          <a:xfrm>
            <a:off x="1736006" y="8887408"/>
            <a:ext cx="4075086" cy="986155"/>
          </a:xfrm>
          <a:prstGeom prst="rect">
            <a:avLst/>
          </a:prstGeom>
        </p:spPr>
        <p:txBody>
          <a:bodyPr lIns="0" tIns="0" rIns="0" bIns="0" anchor="t">
            <a:spAutoFit/>
          </a:bodyPr>
          <a:lstStyle/>
          <a:p>
            <a:pPr algn="l">
              <a:lnSpc>
                <a:spcPts val="3919"/>
              </a:lnSpc>
              <a:buNone/>
            </a:pPr>
            <a:r>
              <a:rPr sz="2799">
                <a:solidFill>
                  <a:srgbClr val="000000"/>
                </a:solidFill>
                <a:latin typeface="Quicksand"/>
                <a:ea typeface="Quicksand"/>
                <a:cs typeface="Quicksand"/>
              </a:rPr>
              <a:t>Chum Dao Shen (2302347)</a:t>
            </a:r>
          </a:p>
        </p:txBody>
      </p:sp>
      <p:sp>
        <p:nvSpPr>
          <p:cNvPr id="26" name="TextBox 26">
            <a:extLst>
              <a:ext uri="{FF2B5EF4-FFF2-40B4-BE49-F238E27FC236}">
                <a16:creationId xmlns:a16="http://schemas.microsoft.com/office/drawing/2014/main" id="{B014D67E-41AF-476C-BD48-78FAB79B85AE}"/>
              </a:ext>
            </a:extLst>
          </p:cNvPr>
          <p:cNvSpPr>
            <a:spLocks noGrp="1"/>
          </p:cNvSpPr>
          <p:nvPr/>
        </p:nvSpPr>
        <p:spPr>
          <a:xfrm>
            <a:off x="4824883" y="8370128"/>
            <a:ext cx="3088876" cy="490855"/>
          </a:xfrm>
          <a:prstGeom prst="rect">
            <a:avLst/>
          </a:prstGeom>
        </p:spPr>
        <p:txBody>
          <a:bodyPr lIns="0" tIns="0" rIns="0" bIns="0" anchor="t">
            <a:spAutoFit/>
          </a:bodyPr>
          <a:lstStyle/>
          <a:p>
            <a:pPr algn="l">
              <a:lnSpc>
                <a:spcPts val="3919"/>
              </a:lnSpc>
              <a:buNone/>
            </a:pPr>
            <a:r>
              <a:rPr sz="2799">
                <a:solidFill>
                  <a:srgbClr val="000000"/>
                </a:solidFill>
                <a:latin typeface="Quicksand"/>
                <a:ea typeface="Quicksand"/>
                <a:cs typeface="Quicksand"/>
              </a:rPr>
              <a:t>Supervisor:</a:t>
            </a:r>
          </a:p>
        </p:txBody>
      </p:sp>
      <p:sp>
        <p:nvSpPr>
          <p:cNvPr id="27" name="TextBox 27">
            <a:extLst>
              <a:ext uri="{FF2B5EF4-FFF2-40B4-BE49-F238E27FC236}">
                <a16:creationId xmlns:a16="http://schemas.microsoft.com/office/drawing/2014/main" id="{285C7D20-F97F-4BDC-8B0F-4820B8421C6E}"/>
              </a:ext>
            </a:extLst>
          </p:cNvPr>
          <p:cNvSpPr>
            <a:spLocks noGrp="1"/>
          </p:cNvSpPr>
          <p:nvPr/>
        </p:nvSpPr>
        <p:spPr>
          <a:xfrm>
            <a:off x="4824883" y="8887408"/>
            <a:ext cx="4075086" cy="490855"/>
          </a:xfrm>
          <a:prstGeom prst="rect">
            <a:avLst/>
          </a:prstGeom>
        </p:spPr>
        <p:txBody>
          <a:bodyPr lIns="0" tIns="0" rIns="0" bIns="0" anchor="t">
            <a:spAutoFit/>
          </a:bodyPr>
          <a:lstStyle/>
          <a:p>
            <a:pPr algn="l">
              <a:lnSpc>
                <a:spcPts val="3919"/>
              </a:lnSpc>
              <a:buNone/>
            </a:pPr>
            <a:r>
              <a:rPr sz="2799">
                <a:solidFill>
                  <a:srgbClr val="000000"/>
                </a:solidFill>
                <a:latin typeface="Quicksand"/>
                <a:ea typeface="Quicksand"/>
                <a:cs typeface="Quicksand"/>
              </a:rPr>
              <a:t>Dr. Zurida binti Ishak</a:t>
            </a:r>
          </a:p>
        </p:txBody>
      </p:sp>
    </p:spTree>
    <p:extLst>
      <p:ext uri="{BB962C8B-B14F-4D97-AF65-F5344CB8AC3E}">
        <p14:creationId xmlns:p14="http://schemas.microsoft.com/office/powerpoint/2010/main" val="256787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D18EC491-D48C-4CAE-8FD1-1CE3CC3106F2}"/>
              </a:ext>
            </a:extLst>
          </p:cNvPr>
          <p:cNvSpPr>
            <a:spLocks noGrp="1"/>
          </p:cNvSpPr>
          <p:nvPr/>
        </p:nvSpPr>
        <p:spPr>
          <a:xfrm>
            <a:off x="0" y="-2229021"/>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B0165911-3155-4A36-AB8B-3F8BFD4A51FE}"/>
              </a:ext>
            </a:extLst>
          </p:cNvPr>
          <p:cNvSpPr>
            <a:spLocks noGrp="1"/>
          </p:cNvSpPr>
          <p:nvPr/>
        </p:nvSpPr>
        <p:spPr>
          <a:xfrm rot="5400000" flipV="1">
            <a:off x="4081626" y="-1583581"/>
            <a:ext cx="3982064" cy="3982064"/>
          </a:xfrm>
          <a:custGeom>
            <a:avLst/>
            <a:gdLst/>
            <a:ahLst/>
            <a:cxnLst/>
            <a:rect l="l" t="t" r="r" b="b"/>
            <a:pathLst>
              <a:path w="3982064" h="3982064">
                <a:moveTo>
                  <a:pt x="0" y="3982064"/>
                </a:moveTo>
                <a:lnTo>
                  <a:pt x="3982064" y="3982064"/>
                </a:lnTo>
                <a:lnTo>
                  <a:pt x="3982064" y="0"/>
                </a:lnTo>
                <a:lnTo>
                  <a:pt x="0" y="0"/>
                </a:lnTo>
                <a:lnTo>
                  <a:pt x="0" y="398206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5" name="Freeform 5">
            <a:extLst>
              <a:ext uri="{FF2B5EF4-FFF2-40B4-BE49-F238E27FC236}">
                <a16:creationId xmlns:a16="http://schemas.microsoft.com/office/drawing/2014/main" id="{0D5F3268-71F9-4EDF-9A01-054416504410}"/>
              </a:ext>
            </a:extLst>
          </p:cNvPr>
          <p:cNvSpPr>
            <a:spLocks noGrp="1"/>
          </p:cNvSpPr>
          <p:nvPr/>
        </p:nvSpPr>
        <p:spPr>
          <a:xfrm>
            <a:off x="1028700" y="1028700"/>
            <a:ext cx="16230600" cy="8229600"/>
          </a:xfrm>
          <a:prstGeom prst="roundRect">
            <a:avLst/>
          </a:prstGeom>
          <a:solidFill>
            <a:srgbClr val="FFFFFF"/>
          </a:solidFill>
        </p:spPr>
        <p:txBody>
          <a:bodyPr/>
          <a:lstStyle/>
          <a:p>
            <a:endParaRPr lang="en-MY" dirty="0"/>
          </a:p>
        </p:txBody>
      </p:sp>
      <p:sp>
        <p:nvSpPr>
          <p:cNvPr id="6" name="TextBox 6">
            <a:extLst>
              <a:ext uri="{FF2B5EF4-FFF2-40B4-BE49-F238E27FC236}">
                <a16:creationId xmlns:a16="http://schemas.microsoft.com/office/drawing/2014/main" id="{BE600558-63A6-4246-9C56-0326B17DE4E4}"/>
              </a:ext>
            </a:extLst>
          </p:cNvPr>
          <p:cNvSpPr>
            <a:spLocks noGrp="1"/>
          </p:cNvSpPr>
          <p:nvPr/>
        </p:nvSpPr>
        <p:spPr>
          <a:xfrm>
            <a:off x="1028700" y="811709"/>
            <a:ext cx="16230600" cy="8446591"/>
          </a:xfrm>
          <a:prstGeom prst="rect">
            <a:avLst/>
          </a:prstGeom>
        </p:spPr>
        <p:txBody>
          <a:bodyPr lIns="50800" tIns="50800" rIns="50800" bIns="50800" anchor="ctr"/>
          <a:lstStyle/>
          <a:p>
            <a:pPr algn="ctr">
              <a:lnSpc>
                <a:spcPts val="3360"/>
              </a:lnSpc>
              <a:buNone/>
            </a:pPr>
            <a:endParaRPr/>
          </a:p>
        </p:txBody>
      </p:sp>
      <p:sp>
        <p:nvSpPr>
          <p:cNvPr id="7" name="Freeform 7">
            <a:extLst>
              <a:ext uri="{FF2B5EF4-FFF2-40B4-BE49-F238E27FC236}">
                <a16:creationId xmlns:a16="http://schemas.microsoft.com/office/drawing/2014/main" id="{61A037D1-DDE6-4B47-AF0D-30438249B7FF}"/>
              </a:ext>
            </a:extLst>
          </p:cNvPr>
          <p:cNvSpPr>
            <a:spLocks noGrp="1"/>
          </p:cNvSpPr>
          <p:nvPr/>
        </p:nvSpPr>
        <p:spPr>
          <a:xfrm>
            <a:off x="13278006" y="4628515"/>
            <a:ext cx="6072658" cy="6072658"/>
          </a:xfrm>
          <a:custGeom>
            <a:avLst/>
            <a:gdLst/>
            <a:ahLst/>
            <a:cxnLst/>
            <a:rect l="l" t="t" r="r" b="b"/>
            <a:pathLst>
              <a:path w="6072658" h="6072658">
                <a:moveTo>
                  <a:pt x="0" y="0"/>
                </a:moveTo>
                <a:lnTo>
                  <a:pt x="6072659" y="0"/>
                </a:lnTo>
                <a:lnTo>
                  <a:pt x="6072659" y="6072658"/>
                </a:lnTo>
                <a:lnTo>
                  <a:pt x="0" y="6072658"/>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txBody>
          <a:bodyPr/>
          <a:lstStyle/>
          <a:p>
            <a:endParaRPr lang="en-MY"/>
          </a:p>
        </p:txBody>
      </p:sp>
      <p:sp>
        <p:nvSpPr>
          <p:cNvPr id="8" name="TextBox 8">
            <a:extLst>
              <a:ext uri="{FF2B5EF4-FFF2-40B4-BE49-F238E27FC236}">
                <a16:creationId xmlns:a16="http://schemas.microsoft.com/office/drawing/2014/main" id="{23398453-9686-492C-B183-C84E40D35B81}"/>
              </a:ext>
            </a:extLst>
          </p:cNvPr>
          <p:cNvSpPr>
            <a:spLocks noGrp="1"/>
          </p:cNvSpPr>
          <p:nvPr/>
        </p:nvSpPr>
        <p:spPr>
          <a:xfrm>
            <a:off x="1312788" y="1178446"/>
            <a:ext cx="9408266" cy="906145"/>
          </a:xfrm>
          <a:prstGeom prst="rect">
            <a:avLst/>
          </a:prstGeom>
        </p:spPr>
        <p:txBody>
          <a:bodyPr lIns="0" tIns="0" rIns="0" bIns="0" anchor="t">
            <a:spAutoFit/>
          </a:bodyPr>
          <a:lstStyle/>
          <a:p>
            <a:pPr marL="0" lvl="0" indent="0" algn="ctr">
              <a:lnSpc>
                <a:spcPts val="6800"/>
              </a:lnSpc>
              <a:spcBef>
                <a:spcPct val="0"/>
              </a:spcBef>
              <a:buNone/>
            </a:pPr>
            <a:r>
              <a:rPr sz="6800" dirty="0">
                <a:solidFill>
                  <a:srgbClr val="000000"/>
                </a:solidFill>
                <a:latin typeface="Hero Bold"/>
                <a:ea typeface="Hero Bold"/>
                <a:cs typeface="Hero Bold"/>
              </a:rPr>
              <a:t>Problem Statement</a:t>
            </a:r>
          </a:p>
        </p:txBody>
      </p:sp>
      <p:sp>
        <p:nvSpPr>
          <p:cNvPr id="11" name="Freeform 11">
            <a:extLst>
              <a:ext uri="{FF2B5EF4-FFF2-40B4-BE49-F238E27FC236}">
                <a16:creationId xmlns:a16="http://schemas.microsoft.com/office/drawing/2014/main" id="{1C2CC00F-D3EB-4CCB-B137-921601AF1C89}"/>
              </a:ext>
            </a:extLst>
          </p:cNvPr>
          <p:cNvSpPr>
            <a:spLocks noGrp="1"/>
          </p:cNvSpPr>
          <p:nvPr/>
        </p:nvSpPr>
        <p:spPr>
          <a:xfrm>
            <a:off x="1442020" y="2646790"/>
            <a:ext cx="821281" cy="8212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MY"/>
          </a:p>
        </p:txBody>
      </p:sp>
      <p:sp>
        <p:nvSpPr>
          <p:cNvPr id="12" name="TextBox 12">
            <a:extLst>
              <a:ext uri="{FF2B5EF4-FFF2-40B4-BE49-F238E27FC236}">
                <a16:creationId xmlns:a16="http://schemas.microsoft.com/office/drawing/2014/main" id="{A3F9CAF8-AFD4-4E9A-B1DE-02989B6E7176}"/>
              </a:ext>
            </a:extLst>
          </p:cNvPr>
          <p:cNvSpPr>
            <a:spLocks noGrp="1"/>
          </p:cNvSpPr>
          <p:nvPr/>
        </p:nvSpPr>
        <p:spPr>
          <a:xfrm>
            <a:off x="1519015" y="2637166"/>
            <a:ext cx="667291" cy="753911"/>
          </a:xfrm>
          <a:prstGeom prst="rect">
            <a:avLst/>
          </a:prstGeom>
        </p:spPr>
        <p:txBody>
          <a:bodyPr lIns="50800" tIns="50800" rIns="50800" bIns="50800" anchor="ctr"/>
          <a:lstStyle/>
          <a:p>
            <a:pPr algn="ctr">
              <a:lnSpc>
                <a:spcPts val="2239"/>
              </a:lnSpc>
              <a:buNone/>
            </a:pPr>
            <a:endParaRPr/>
          </a:p>
        </p:txBody>
      </p:sp>
      <p:sp>
        <p:nvSpPr>
          <p:cNvPr id="13" name="Freeform 13">
            <a:extLst>
              <a:ext uri="{FF2B5EF4-FFF2-40B4-BE49-F238E27FC236}">
                <a16:creationId xmlns:a16="http://schemas.microsoft.com/office/drawing/2014/main" id="{56F36984-B38E-4507-B8F7-6535AD055035}"/>
              </a:ext>
            </a:extLst>
          </p:cNvPr>
          <p:cNvSpPr>
            <a:spLocks noGrp="1"/>
          </p:cNvSpPr>
          <p:nvPr/>
        </p:nvSpPr>
        <p:spPr>
          <a:xfrm>
            <a:off x="1654961" y="2859731"/>
            <a:ext cx="395399" cy="395399"/>
          </a:xfrm>
          <a:custGeom>
            <a:avLst/>
            <a:gdLst/>
            <a:ahLst/>
            <a:cxnLst/>
            <a:rect l="l" t="t" r="r" b="b"/>
            <a:pathLst>
              <a:path w="527200" h="527200">
                <a:moveTo>
                  <a:pt x="0" y="0"/>
                </a:moveTo>
                <a:lnTo>
                  <a:pt x="527199" y="0"/>
                </a:lnTo>
                <a:lnTo>
                  <a:pt x="527199" y="527199"/>
                </a:lnTo>
                <a:lnTo>
                  <a:pt x="0" y="5271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16" name="Freeform 16">
            <a:extLst>
              <a:ext uri="{FF2B5EF4-FFF2-40B4-BE49-F238E27FC236}">
                <a16:creationId xmlns:a16="http://schemas.microsoft.com/office/drawing/2014/main" id="{6E121F5D-27A5-46D2-9403-FD46275FC1CC}"/>
              </a:ext>
            </a:extLst>
          </p:cNvPr>
          <p:cNvSpPr>
            <a:spLocks noGrp="1"/>
          </p:cNvSpPr>
          <p:nvPr/>
        </p:nvSpPr>
        <p:spPr>
          <a:xfrm>
            <a:off x="1442020" y="5042102"/>
            <a:ext cx="821281" cy="8212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MY"/>
          </a:p>
        </p:txBody>
      </p:sp>
      <p:sp>
        <p:nvSpPr>
          <p:cNvPr id="17" name="TextBox 17">
            <a:extLst>
              <a:ext uri="{FF2B5EF4-FFF2-40B4-BE49-F238E27FC236}">
                <a16:creationId xmlns:a16="http://schemas.microsoft.com/office/drawing/2014/main" id="{64FA4A83-0C24-437C-9E8C-6187709D65B8}"/>
              </a:ext>
            </a:extLst>
          </p:cNvPr>
          <p:cNvSpPr>
            <a:spLocks noGrp="1"/>
          </p:cNvSpPr>
          <p:nvPr/>
        </p:nvSpPr>
        <p:spPr>
          <a:xfrm>
            <a:off x="1519015" y="5032478"/>
            <a:ext cx="667291" cy="753911"/>
          </a:xfrm>
          <a:prstGeom prst="rect">
            <a:avLst/>
          </a:prstGeom>
        </p:spPr>
        <p:txBody>
          <a:bodyPr lIns="50800" tIns="50800" rIns="50800" bIns="50800" anchor="ctr"/>
          <a:lstStyle/>
          <a:p>
            <a:pPr algn="ctr">
              <a:lnSpc>
                <a:spcPts val="2239"/>
              </a:lnSpc>
              <a:buNone/>
            </a:pPr>
            <a:endParaRPr/>
          </a:p>
        </p:txBody>
      </p:sp>
      <p:sp>
        <p:nvSpPr>
          <p:cNvPr id="18" name="Freeform 18">
            <a:extLst>
              <a:ext uri="{FF2B5EF4-FFF2-40B4-BE49-F238E27FC236}">
                <a16:creationId xmlns:a16="http://schemas.microsoft.com/office/drawing/2014/main" id="{70900D25-0A8E-4F69-9339-C590BE136F53}"/>
              </a:ext>
            </a:extLst>
          </p:cNvPr>
          <p:cNvSpPr>
            <a:spLocks noGrp="1"/>
          </p:cNvSpPr>
          <p:nvPr/>
        </p:nvSpPr>
        <p:spPr>
          <a:xfrm>
            <a:off x="1654961" y="5255043"/>
            <a:ext cx="395399" cy="395399"/>
          </a:xfrm>
          <a:custGeom>
            <a:avLst/>
            <a:gdLst/>
            <a:ahLst/>
            <a:cxnLst/>
            <a:rect l="l" t="t" r="r" b="b"/>
            <a:pathLst>
              <a:path w="527200" h="527200">
                <a:moveTo>
                  <a:pt x="0" y="0"/>
                </a:moveTo>
                <a:lnTo>
                  <a:pt x="527199" y="0"/>
                </a:lnTo>
                <a:lnTo>
                  <a:pt x="527199" y="527199"/>
                </a:lnTo>
                <a:lnTo>
                  <a:pt x="0" y="5271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21" name="Freeform 21">
            <a:extLst>
              <a:ext uri="{FF2B5EF4-FFF2-40B4-BE49-F238E27FC236}">
                <a16:creationId xmlns:a16="http://schemas.microsoft.com/office/drawing/2014/main" id="{7FF69179-4BEB-45BA-99D4-1E55BE844672}"/>
              </a:ext>
            </a:extLst>
          </p:cNvPr>
          <p:cNvSpPr>
            <a:spLocks noGrp="1"/>
          </p:cNvSpPr>
          <p:nvPr/>
        </p:nvSpPr>
        <p:spPr>
          <a:xfrm>
            <a:off x="1370878" y="7437414"/>
            <a:ext cx="821281" cy="8212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MY"/>
          </a:p>
        </p:txBody>
      </p:sp>
      <p:sp>
        <p:nvSpPr>
          <p:cNvPr id="22" name="TextBox 22">
            <a:extLst>
              <a:ext uri="{FF2B5EF4-FFF2-40B4-BE49-F238E27FC236}">
                <a16:creationId xmlns:a16="http://schemas.microsoft.com/office/drawing/2014/main" id="{78EB3304-1A6A-4BA2-836C-B2FE63721E18}"/>
              </a:ext>
            </a:extLst>
          </p:cNvPr>
          <p:cNvSpPr>
            <a:spLocks noGrp="1"/>
          </p:cNvSpPr>
          <p:nvPr/>
        </p:nvSpPr>
        <p:spPr>
          <a:xfrm>
            <a:off x="1447873" y="7427790"/>
            <a:ext cx="667291" cy="753911"/>
          </a:xfrm>
          <a:prstGeom prst="rect">
            <a:avLst/>
          </a:prstGeom>
        </p:spPr>
        <p:txBody>
          <a:bodyPr lIns="50800" tIns="50800" rIns="50800" bIns="50800" anchor="ctr"/>
          <a:lstStyle/>
          <a:p>
            <a:pPr algn="ctr">
              <a:lnSpc>
                <a:spcPts val="2239"/>
              </a:lnSpc>
              <a:buNone/>
            </a:pPr>
            <a:endParaRPr/>
          </a:p>
        </p:txBody>
      </p:sp>
      <p:sp>
        <p:nvSpPr>
          <p:cNvPr id="23" name="Freeform 23">
            <a:extLst>
              <a:ext uri="{FF2B5EF4-FFF2-40B4-BE49-F238E27FC236}">
                <a16:creationId xmlns:a16="http://schemas.microsoft.com/office/drawing/2014/main" id="{C545A02C-7BC8-4288-B6A3-452D1C425114}"/>
              </a:ext>
            </a:extLst>
          </p:cNvPr>
          <p:cNvSpPr>
            <a:spLocks noGrp="1"/>
          </p:cNvSpPr>
          <p:nvPr/>
        </p:nvSpPr>
        <p:spPr>
          <a:xfrm>
            <a:off x="1583819" y="7650355"/>
            <a:ext cx="395399" cy="395399"/>
          </a:xfrm>
          <a:custGeom>
            <a:avLst/>
            <a:gdLst/>
            <a:ahLst/>
            <a:cxnLst/>
            <a:rect l="l" t="t" r="r" b="b"/>
            <a:pathLst>
              <a:path w="527200" h="527200">
                <a:moveTo>
                  <a:pt x="0" y="0"/>
                </a:moveTo>
                <a:lnTo>
                  <a:pt x="527199" y="0"/>
                </a:lnTo>
                <a:lnTo>
                  <a:pt x="527199" y="527199"/>
                </a:lnTo>
                <a:lnTo>
                  <a:pt x="0" y="5271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24" name="TextBox 24">
            <a:extLst>
              <a:ext uri="{FF2B5EF4-FFF2-40B4-BE49-F238E27FC236}">
                <a16:creationId xmlns:a16="http://schemas.microsoft.com/office/drawing/2014/main" id="{64DA1236-4562-4D93-820E-AA1E658AF96B}"/>
              </a:ext>
            </a:extLst>
          </p:cNvPr>
          <p:cNvSpPr>
            <a:spLocks noGrp="1"/>
          </p:cNvSpPr>
          <p:nvPr/>
        </p:nvSpPr>
        <p:spPr>
          <a:xfrm>
            <a:off x="2263302" y="2599165"/>
            <a:ext cx="13892230" cy="1553845"/>
          </a:xfrm>
          <a:prstGeom prst="rect">
            <a:avLst/>
          </a:prstGeom>
        </p:spPr>
        <p:txBody>
          <a:bodyPr lIns="0" tIns="0" rIns="0" bIns="0" anchor="t">
            <a:spAutoFit/>
          </a:bodyPr>
          <a:lstStyle/>
          <a:p>
            <a:pPr marL="474979" lvl="1" indent="-237490" algn="l">
              <a:lnSpc>
                <a:spcPts val="3079"/>
              </a:lnSpc>
              <a:buFont typeface="Arial"/>
              <a:buChar char="•"/>
            </a:pPr>
            <a:r>
              <a:rPr sz="2199" dirty="0">
                <a:solidFill>
                  <a:srgbClr val="0B0A0A"/>
                </a:solidFill>
                <a:latin typeface="Quicksand"/>
                <a:ea typeface="Quicksand"/>
                <a:cs typeface="Quicksand"/>
              </a:rPr>
              <a:t>Malaysian attraction information is distributed across tourism websites, maps, blogs and social media.</a:t>
            </a:r>
          </a:p>
          <a:p>
            <a:pPr marL="474979" lvl="1" indent="-237490" algn="l">
              <a:lnSpc>
                <a:spcPts val="3079"/>
              </a:lnSpc>
              <a:buFont typeface="Arial"/>
              <a:buChar char="•"/>
            </a:pPr>
            <a:r>
              <a:rPr sz="2199" dirty="0" err="1">
                <a:solidFill>
                  <a:srgbClr val="0B0A0A"/>
                </a:solidFill>
                <a:latin typeface="Quicksand"/>
                <a:ea typeface="Quicksand"/>
                <a:cs typeface="Quicksand"/>
              </a:rPr>
              <a:t>Travellers</a:t>
            </a:r>
            <a:r>
              <a:rPr sz="2199" dirty="0">
                <a:solidFill>
                  <a:srgbClr val="0B0A0A"/>
                </a:solidFill>
                <a:latin typeface="Quicksand"/>
                <a:ea typeface="Quicksand"/>
                <a:cs typeface="Quicksand"/>
              </a:rPr>
              <a:t> must manually compare location, cost, activities, visit duration and accessibility.</a:t>
            </a:r>
          </a:p>
          <a:p>
            <a:pPr marL="474979" lvl="1" indent="-237490" algn="l">
              <a:lnSpc>
                <a:spcPts val="3079"/>
              </a:lnSpc>
              <a:buFont typeface="Arial"/>
              <a:buChar char="•"/>
            </a:pPr>
            <a:r>
              <a:rPr sz="2199" dirty="0">
                <a:solidFill>
                  <a:srgbClr val="0B0A0A"/>
                </a:solidFill>
                <a:latin typeface="Quicksand"/>
                <a:ea typeface="Quicksand"/>
                <a:cs typeface="Quicksand"/>
              </a:rPr>
              <a:t>This can create information overload, especially when planning for an elderly </a:t>
            </a:r>
            <a:r>
              <a:rPr sz="2199" dirty="0" err="1">
                <a:solidFill>
                  <a:srgbClr val="0B0A0A"/>
                </a:solidFill>
                <a:latin typeface="Quicksand"/>
                <a:ea typeface="Quicksand"/>
                <a:cs typeface="Quicksand"/>
              </a:rPr>
              <a:t>traveller</a:t>
            </a:r>
            <a:r>
              <a:rPr sz="2199" dirty="0">
                <a:solidFill>
                  <a:srgbClr val="0B0A0A"/>
                </a:solidFill>
                <a:latin typeface="Quicksand"/>
                <a:ea typeface="Quicksand"/>
                <a:cs typeface="Quicksand"/>
              </a:rPr>
              <a:t>.</a:t>
            </a:r>
          </a:p>
          <a:p>
            <a:pPr algn="l">
              <a:lnSpc>
                <a:spcPts val="3079"/>
              </a:lnSpc>
              <a:buNone/>
            </a:pPr>
            <a:endParaRPr sz="2199" dirty="0">
              <a:solidFill>
                <a:srgbClr val="0B0A0A"/>
              </a:solidFill>
              <a:latin typeface="Quicksand"/>
              <a:ea typeface="Quicksand"/>
              <a:cs typeface="Quicksand"/>
            </a:endParaRPr>
          </a:p>
        </p:txBody>
      </p:sp>
      <p:sp>
        <p:nvSpPr>
          <p:cNvPr id="25" name="TextBox 25">
            <a:extLst>
              <a:ext uri="{FF2B5EF4-FFF2-40B4-BE49-F238E27FC236}">
                <a16:creationId xmlns:a16="http://schemas.microsoft.com/office/drawing/2014/main" id="{693C98C4-EDDE-4A5A-BA56-0E03ECDCF85F}"/>
              </a:ext>
            </a:extLst>
          </p:cNvPr>
          <p:cNvSpPr>
            <a:spLocks noGrp="1"/>
          </p:cNvSpPr>
          <p:nvPr/>
        </p:nvSpPr>
        <p:spPr>
          <a:xfrm>
            <a:off x="2263302" y="4539342"/>
            <a:ext cx="14560958" cy="2334895"/>
          </a:xfrm>
          <a:prstGeom prst="rect">
            <a:avLst/>
          </a:prstGeom>
        </p:spPr>
        <p:txBody>
          <a:bodyPr lIns="0" tIns="0" rIns="0" bIns="0" anchor="t">
            <a:spAutoFit/>
          </a:bodyPr>
          <a:lstStyle/>
          <a:p>
            <a:pPr marL="474979" lvl="1" indent="-237490" algn="l">
              <a:lnSpc>
                <a:spcPts val="3079"/>
              </a:lnSpc>
              <a:buFont typeface="Arial"/>
              <a:buChar char="•"/>
            </a:pPr>
            <a:r>
              <a:rPr sz="2199">
                <a:solidFill>
                  <a:srgbClr val="0B0A0A"/>
                </a:solidFill>
                <a:latin typeface="Quicksand"/>
                <a:ea typeface="Quicksand"/>
                <a:cs typeface="Quicksand"/>
              </a:rPr>
              <a:t>General tourism pages usually promote scenery and activities.</a:t>
            </a:r>
          </a:p>
          <a:p>
            <a:pPr marL="474979" lvl="1" indent="-237490" algn="l">
              <a:lnSpc>
                <a:spcPts val="3079"/>
              </a:lnSpc>
              <a:buFont typeface="Arial"/>
              <a:buChar char="•"/>
            </a:pPr>
            <a:r>
              <a:rPr sz="2199">
                <a:solidFill>
                  <a:srgbClr val="0B0A0A"/>
                </a:solidFill>
                <a:latin typeface="Quicksand"/>
                <a:ea typeface="Quicksand"/>
                <a:cs typeface="Quicksand"/>
              </a:rPr>
              <a:t>Important details such as walking difficulty, step-free access, seating, accessible toilets, parking and shelter are not always provided.</a:t>
            </a:r>
          </a:p>
          <a:p>
            <a:pPr marL="474979" lvl="1" indent="-237490" algn="l">
              <a:lnSpc>
                <a:spcPts val="3079"/>
              </a:lnSpc>
              <a:buFont typeface="Arial"/>
              <a:buChar char="•"/>
            </a:pPr>
            <a:r>
              <a:rPr sz="2199">
                <a:solidFill>
                  <a:srgbClr val="0B0A0A"/>
                </a:solidFill>
                <a:latin typeface="Quicksand"/>
                <a:ea typeface="Quicksand"/>
                <a:cs typeface="Quicksand"/>
              </a:rPr>
              <a:t>A place may be described as suitable without explaining why it is suitable.</a:t>
            </a:r>
          </a:p>
          <a:p>
            <a:pPr marL="474979" lvl="1" indent="-237490" algn="l">
              <a:lnSpc>
                <a:spcPts val="3079"/>
              </a:lnSpc>
              <a:buFont typeface="Arial"/>
              <a:buChar char="•"/>
            </a:pPr>
            <a:r>
              <a:rPr sz="2199">
                <a:solidFill>
                  <a:srgbClr val="0B0A0A"/>
                </a:solidFill>
                <a:latin typeface="Quicksand"/>
                <a:ea typeface="Quicksand"/>
                <a:cs typeface="Quicksand"/>
              </a:rPr>
              <a:t>Treating missing information as available could produce an inappropriate recommendation.</a:t>
            </a:r>
          </a:p>
          <a:p>
            <a:pPr algn="l">
              <a:lnSpc>
                <a:spcPts val="3079"/>
              </a:lnSpc>
              <a:buNone/>
            </a:pPr>
            <a:endParaRPr sz="2199">
              <a:solidFill>
                <a:srgbClr val="0B0A0A"/>
              </a:solidFill>
              <a:latin typeface="Quicksand"/>
              <a:ea typeface="Quicksand"/>
              <a:cs typeface="Quicksand"/>
            </a:endParaRPr>
          </a:p>
        </p:txBody>
      </p:sp>
      <p:sp>
        <p:nvSpPr>
          <p:cNvPr id="26" name="TextBox 26">
            <a:extLst>
              <a:ext uri="{FF2B5EF4-FFF2-40B4-BE49-F238E27FC236}">
                <a16:creationId xmlns:a16="http://schemas.microsoft.com/office/drawing/2014/main" id="{403EF200-1720-4D1F-861B-18E48089280D}"/>
              </a:ext>
            </a:extLst>
          </p:cNvPr>
          <p:cNvSpPr>
            <a:spLocks noGrp="1"/>
          </p:cNvSpPr>
          <p:nvPr/>
        </p:nvSpPr>
        <p:spPr>
          <a:xfrm>
            <a:off x="2182204" y="7632608"/>
            <a:ext cx="13752037" cy="1553845"/>
          </a:xfrm>
          <a:prstGeom prst="rect">
            <a:avLst/>
          </a:prstGeom>
        </p:spPr>
        <p:txBody>
          <a:bodyPr lIns="0" tIns="0" rIns="0" bIns="0" anchor="t">
            <a:spAutoFit/>
          </a:bodyPr>
          <a:lstStyle/>
          <a:p>
            <a:pPr marL="474979" lvl="1" indent="-237490" algn="l">
              <a:lnSpc>
                <a:spcPts val="3079"/>
              </a:lnSpc>
              <a:buFont typeface="Arial"/>
              <a:buChar char="•"/>
            </a:pPr>
            <a:r>
              <a:rPr sz="2199">
                <a:solidFill>
                  <a:srgbClr val="0B0A0A"/>
                </a:solidFill>
                <a:latin typeface="Quicksand"/>
                <a:ea typeface="Quicksand"/>
                <a:cs typeface="Quicksand"/>
              </a:rPr>
              <a:t>Small text, weak contrast, long result lists and complicated filters can make travel planning harder.</a:t>
            </a:r>
          </a:p>
          <a:p>
            <a:pPr marL="474979" lvl="1" indent="-237490" algn="l">
              <a:lnSpc>
                <a:spcPts val="3079"/>
              </a:lnSpc>
              <a:buFont typeface="Arial"/>
              <a:buChar char="•"/>
            </a:pPr>
            <a:r>
              <a:rPr sz="2199">
                <a:solidFill>
                  <a:srgbClr val="0B0A0A"/>
                </a:solidFill>
                <a:latin typeface="Quicksand"/>
                <a:ea typeface="Quicksand"/>
                <a:cs typeface="Quicksand"/>
              </a:rPr>
              <a:t>Users may need to move between several pages to compare destinations.</a:t>
            </a:r>
          </a:p>
          <a:p>
            <a:pPr marL="474979" lvl="1" indent="-237490" algn="l">
              <a:lnSpc>
                <a:spcPts val="3079"/>
              </a:lnSpc>
              <a:buFont typeface="Arial"/>
              <a:buChar char="•"/>
            </a:pPr>
            <a:r>
              <a:rPr sz="2199">
                <a:solidFill>
                  <a:srgbClr val="0B0A0A"/>
                </a:solidFill>
                <a:latin typeface="Quicksand"/>
                <a:ea typeface="Quicksand"/>
                <a:cs typeface="Quicksand"/>
              </a:rPr>
              <a:t>Conventional search systems may not remember preferences expressed during a conversation.</a:t>
            </a:r>
          </a:p>
          <a:p>
            <a:pPr algn="l">
              <a:lnSpc>
                <a:spcPts val="3079"/>
              </a:lnSpc>
              <a:buNone/>
            </a:pPr>
            <a:endParaRPr sz="2199">
              <a:solidFill>
                <a:srgbClr val="0B0A0A"/>
              </a:solidFill>
              <a:latin typeface="Quicksand"/>
              <a:ea typeface="Quicksand"/>
              <a:cs typeface="Quicksand"/>
            </a:endParaRPr>
          </a:p>
        </p:txBody>
      </p:sp>
      <p:sp>
        <p:nvSpPr>
          <p:cNvPr id="27" name="TextBox 27">
            <a:extLst>
              <a:ext uri="{FF2B5EF4-FFF2-40B4-BE49-F238E27FC236}">
                <a16:creationId xmlns:a16="http://schemas.microsoft.com/office/drawing/2014/main" id="{EFCF0621-9911-4072-A042-8F3547250E65}"/>
              </a:ext>
            </a:extLst>
          </p:cNvPr>
          <p:cNvSpPr>
            <a:spLocks noGrp="1"/>
          </p:cNvSpPr>
          <p:nvPr/>
        </p:nvSpPr>
        <p:spPr>
          <a:xfrm>
            <a:off x="2562298" y="2142137"/>
            <a:ext cx="3647433" cy="443526"/>
          </a:xfrm>
          <a:prstGeom prst="roundRect">
            <a:avLst/>
          </a:prstGeom>
          <a:solidFill>
            <a:schemeClr val="accent5">
              <a:lumMod val="40000"/>
              <a:lumOff val="60000"/>
            </a:schemeClr>
          </a:solidFill>
        </p:spPr>
        <p:txBody>
          <a:bodyPr wrap="square" lIns="0" tIns="0" rIns="0" bIns="0" anchor="t">
            <a:spAutoFit/>
          </a:bodyPr>
          <a:lstStyle/>
          <a:p>
            <a:pPr algn="l">
              <a:lnSpc>
                <a:spcPts val="3359"/>
              </a:lnSpc>
              <a:spcBef>
                <a:spcPct val="0"/>
              </a:spcBef>
              <a:buNone/>
            </a:pPr>
            <a:r>
              <a:rPr sz="2400" b="1" dirty="0">
                <a:solidFill>
                  <a:srgbClr val="0B0A0A"/>
                </a:solidFill>
                <a:latin typeface="Quicksand Bold"/>
                <a:ea typeface="Quicksand Bold"/>
                <a:cs typeface="Quicksand Bold"/>
              </a:rPr>
              <a:t>Information is scattered</a:t>
            </a:r>
          </a:p>
        </p:txBody>
      </p:sp>
      <p:sp>
        <p:nvSpPr>
          <p:cNvPr id="28" name="TextBox 28">
            <a:extLst>
              <a:ext uri="{FF2B5EF4-FFF2-40B4-BE49-F238E27FC236}">
                <a16:creationId xmlns:a16="http://schemas.microsoft.com/office/drawing/2014/main" id="{2A5158A4-8F2F-4C29-BB08-FEC2EDADADA4}"/>
              </a:ext>
            </a:extLst>
          </p:cNvPr>
          <p:cNvSpPr>
            <a:spLocks noGrp="1"/>
          </p:cNvSpPr>
          <p:nvPr/>
        </p:nvSpPr>
        <p:spPr>
          <a:xfrm>
            <a:off x="2511894" y="3966641"/>
            <a:ext cx="5813240" cy="443526"/>
          </a:xfrm>
          <a:prstGeom prst="roundRect">
            <a:avLst/>
          </a:prstGeom>
          <a:solidFill>
            <a:schemeClr val="accent5">
              <a:lumMod val="40000"/>
              <a:lumOff val="60000"/>
            </a:schemeClr>
          </a:solidFill>
        </p:spPr>
        <p:txBody>
          <a:bodyPr wrap="square" lIns="0" tIns="0" rIns="0" bIns="0" anchor="t">
            <a:spAutoFit/>
          </a:bodyPr>
          <a:lstStyle/>
          <a:p>
            <a:pPr algn="l">
              <a:lnSpc>
                <a:spcPts val="3359"/>
              </a:lnSpc>
              <a:spcBef>
                <a:spcPct val="0"/>
              </a:spcBef>
              <a:buNone/>
            </a:pPr>
            <a:r>
              <a:rPr sz="2400" b="1" dirty="0">
                <a:solidFill>
                  <a:srgbClr val="0B0A0A"/>
                </a:solidFill>
                <a:latin typeface="Quicksand Bold"/>
                <a:ea typeface="Quicksand Bold"/>
                <a:cs typeface="Quicksand Bold"/>
              </a:rPr>
              <a:t>Accessibility information is incomplete</a:t>
            </a:r>
          </a:p>
        </p:txBody>
      </p:sp>
      <p:sp>
        <p:nvSpPr>
          <p:cNvPr id="29" name="TextBox 29">
            <a:extLst>
              <a:ext uri="{FF2B5EF4-FFF2-40B4-BE49-F238E27FC236}">
                <a16:creationId xmlns:a16="http://schemas.microsoft.com/office/drawing/2014/main" id="{99D1DFC3-11CF-48EA-A7EA-91A819347FB6}"/>
              </a:ext>
            </a:extLst>
          </p:cNvPr>
          <p:cNvSpPr>
            <a:spLocks noGrp="1"/>
          </p:cNvSpPr>
          <p:nvPr/>
        </p:nvSpPr>
        <p:spPr>
          <a:xfrm>
            <a:off x="2511895" y="7022124"/>
            <a:ext cx="7529420" cy="443526"/>
          </a:xfrm>
          <a:prstGeom prst="roundRect">
            <a:avLst/>
          </a:prstGeom>
          <a:solidFill>
            <a:schemeClr val="accent5">
              <a:lumMod val="40000"/>
              <a:lumOff val="60000"/>
            </a:schemeClr>
          </a:solidFill>
        </p:spPr>
        <p:txBody>
          <a:bodyPr wrap="square" lIns="0" tIns="0" rIns="0" bIns="0" anchor="t">
            <a:spAutoFit/>
          </a:bodyPr>
          <a:lstStyle/>
          <a:p>
            <a:pPr algn="l">
              <a:lnSpc>
                <a:spcPts val="3359"/>
              </a:lnSpc>
              <a:spcBef>
                <a:spcPct val="0"/>
              </a:spcBef>
              <a:buNone/>
            </a:pPr>
            <a:r>
              <a:rPr sz="2400" b="1" dirty="0">
                <a:solidFill>
                  <a:srgbClr val="0B0A0A"/>
                </a:solidFill>
                <a:latin typeface="Quicksand Bold"/>
                <a:ea typeface="Quicksand Bold"/>
                <a:cs typeface="Quicksand Bold"/>
              </a:rPr>
              <a:t>Existing interfaces may be difficult for older users</a:t>
            </a:r>
          </a:p>
        </p:txBody>
      </p:sp>
      <p:sp>
        <p:nvSpPr>
          <p:cNvPr id="30" name="Freeform 30">
            <a:extLst>
              <a:ext uri="{FF2B5EF4-FFF2-40B4-BE49-F238E27FC236}">
                <a16:creationId xmlns:a16="http://schemas.microsoft.com/office/drawing/2014/main" id="{CB574766-9A46-45AF-948A-5F086DC426BF}"/>
              </a:ext>
            </a:extLst>
          </p:cNvPr>
          <p:cNvSpPr>
            <a:spLocks noGrp="1"/>
          </p:cNvSpPr>
          <p:nvPr/>
        </p:nvSpPr>
        <p:spPr>
          <a:xfrm>
            <a:off x="0" y="9344025"/>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1" name="Freeform 31">
            <a:extLst>
              <a:ext uri="{FF2B5EF4-FFF2-40B4-BE49-F238E27FC236}">
                <a16:creationId xmlns:a16="http://schemas.microsoft.com/office/drawing/2014/main" id="{0788F5FE-2DC6-401A-BA23-1CB9BD83B7BC}"/>
              </a:ext>
            </a:extLst>
          </p:cNvPr>
          <p:cNvSpPr>
            <a:spLocks noGrp="1"/>
          </p:cNvSpPr>
          <p:nvPr/>
        </p:nvSpPr>
        <p:spPr>
          <a:xfrm rot="5400000" flipH="1">
            <a:off x="16513928" y="2745823"/>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32" name="Freeform 32">
            <a:extLst>
              <a:ext uri="{FF2B5EF4-FFF2-40B4-BE49-F238E27FC236}">
                <a16:creationId xmlns:a16="http://schemas.microsoft.com/office/drawing/2014/main" id="{BF3E9991-E35B-4CC2-AA20-0809AB0F329E}"/>
              </a:ext>
            </a:extLst>
          </p:cNvPr>
          <p:cNvSpPr>
            <a:spLocks noGrp="1"/>
          </p:cNvSpPr>
          <p:nvPr/>
        </p:nvSpPr>
        <p:spPr>
          <a:xfrm rot="5400000" flipH="1">
            <a:off x="6660995" y="8107945"/>
            <a:ext cx="3982064" cy="3982064"/>
          </a:xfrm>
          <a:custGeom>
            <a:avLst/>
            <a:gdLst/>
            <a:ahLst/>
            <a:cxnLst/>
            <a:rect l="l" t="t" r="r" b="b"/>
            <a:pathLst>
              <a:path w="3982064" h="3982064">
                <a:moveTo>
                  <a:pt x="3982063" y="0"/>
                </a:moveTo>
                <a:lnTo>
                  <a:pt x="0" y="0"/>
                </a:lnTo>
                <a:lnTo>
                  <a:pt x="0" y="3982064"/>
                </a:lnTo>
                <a:lnTo>
                  <a:pt x="3982063" y="3982064"/>
                </a:lnTo>
                <a:lnTo>
                  <a:pt x="398206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Tree>
    <p:extLst>
      <p:ext uri="{BB962C8B-B14F-4D97-AF65-F5344CB8AC3E}">
        <p14:creationId xmlns:p14="http://schemas.microsoft.com/office/powerpoint/2010/main" val="137920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8C76B94-D01E-4856-992C-A6F4E275E7D5}"/>
              </a:ext>
            </a:extLst>
          </p:cNvPr>
          <p:cNvSpPr>
            <a:spLocks noGrp="1"/>
          </p:cNvSpPr>
          <p:nvPr/>
        </p:nvSpPr>
        <p:spPr>
          <a:xfrm>
            <a:off x="7470286" y="7717381"/>
            <a:ext cx="5638432" cy="5638432"/>
          </a:xfrm>
          <a:custGeom>
            <a:avLst/>
            <a:gdLst/>
            <a:ahLst/>
            <a:cxnLst/>
            <a:rect l="l" t="t" r="r" b="b"/>
            <a:pathLst>
              <a:path w="5638432" h="5638432">
                <a:moveTo>
                  <a:pt x="0" y="0"/>
                </a:moveTo>
                <a:lnTo>
                  <a:pt x="5638432" y="0"/>
                </a:lnTo>
                <a:lnTo>
                  <a:pt x="5638432" y="5638433"/>
                </a:lnTo>
                <a:lnTo>
                  <a:pt x="0" y="56384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767C5003-B02A-4B44-ABFC-0221F4863435}"/>
              </a:ext>
            </a:extLst>
          </p:cNvPr>
          <p:cNvSpPr>
            <a:spLocks noGrp="1"/>
          </p:cNvSpPr>
          <p:nvPr/>
        </p:nvSpPr>
        <p:spPr>
          <a:xfrm rot="5400000">
            <a:off x="7957467" y="-2842756"/>
            <a:ext cx="5685511" cy="5685511"/>
          </a:xfrm>
          <a:custGeom>
            <a:avLst/>
            <a:gdLst/>
            <a:ahLst/>
            <a:cxnLst/>
            <a:rect l="l" t="t" r="r" b="b"/>
            <a:pathLst>
              <a:path w="5685511" h="5685511">
                <a:moveTo>
                  <a:pt x="0" y="0"/>
                </a:moveTo>
                <a:lnTo>
                  <a:pt x="5685511" y="0"/>
                </a:lnTo>
                <a:lnTo>
                  <a:pt x="5685511" y="5685512"/>
                </a:lnTo>
                <a:lnTo>
                  <a:pt x="0" y="56855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TextBox 4">
            <a:extLst>
              <a:ext uri="{FF2B5EF4-FFF2-40B4-BE49-F238E27FC236}">
                <a16:creationId xmlns:a16="http://schemas.microsoft.com/office/drawing/2014/main" id="{B5A6E680-40AC-44C6-8D7C-1CC86AAE38DB}"/>
              </a:ext>
            </a:extLst>
          </p:cNvPr>
          <p:cNvSpPr>
            <a:spLocks noGrp="1"/>
          </p:cNvSpPr>
          <p:nvPr/>
        </p:nvSpPr>
        <p:spPr>
          <a:xfrm>
            <a:off x="2668599" y="623312"/>
            <a:ext cx="6134112" cy="906145"/>
          </a:xfrm>
          <a:prstGeom prst="rect">
            <a:avLst/>
          </a:prstGeom>
        </p:spPr>
        <p:txBody>
          <a:bodyPr lIns="0" tIns="0" rIns="0" bIns="0" anchor="t">
            <a:spAutoFit/>
          </a:bodyPr>
          <a:lstStyle/>
          <a:p>
            <a:pPr marL="0" lvl="0" indent="0" algn="l">
              <a:lnSpc>
                <a:spcPts val="6800"/>
              </a:lnSpc>
              <a:spcBef>
                <a:spcPct val="0"/>
              </a:spcBef>
              <a:buNone/>
            </a:pPr>
            <a:r>
              <a:rPr sz="6800">
                <a:solidFill>
                  <a:srgbClr val="000000"/>
                </a:solidFill>
                <a:latin typeface="Hero Bold"/>
                <a:ea typeface="Hero Bold"/>
                <a:cs typeface="Hero Bold"/>
              </a:rPr>
              <a:t>Motivation</a:t>
            </a:r>
          </a:p>
        </p:txBody>
      </p:sp>
      <p:sp>
        <p:nvSpPr>
          <p:cNvPr id="5" name="Freeform 5">
            <a:extLst>
              <a:ext uri="{FF2B5EF4-FFF2-40B4-BE49-F238E27FC236}">
                <a16:creationId xmlns:a16="http://schemas.microsoft.com/office/drawing/2014/main" id="{8C91A275-669F-4BA4-8F79-35372516CD5A}"/>
              </a:ext>
            </a:extLst>
          </p:cNvPr>
          <p:cNvSpPr>
            <a:spLocks noGrp="1"/>
          </p:cNvSpPr>
          <p:nvPr/>
        </p:nvSpPr>
        <p:spPr>
          <a:xfrm>
            <a:off x="-3221306" y="-2127777"/>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6" name="Freeform 6">
            <a:extLst>
              <a:ext uri="{FF2B5EF4-FFF2-40B4-BE49-F238E27FC236}">
                <a16:creationId xmlns:a16="http://schemas.microsoft.com/office/drawing/2014/main" id="{CCE5E7CE-952E-4498-A881-1B89B59DC46A}"/>
              </a:ext>
            </a:extLst>
          </p:cNvPr>
          <p:cNvSpPr>
            <a:spLocks noGrp="1"/>
          </p:cNvSpPr>
          <p:nvPr/>
        </p:nvSpPr>
        <p:spPr>
          <a:xfrm>
            <a:off x="12338781" y="-3131918"/>
            <a:ext cx="4634683" cy="4634683"/>
          </a:xfrm>
          <a:custGeom>
            <a:avLst/>
            <a:gdLst/>
            <a:ahLst/>
            <a:cxnLst/>
            <a:rect l="l" t="t" r="r" b="b"/>
            <a:pathLst>
              <a:path w="4634683" h="4634683">
                <a:moveTo>
                  <a:pt x="0" y="0"/>
                </a:moveTo>
                <a:lnTo>
                  <a:pt x="4634683" y="0"/>
                </a:lnTo>
                <a:lnTo>
                  <a:pt x="4634683" y="4634683"/>
                </a:lnTo>
                <a:lnTo>
                  <a:pt x="0" y="46346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7" name="Freeform 7">
            <a:extLst>
              <a:ext uri="{FF2B5EF4-FFF2-40B4-BE49-F238E27FC236}">
                <a16:creationId xmlns:a16="http://schemas.microsoft.com/office/drawing/2014/main" id="{FFA43B5B-88F3-4ACC-ADDD-BFC9CEF72041}"/>
              </a:ext>
            </a:extLst>
          </p:cNvPr>
          <p:cNvSpPr>
            <a:spLocks noGrp="1"/>
          </p:cNvSpPr>
          <p:nvPr/>
        </p:nvSpPr>
        <p:spPr>
          <a:xfrm rot="5400000" flipH="1">
            <a:off x="4444645" y="8545566"/>
            <a:ext cx="3982064" cy="3982064"/>
          </a:xfrm>
          <a:custGeom>
            <a:avLst/>
            <a:gdLst/>
            <a:ahLst/>
            <a:cxnLst/>
            <a:rect l="l" t="t" r="r" b="b"/>
            <a:pathLst>
              <a:path w="3982064" h="3982064">
                <a:moveTo>
                  <a:pt x="3982064" y="0"/>
                </a:moveTo>
                <a:lnTo>
                  <a:pt x="0" y="0"/>
                </a:lnTo>
                <a:lnTo>
                  <a:pt x="0" y="3982063"/>
                </a:lnTo>
                <a:lnTo>
                  <a:pt x="3982064" y="3982063"/>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8" name="Freeform 8">
            <a:extLst>
              <a:ext uri="{FF2B5EF4-FFF2-40B4-BE49-F238E27FC236}">
                <a16:creationId xmlns:a16="http://schemas.microsoft.com/office/drawing/2014/main" id="{D8A65A35-7A86-45ED-98E3-ABAF35ABC069}"/>
              </a:ext>
            </a:extLst>
          </p:cNvPr>
          <p:cNvSpPr>
            <a:spLocks noGrp="1"/>
          </p:cNvSpPr>
          <p:nvPr/>
        </p:nvSpPr>
        <p:spPr>
          <a:xfrm rot="5400000">
            <a:off x="-2843792" y="2897459"/>
            <a:ext cx="3982064" cy="3982064"/>
          </a:xfrm>
          <a:custGeom>
            <a:avLst/>
            <a:gdLst/>
            <a:ahLst/>
            <a:cxnLst/>
            <a:rect l="l" t="t" r="r" b="b"/>
            <a:pathLst>
              <a:path w="3982064" h="3982064">
                <a:moveTo>
                  <a:pt x="0" y="0"/>
                </a:moveTo>
                <a:lnTo>
                  <a:pt x="3982064" y="0"/>
                </a:lnTo>
                <a:lnTo>
                  <a:pt x="3982064" y="3982064"/>
                </a:lnTo>
                <a:lnTo>
                  <a:pt x="0" y="3982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0" name="Freeform 10">
            <a:extLst>
              <a:ext uri="{FF2B5EF4-FFF2-40B4-BE49-F238E27FC236}">
                <a16:creationId xmlns:a16="http://schemas.microsoft.com/office/drawing/2014/main" id="{A8F4D5BB-E7B0-4CB4-BA8E-2F29E21B1A3A}"/>
              </a:ext>
            </a:extLst>
          </p:cNvPr>
          <p:cNvSpPr>
            <a:spLocks noGrp="1"/>
          </p:cNvSpPr>
          <p:nvPr/>
        </p:nvSpPr>
        <p:spPr>
          <a:xfrm>
            <a:off x="1345378" y="2797031"/>
            <a:ext cx="3470263"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11" name="TextBox 11">
            <a:extLst>
              <a:ext uri="{FF2B5EF4-FFF2-40B4-BE49-F238E27FC236}">
                <a16:creationId xmlns:a16="http://schemas.microsoft.com/office/drawing/2014/main" id="{A04F59D6-6106-470C-A1B6-AB68FDD02242}"/>
              </a:ext>
            </a:extLst>
          </p:cNvPr>
          <p:cNvSpPr>
            <a:spLocks noGrp="1"/>
          </p:cNvSpPr>
          <p:nvPr/>
        </p:nvSpPr>
        <p:spPr>
          <a:xfrm>
            <a:off x="1345378" y="2616205"/>
            <a:ext cx="3470263" cy="4930915"/>
          </a:xfrm>
          <a:prstGeom prst="rect">
            <a:avLst/>
          </a:prstGeom>
        </p:spPr>
        <p:txBody>
          <a:bodyPr lIns="50800" tIns="50800" rIns="50800" bIns="50800" anchor="ctr"/>
          <a:lstStyle/>
          <a:p>
            <a:pPr algn="ctr">
              <a:lnSpc>
                <a:spcPts val="4480"/>
              </a:lnSpc>
              <a:buNone/>
            </a:pPr>
            <a:r>
              <a:rPr sz="3200" b="1">
                <a:solidFill>
                  <a:srgbClr val="000000"/>
                </a:solidFill>
                <a:latin typeface="Quicksand Bold"/>
                <a:ea typeface="Quicksand Bold"/>
                <a:cs typeface="Quicksand Bold"/>
              </a:rPr>
              <a:t>Malaysia has an ageing population.</a:t>
            </a:r>
          </a:p>
          <a:p>
            <a:pPr algn="ctr">
              <a:lnSpc>
                <a:spcPts val="4480"/>
              </a:lnSpc>
              <a:buNone/>
            </a:pPr>
            <a:endParaRPr sz="3200" b="1">
              <a:solidFill>
                <a:srgbClr val="000000"/>
              </a:solidFill>
              <a:latin typeface="Quicksand Bold"/>
              <a:ea typeface="Quicksand Bold"/>
              <a:cs typeface="Quicksand Bold"/>
            </a:endParaRPr>
          </a:p>
        </p:txBody>
      </p:sp>
      <p:sp>
        <p:nvSpPr>
          <p:cNvPr id="13" name="Freeform 13">
            <a:extLst>
              <a:ext uri="{FF2B5EF4-FFF2-40B4-BE49-F238E27FC236}">
                <a16:creationId xmlns:a16="http://schemas.microsoft.com/office/drawing/2014/main" id="{4628FFA9-6A85-4F7C-9175-BC5068C06F3C}"/>
              </a:ext>
            </a:extLst>
          </p:cNvPr>
          <p:cNvSpPr>
            <a:spLocks noGrp="1"/>
          </p:cNvSpPr>
          <p:nvPr/>
        </p:nvSpPr>
        <p:spPr>
          <a:xfrm>
            <a:off x="5491916" y="2768456"/>
            <a:ext cx="3470263"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14" name="TextBox 14">
            <a:extLst>
              <a:ext uri="{FF2B5EF4-FFF2-40B4-BE49-F238E27FC236}">
                <a16:creationId xmlns:a16="http://schemas.microsoft.com/office/drawing/2014/main" id="{5A24F35F-6F7D-4B7C-934A-1AC76F5F310F}"/>
              </a:ext>
            </a:extLst>
          </p:cNvPr>
          <p:cNvSpPr>
            <a:spLocks noGrp="1"/>
          </p:cNvSpPr>
          <p:nvPr/>
        </p:nvSpPr>
        <p:spPr>
          <a:xfrm>
            <a:off x="5491916" y="2587630"/>
            <a:ext cx="3470263" cy="4930915"/>
          </a:xfrm>
          <a:prstGeom prst="rect">
            <a:avLst/>
          </a:prstGeom>
        </p:spPr>
        <p:txBody>
          <a:bodyPr lIns="50800" tIns="50800" rIns="50800" bIns="50800" anchor="ctr"/>
          <a:lstStyle/>
          <a:p>
            <a:pPr algn="ctr">
              <a:lnSpc>
                <a:spcPts val="4480"/>
              </a:lnSpc>
              <a:buNone/>
            </a:pPr>
            <a:r>
              <a:rPr sz="3200" b="1">
                <a:solidFill>
                  <a:srgbClr val="000000"/>
                </a:solidFill>
                <a:latin typeface="Quicksand Bold"/>
                <a:ea typeface="Quicksand Bold"/>
                <a:cs typeface="Quicksand Bold"/>
              </a:rPr>
              <a:t>Older travellers have different mobility and accessibility requirements.</a:t>
            </a:r>
          </a:p>
        </p:txBody>
      </p:sp>
      <p:sp>
        <p:nvSpPr>
          <p:cNvPr id="16" name="Freeform 16">
            <a:extLst>
              <a:ext uri="{FF2B5EF4-FFF2-40B4-BE49-F238E27FC236}">
                <a16:creationId xmlns:a16="http://schemas.microsoft.com/office/drawing/2014/main" id="{3032368A-928E-4FDB-B75F-AC18A39967A9}"/>
              </a:ext>
            </a:extLst>
          </p:cNvPr>
          <p:cNvSpPr>
            <a:spLocks noGrp="1"/>
          </p:cNvSpPr>
          <p:nvPr/>
        </p:nvSpPr>
        <p:spPr>
          <a:xfrm>
            <a:off x="9638454" y="2768456"/>
            <a:ext cx="3470263"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17" name="TextBox 17">
            <a:extLst>
              <a:ext uri="{FF2B5EF4-FFF2-40B4-BE49-F238E27FC236}">
                <a16:creationId xmlns:a16="http://schemas.microsoft.com/office/drawing/2014/main" id="{B14142F8-0EFF-4F9C-BAFF-7A0E0A891B63}"/>
              </a:ext>
            </a:extLst>
          </p:cNvPr>
          <p:cNvSpPr>
            <a:spLocks noGrp="1"/>
          </p:cNvSpPr>
          <p:nvPr/>
        </p:nvSpPr>
        <p:spPr>
          <a:xfrm>
            <a:off x="9638454" y="2587630"/>
            <a:ext cx="3470263" cy="4930915"/>
          </a:xfrm>
          <a:prstGeom prst="rect">
            <a:avLst/>
          </a:prstGeom>
        </p:spPr>
        <p:txBody>
          <a:bodyPr lIns="50800" tIns="50800" rIns="50800" bIns="50800" anchor="ctr"/>
          <a:lstStyle/>
          <a:p>
            <a:pPr algn="ctr">
              <a:lnSpc>
                <a:spcPts val="4480"/>
              </a:lnSpc>
              <a:buNone/>
            </a:pPr>
            <a:r>
              <a:rPr sz="3200" b="1">
                <a:solidFill>
                  <a:srgbClr val="000000"/>
                </a:solidFill>
                <a:latin typeface="Quicksand Bold"/>
                <a:ea typeface="Quicksand Bold"/>
                <a:cs typeface="Quicksand Bold"/>
              </a:rPr>
              <a:t>They need a simpler way to compare destinations.</a:t>
            </a:r>
          </a:p>
        </p:txBody>
      </p:sp>
      <p:sp>
        <p:nvSpPr>
          <p:cNvPr id="19" name="Freeform 19">
            <a:extLst>
              <a:ext uri="{FF2B5EF4-FFF2-40B4-BE49-F238E27FC236}">
                <a16:creationId xmlns:a16="http://schemas.microsoft.com/office/drawing/2014/main" id="{0C5FB6B8-66B2-4110-973E-F95609B36F85}"/>
              </a:ext>
            </a:extLst>
          </p:cNvPr>
          <p:cNvSpPr>
            <a:spLocks noGrp="1"/>
          </p:cNvSpPr>
          <p:nvPr/>
        </p:nvSpPr>
        <p:spPr>
          <a:xfrm>
            <a:off x="13789037" y="2768456"/>
            <a:ext cx="3470263"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20" name="TextBox 20">
            <a:extLst>
              <a:ext uri="{FF2B5EF4-FFF2-40B4-BE49-F238E27FC236}">
                <a16:creationId xmlns:a16="http://schemas.microsoft.com/office/drawing/2014/main" id="{48D7179C-2757-4508-807A-B095138E22EB}"/>
              </a:ext>
            </a:extLst>
          </p:cNvPr>
          <p:cNvSpPr>
            <a:spLocks noGrp="1"/>
          </p:cNvSpPr>
          <p:nvPr/>
        </p:nvSpPr>
        <p:spPr>
          <a:xfrm>
            <a:off x="13789037" y="2587630"/>
            <a:ext cx="3470263" cy="4930915"/>
          </a:xfrm>
          <a:prstGeom prst="rect">
            <a:avLst/>
          </a:prstGeom>
        </p:spPr>
        <p:txBody>
          <a:bodyPr lIns="50800" tIns="50800" rIns="50800" bIns="50800" anchor="ctr"/>
          <a:lstStyle/>
          <a:p>
            <a:pPr algn="ctr">
              <a:lnSpc>
                <a:spcPts val="4480"/>
              </a:lnSpc>
              <a:buNone/>
            </a:pPr>
            <a:r>
              <a:rPr sz="3200" b="1">
                <a:solidFill>
                  <a:srgbClr val="000000"/>
                </a:solidFill>
                <a:latin typeface="Quicksand Bold"/>
                <a:ea typeface="Quicksand Bold"/>
                <a:cs typeface="Quicksand Bold"/>
              </a:rPr>
              <a:t>Unknown accessibility information should not be presented as confirmed.</a:t>
            </a:r>
          </a:p>
        </p:txBody>
      </p:sp>
      <p:sp>
        <p:nvSpPr>
          <p:cNvPr id="21" name="TextBox 21">
            <a:extLst>
              <a:ext uri="{FF2B5EF4-FFF2-40B4-BE49-F238E27FC236}">
                <a16:creationId xmlns:a16="http://schemas.microsoft.com/office/drawing/2014/main" id="{97B4F51F-85E7-43A6-AB4C-F1CAF8965D98}"/>
              </a:ext>
            </a:extLst>
          </p:cNvPr>
          <p:cNvSpPr>
            <a:spLocks noGrp="1"/>
          </p:cNvSpPr>
          <p:nvPr/>
        </p:nvSpPr>
        <p:spPr>
          <a:xfrm>
            <a:off x="2699892" y="1705016"/>
            <a:ext cx="7471569" cy="424180"/>
          </a:xfrm>
          <a:prstGeom prst="rect">
            <a:avLst/>
          </a:prstGeom>
        </p:spPr>
        <p:txBody>
          <a:bodyPr lIns="0" tIns="0" rIns="0" bIns="0" anchor="t">
            <a:spAutoFit/>
          </a:bodyPr>
          <a:lstStyle/>
          <a:p>
            <a:pPr marL="0" lvl="0" indent="0" algn="l">
              <a:lnSpc>
                <a:spcPts val="3200"/>
              </a:lnSpc>
              <a:spcBef>
                <a:spcPct val="0"/>
              </a:spcBef>
              <a:buNone/>
            </a:pPr>
            <a:r>
              <a:rPr sz="3200" dirty="0">
                <a:solidFill>
                  <a:srgbClr val="000000"/>
                </a:solidFill>
                <a:latin typeface="Hero Bold"/>
                <a:ea typeface="Hero Bold"/>
                <a:cs typeface="Hero Bold"/>
              </a:rPr>
              <a:t>Why this project matters:</a:t>
            </a:r>
          </a:p>
        </p:txBody>
      </p:sp>
    </p:spTree>
    <p:extLst>
      <p:ext uri="{BB962C8B-B14F-4D97-AF65-F5344CB8AC3E}">
        <p14:creationId xmlns:p14="http://schemas.microsoft.com/office/powerpoint/2010/main" val="47474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B48C804-3ED5-47BF-9C36-86552B969CBA}"/>
              </a:ext>
            </a:extLst>
          </p:cNvPr>
          <p:cNvSpPr>
            <a:spLocks noGrp="1"/>
          </p:cNvSpPr>
          <p:nvPr/>
        </p:nvSpPr>
        <p:spPr>
          <a:xfrm>
            <a:off x="-1654050" y="-3235496"/>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4" name="Freeform 4">
            <a:extLst>
              <a:ext uri="{FF2B5EF4-FFF2-40B4-BE49-F238E27FC236}">
                <a16:creationId xmlns:a16="http://schemas.microsoft.com/office/drawing/2014/main" id="{F9CFBAA6-71EA-4136-8935-3B2746014576}"/>
              </a:ext>
            </a:extLst>
          </p:cNvPr>
          <p:cNvSpPr>
            <a:spLocks noGrp="1"/>
          </p:cNvSpPr>
          <p:nvPr/>
        </p:nvSpPr>
        <p:spPr>
          <a:xfrm>
            <a:off x="929102" y="1028700"/>
            <a:ext cx="16230600" cy="8229600"/>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p:spPr>
        <p:txBody>
          <a:bodyPr/>
          <a:lstStyle/>
          <a:p>
            <a:endParaRPr lang="en-MY"/>
          </a:p>
        </p:txBody>
      </p:sp>
      <p:sp>
        <p:nvSpPr>
          <p:cNvPr id="5" name="TextBox 5">
            <a:extLst>
              <a:ext uri="{FF2B5EF4-FFF2-40B4-BE49-F238E27FC236}">
                <a16:creationId xmlns:a16="http://schemas.microsoft.com/office/drawing/2014/main" id="{9673D04F-2D8B-4854-BCFE-6F15F4A95112}"/>
              </a:ext>
            </a:extLst>
          </p:cNvPr>
          <p:cNvSpPr>
            <a:spLocks noGrp="1"/>
          </p:cNvSpPr>
          <p:nvPr/>
        </p:nvSpPr>
        <p:spPr>
          <a:xfrm>
            <a:off x="929102" y="811709"/>
            <a:ext cx="16230600" cy="8446591"/>
          </a:xfrm>
          <a:prstGeom prst="rect">
            <a:avLst/>
          </a:prstGeom>
        </p:spPr>
        <p:txBody>
          <a:bodyPr lIns="50800" tIns="50800" rIns="50800" bIns="50800" anchor="ctr"/>
          <a:lstStyle/>
          <a:p>
            <a:pPr algn="ctr">
              <a:lnSpc>
                <a:spcPts val="3360"/>
              </a:lnSpc>
              <a:buNone/>
            </a:pPr>
            <a:endParaRPr/>
          </a:p>
        </p:txBody>
      </p:sp>
      <p:sp>
        <p:nvSpPr>
          <p:cNvPr id="6" name="Freeform 6">
            <a:extLst>
              <a:ext uri="{FF2B5EF4-FFF2-40B4-BE49-F238E27FC236}">
                <a16:creationId xmlns:a16="http://schemas.microsoft.com/office/drawing/2014/main" id="{D8FAF598-CED8-41EC-BCA5-C19219FBE17C}"/>
              </a:ext>
            </a:extLst>
          </p:cNvPr>
          <p:cNvSpPr>
            <a:spLocks noGrp="1"/>
          </p:cNvSpPr>
          <p:nvPr/>
        </p:nvSpPr>
        <p:spPr>
          <a:xfrm>
            <a:off x="14672377" y="6720071"/>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txBody>
          <a:bodyPr/>
          <a:lstStyle/>
          <a:p>
            <a:endParaRPr lang="en-MY"/>
          </a:p>
        </p:txBody>
      </p:sp>
      <p:sp>
        <p:nvSpPr>
          <p:cNvPr id="9" name="Freeform 9">
            <a:extLst>
              <a:ext uri="{FF2B5EF4-FFF2-40B4-BE49-F238E27FC236}">
                <a16:creationId xmlns:a16="http://schemas.microsoft.com/office/drawing/2014/main" id="{4A17426E-9536-45DE-AA4D-57FA9049CFEC}"/>
              </a:ext>
            </a:extLst>
          </p:cNvPr>
          <p:cNvSpPr>
            <a:spLocks noGrp="1"/>
          </p:cNvSpPr>
          <p:nvPr/>
        </p:nvSpPr>
        <p:spPr>
          <a:xfrm>
            <a:off x="1258243" y="2166912"/>
            <a:ext cx="821281" cy="8212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MY"/>
          </a:p>
        </p:txBody>
      </p:sp>
      <p:sp>
        <p:nvSpPr>
          <p:cNvPr id="10" name="TextBox 10">
            <a:extLst>
              <a:ext uri="{FF2B5EF4-FFF2-40B4-BE49-F238E27FC236}">
                <a16:creationId xmlns:a16="http://schemas.microsoft.com/office/drawing/2014/main" id="{D2591AAB-1C55-4D89-B451-9F969457F6FB}"/>
              </a:ext>
            </a:extLst>
          </p:cNvPr>
          <p:cNvSpPr>
            <a:spLocks noGrp="1"/>
          </p:cNvSpPr>
          <p:nvPr/>
        </p:nvSpPr>
        <p:spPr>
          <a:xfrm>
            <a:off x="1335238" y="2157288"/>
            <a:ext cx="667291" cy="753911"/>
          </a:xfrm>
          <a:prstGeom prst="rect">
            <a:avLst/>
          </a:prstGeom>
        </p:spPr>
        <p:txBody>
          <a:bodyPr lIns="50800" tIns="50800" rIns="50800" bIns="50800" anchor="ctr"/>
          <a:lstStyle/>
          <a:p>
            <a:pPr algn="ctr">
              <a:lnSpc>
                <a:spcPts val="2239"/>
              </a:lnSpc>
              <a:buNone/>
            </a:pPr>
            <a:endParaRPr/>
          </a:p>
        </p:txBody>
      </p:sp>
      <p:sp>
        <p:nvSpPr>
          <p:cNvPr id="11" name="Freeform 11">
            <a:extLst>
              <a:ext uri="{FF2B5EF4-FFF2-40B4-BE49-F238E27FC236}">
                <a16:creationId xmlns:a16="http://schemas.microsoft.com/office/drawing/2014/main" id="{35C56CCA-5A35-4E2C-B69F-D03971AEC157}"/>
              </a:ext>
            </a:extLst>
          </p:cNvPr>
          <p:cNvSpPr>
            <a:spLocks noGrp="1"/>
          </p:cNvSpPr>
          <p:nvPr/>
        </p:nvSpPr>
        <p:spPr>
          <a:xfrm>
            <a:off x="1471184" y="2379853"/>
            <a:ext cx="395399" cy="395399"/>
          </a:xfrm>
          <a:custGeom>
            <a:avLst/>
            <a:gdLst/>
            <a:ahLst/>
            <a:cxnLst/>
            <a:rect l="l" t="t" r="r" b="b"/>
            <a:pathLst>
              <a:path w="527200" h="527200">
                <a:moveTo>
                  <a:pt x="0" y="0"/>
                </a:moveTo>
                <a:lnTo>
                  <a:pt x="527199" y="0"/>
                </a:lnTo>
                <a:lnTo>
                  <a:pt x="527199" y="527199"/>
                </a:lnTo>
                <a:lnTo>
                  <a:pt x="0" y="5271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4" name="Freeform 14">
            <a:extLst>
              <a:ext uri="{FF2B5EF4-FFF2-40B4-BE49-F238E27FC236}">
                <a16:creationId xmlns:a16="http://schemas.microsoft.com/office/drawing/2014/main" id="{8292C8A6-01C4-4C1F-B28C-11BF62BE435B}"/>
              </a:ext>
            </a:extLst>
          </p:cNvPr>
          <p:cNvSpPr>
            <a:spLocks noGrp="1"/>
          </p:cNvSpPr>
          <p:nvPr/>
        </p:nvSpPr>
        <p:spPr>
          <a:xfrm>
            <a:off x="1258243" y="3092969"/>
            <a:ext cx="821281" cy="8212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MY"/>
          </a:p>
        </p:txBody>
      </p:sp>
      <p:sp>
        <p:nvSpPr>
          <p:cNvPr id="15" name="TextBox 15">
            <a:extLst>
              <a:ext uri="{FF2B5EF4-FFF2-40B4-BE49-F238E27FC236}">
                <a16:creationId xmlns:a16="http://schemas.microsoft.com/office/drawing/2014/main" id="{4BA0674C-B35D-4603-B090-E04BDF67B7B4}"/>
              </a:ext>
            </a:extLst>
          </p:cNvPr>
          <p:cNvSpPr>
            <a:spLocks noGrp="1"/>
          </p:cNvSpPr>
          <p:nvPr/>
        </p:nvSpPr>
        <p:spPr>
          <a:xfrm>
            <a:off x="1335238" y="3083345"/>
            <a:ext cx="667291" cy="753911"/>
          </a:xfrm>
          <a:prstGeom prst="rect">
            <a:avLst/>
          </a:prstGeom>
        </p:spPr>
        <p:txBody>
          <a:bodyPr lIns="50800" tIns="50800" rIns="50800" bIns="50800" anchor="ctr"/>
          <a:lstStyle/>
          <a:p>
            <a:pPr algn="ctr">
              <a:lnSpc>
                <a:spcPts val="2239"/>
              </a:lnSpc>
              <a:buNone/>
            </a:pPr>
            <a:endParaRPr/>
          </a:p>
        </p:txBody>
      </p:sp>
      <p:sp>
        <p:nvSpPr>
          <p:cNvPr id="16" name="Freeform 16">
            <a:extLst>
              <a:ext uri="{FF2B5EF4-FFF2-40B4-BE49-F238E27FC236}">
                <a16:creationId xmlns:a16="http://schemas.microsoft.com/office/drawing/2014/main" id="{FA6F3C17-D141-4AA6-9879-F8555FAE002B}"/>
              </a:ext>
            </a:extLst>
          </p:cNvPr>
          <p:cNvSpPr>
            <a:spLocks noGrp="1"/>
          </p:cNvSpPr>
          <p:nvPr/>
        </p:nvSpPr>
        <p:spPr>
          <a:xfrm>
            <a:off x="1471184" y="3305910"/>
            <a:ext cx="395399" cy="395399"/>
          </a:xfrm>
          <a:custGeom>
            <a:avLst/>
            <a:gdLst/>
            <a:ahLst/>
            <a:cxnLst/>
            <a:rect l="l" t="t" r="r" b="b"/>
            <a:pathLst>
              <a:path w="527200" h="527200">
                <a:moveTo>
                  <a:pt x="0" y="0"/>
                </a:moveTo>
                <a:lnTo>
                  <a:pt x="527199" y="0"/>
                </a:lnTo>
                <a:lnTo>
                  <a:pt x="527199" y="527199"/>
                </a:lnTo>
                <a:lnTo>
                  <a:pt x="0" y="5271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9" name="Freeform 19">
            <a:extLst>
              <a:ext uri="{FF2B5EF4-FFF2-40B4-BE49-F238E27FC236}">
                <a16:creationId xmlns:a16="http://schemas.microsoft.com/office/drawing/2014/main" id="{2EB61953-E970-486F-85BF-6F15AD0470BD}"/>
              </a:ext>
            </a:extLst>
          </p:cNvPr>
          <p:cNvSpPr>
            <a:spLocks noGrp="1"/>
          </p:cNvSpPr>
          <p:nvPr/>
        </p:nvSpPr>
        <p:spPr>
          <a:xfrm>
            <a:off x="1258243" y="4019026"/>
            <a:ext cx="821281" cy="82128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MY"/>
          </a:p>
        </p:txBody>
      </p:sp>
      <p:sp>
        <p:nvSpPr>
          <p:cNvPr id="20" name="TextBox 20">
            <a:extLst>
              <a:ext uri="{FF2B5EF4-FFF2-40B4-BE49-F238E27FC236}">
                <a16:creationId xmlns:a16="http://schemas.microsoft.com/office/drawing/2014/main" id="{63FB0F98-EF76-4DC9-B1F2-6BAD5CA4D5FE}"/>
              </a:ext>
            </a:extLst>
          </p:cNvPr>
          <p:cNvSpPr>
            <a:spLocks noGrp="1"/>
          </p:cNvSpPr>
          <p:nvPr/>
        </p:nvSpPr>
        <p:spPr>
          <a:xfrm>
            <a:off x="1335238" y="4009402"/>
            <a:ext cx="667291" cy="753911"/>
          </a:xfrm>
          <a:prstGeom prst="rect">
            <a:avLst/>
          </a:prstGeom>
        </p:spPr>
        <p:txBody>
          <a:bodyPr lIns="50800" tIns="50800" rIns="50800" bIns="50800" anchor="ctr"/>
          <a:lstStyle/>
          <a:p>
            <a:pPr algn="ctr">
              <a:lnSpc>
                <a:spcPts val="2239"/>
              </a:lnSpc>
              <a:buNone/>
            </a:pPr>
            <a:endParaRPr/>
          </a:p>
        </p:txBody>
      </p:sp>
      <p:sp>
        <p:nvSpPr>
          <p:cNvPr id="21" name="Freeform 21">
            <a:extLst>
              <a:ext uri="{FF2B5EF4-FFF2-40B4-BE49-F238E27FC236}">
                <a16:creationId xmlns:a16="http://schemas.microsoft.com/office/drawing/2014/main" id="{EA89ECDD-C9DC-4CAF-85D2-45B4719E2AE6}"/>
              </a:ext>
            </a:extLst>
          </p:cNvPr>
          <p:cNvSpPr>
            <a:spLocks noGrp="1"/>
          </p:cNvSpPr>
          <p:nvPr/>
        </p:nvSpPr>
        <p:spPr>
          <a:xfrm>
            <a:off x="1471184" y="4231967"/>
            <a:ext cx="395399" cy="395399"/>
          </a:xfrm>
          <a:custGeom>
            <a:avLst/>
            <a:gdLst/>
            <a:ahLst/>
            <a:cxnLst/>
            <a:rect l="l" t="t" r="r" b="b"/>
            <a:pathLst>
              <a:path w="527200" h="527200">
                <a:moveTo>
                  <a:pt x="0" y="0"/>
                </a:moveTo>
                <a:lnTo>
                  <a:pt x="527199" y="0"/>
                </a:lnTo>
                <a:lnTo>
                  <a:pt x="527199" y="527199"/>
                </a:lnTo>
                <a:lnTo>
                  <a:pt x="0" y="5271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22" name="TextBox 22">
            <a:extLst>
              <a:ext uri="{FF2B5EF4-FFF2-40B4-BE49-F238E27FC236}">
                <a16:creationId xmlns:a16="http://schemas.microsoft.com/office/drawing/2014/main" id="{A05BEC6C-23F9-4FBC-AD93-5228E3BEE637}"/>
              </a:ext>
            </a:extLst>
          </p:cNvPr>
          <p:cNvSpPr>
            <a:spLocks noGrp="1"/>
          </p:cNvSpPr>
          <p:nvPr/>
        </p:nvSpPr>
        <p:spPr>
          <a:xfrm>
            <a:off x="2207579" y="2298788"/>
            <a:ext cx="15272372" cy="490855"/>
          </a:xfrm>
          <a:prstGeom prst="rect">
            <a:avLst/>
          </a:prstGeom>
        </p:spPr>
        <p:txBody>
          <a:bodyPr lIns="0" tIns="0" rIns="0" bIns="0" anchor="t">
            <a:spAutoFit/>
          </a:bodyPr>
          <a:lstStyle/>
          <a:p>
            <a:pPr algn="l">
              <a:lnSpc>
                <a:spcPts val="3919"/>
              </a:lnSpc>
              <a:buNone/>
            </a:pPr>
            <a:r>
              <a:rPr sz="2799">
                <a:solidFill>
                  <a:srgbClr val="0B0A0A"/>
                </a:solidFill>
                <a:latin typeface="Quicksand"/>
                <a:ea typeface="Quicksand"/>
                <a:cs typeface="Quicksand"/>
              </a:rPr>
              <a:t>Develop an accessible travel recommendation chatbot for Malaysian attractions.</a:t>
            </a:r>
          </a:p>
        </p:txBody>
      </p:sp>
      <p:sp>
        <p:nvSpPr>
          <p:cNvPr id="23" name="TextBox 23">
            <a:extLst>
              <a:ext uri="{FF2B5EF4-FFF2-40B4-BE49-F238E27FC236}">
                <a16:creationId xmlns:a16="http://schemas.microsoft.com/office/drawing/2014/main" id="{5C9CBC94-E70A-4041-804C-6621573C93D3}"/>
              </a:ext>
            </a:extLst>
          </p:cNvPr>
          <p:cNvSpPr>
            <a:spLocks noGrp="1"/>
          </p:cNvSpPr>
          <p:nvPr/>
        </p:nvSpPr>
        <p:spPr>
          <a:xfrm>
            <a:off x="2207579" y="3224845"/>
            <a:ext cx="15243916" cy="490855"/>
          </a:xfrm>
          <a:prstGeom prst="rect">
            <a:avLst/>
          </a:prstGeom>
        </p:spPr>
        <p:txBody>
          <a:bodyPr lIns="0" tIns="0" rIns="0" bIns="0" anchor="t">
            <a:spAutoFit/>
          </a:bodyPr>
          <a:lstStyle/>
          <a:p>
            <a:pPr algn="l">
              <a:lnSpc>
                <a:spcPts val="3919"/>
              </a:lnSpc>
              <a:buNone/>
            </a:pPr>
            <a:r>
              <a:rPr sz="2799">
                <a:solidFill>
                  <a:srgbClr val="0B0A0A"/>
                </a:solidFill>
                <a:latin typeface="Quicksand"/>
                <a:ea typeface="Quicksand"/>
                <a:cs typeface="Quicksand"/>
              </a:rPr>
              <a:t>Use NLP to recognise intentions, extract preferences and support multi-turn conversations.</a:t>
            </a:r>
          </a:p>
        </p:txBody>
      </p:sp>
      <p:sp>
        <p:nvSpPr>
          <p:cNvPr id="24" name="TextBox 24">
            <a:extLst>
              <a:ext uri="{FF2B5EF4-FFF2-40B4-BE49-F238E27FC236}">
                <a16:creationId xmlns:a16="http://schemas.microsoft.com/office/drawing/2014/main" id="{9BEFEEC8-81BE-4D16-9E14-870C62732266}"/>
              </a:ext>
            </a:extLst>
          </p:cNvPr>
          <p:cNvSpPr>
            <a:spLocks noGrp="1"/>
          </p:cNvSpPr>
          <p:nvPr/>
        </p:nvSpPr>
        <p:spPr>
          <a:xfrm>
            <a:off x="2207579" y="3952351"/>
            <a:ext cx="15051721" cy="986155"/>
          </a:xfrm>
          <a:prstGeom prst="rect">
            <a:avLst/>
          </a:prstGeom>
        </p:spPr>
        <p:txBody>
          <a:bodyPr lIns="0" tIns="0" rIns="0" bIns="0" anchor="t">
            <a:spAutoFit/>
          </a:bodyPr>
          <a:lstStyle/>
          <a:p>
            <a:pPr algn="l">
              <a:lnSpc>
                <a:spcPts val="3919"/>
              </a:lnSpc>
              <a:buNone/>
            </a:pPr>
            <a:r>
              <a:rPr sz="2799">
                <a:solidFill>
                  <a:srgbClr val="0B0A0A"/>
                </a:solidFill>
                <a:latin typeface="Quicksand"/>
                <a:ea typeface="Quicksand"/>
                <a:cs typeface="Quicksand"/>
              </a:rPr>
              <a:t>Build and evaluate an explainable retrieval system using tourism and reviewed accessibility data.</a:t>
            </a:r>
          </a:p>
        </p:txBody>
      </p:sp>
      <p:sp>
        <p:nvSpPr>
          <p:cNvPr id="25" name="Freeform 25">
            <a:extLst>
              <a:ext uri="{FF2B5EF4-FFF2-40B4-BE49-F238E27FC236}">
                <a16:creationId xmlns:a16="http://schemas.microsoft.com/office/drawing/2014/main" id="{07EBE7EA-E64F-401A-97E6-B54C49ACF495}"/>
              </a:ext>
            </a:extLst>
          </p:cNvPr>
          <p:cNvSpPr>
            <a:spLocks noGrp="1"/>
          </p:cNvSpPr>
          <p:nvPr/>
        </p:nvSpPr>
        <p:spPr>
          <a:xfrm>
            <a:off x="-3606633" y="8898095"/>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26" name="TextBox 26">
            <a:extLst>
              <a:ext uri="{FF2B5EF4-FFF2-40B4-BE49-F238E27FC236}">
                <a16:creationId xmlns:a16="http://schemas.microsoft.com/office/drawing/2014/main" id="{1ACF4A34-EBB2-4916-AC07-5F7433915A0A}"/>
              </a:ext>
            </a:extLst>
          </p:cNvPr>
          <p:cNvSpPr>
            <a:spLocks noGrp="1"/>
          </p:cNvSpPr>
          <p:nvPr/>
        </p:nvSpPr>
        <p:spPr>
          <a:xfrm>
            <a:off x="1258243" y="1152525"/>
            <a:ext cx="10944919" cy="906145"/>
          </a:xfrm>
          <a:prstGeom prst="rect">
            <a:avLst/>
          </a:prstGeom>
        </p:spPr>
        <p:txBody>
          <a:bodyPr lIns="0" tIns="0" rIns="0" bIns="0" anchor="t">
            <a:spAutoFit/>
          </a:bodyPr>
          <a:lstStyle/>
          <a:p>
            <a:pPr marL="0" lvl="0" indent="0" algn="l">
              <a:lnSpc>
                <a:spcPts val="6800"/>
              </a:lnSpc>
              <a:spcBef>
                <a:spcPct val="0"/>
              </a:spcBef>
              <a:buNone/>
            </a:pPr>
            <a:r>
              <a:rPr sz="6800">
                <a:solidFill>
                  <a:srgbClr val="000000"/>
                </a:solidFill>
                <a:latin typeface="Hero Bold"/>
                <a:ea typeface="Hero Bold"/>
                <a:cs typeface="Hero Bold"/>
              </a:rPr>
              <a:t>Objectives</a:t>
            </a:r>
          </a:p>
        </p:txBody>
      </p:sp>
      <p:sp>
        <p:nvSpPr>
          <p:cNvPr id="27" name="Freeform 27">
            <a:extLst>
              <a:ext uri="{FF2B5EF4-FFF2-40B4-BE49-F238E27FC236}">
                <a16:creationId xmlns:a16="http://schemas.microsoft.com/office/drawing/2014/main" id="{B5F89255-46CA-4689-8D04-A22865E3086A}"/>
              </a:ext>
            </a:extLst>
          </p:cNvPr>
          <p:cNvSpPr>
            <a:spLocks noGrp="1"/>
          </p:cNvSpPr>
          <p:nvPr/>
        </p:nvSpPr>
        <p:spPr>
          <a:xfrm rot="5400000" flipH="1">
            <a:off x="16513928" y="2745823"/>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28" name="Freeform 28">
            <a:extLst>
              <a:ext uri="{FF2B5EF4-FFF2-40B4-BE49-F238E27FC236}">
                <a16:creationId xmlns:a16="http://schemas.microsoft.com/office/drawing/2014/main" id="{9A35D326-D966-40ED-BAE2-2FA2CFFBFDBA}"/>
              </a:ext>
            </a:extLst>
          </p:cNvPr>
          <p:cNvSpPr>
            <a:spLocks noGrp="1"/>
          </p:cNvSpPr>
          <p:nvPr/>
        </p:nvSpPr>
        <p:spPr>
          <a:xfrm rot="5400000" flipH="1">
            <a:off x="6421658" y="8710141"/>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29" name="Freeform 29">
            <a:extLst>
              <a:ext uri="{FF2B5EF4-FFF2-40B4-BE49-F238E27FC236}">
                <a16:creationId xmlns:a16="http://schemas.microsoft.com/office/drawing/2014/main" id="{5E858A25-C209-45D2-8664-D1D578027521}"/>
              </a:ext>
            </a:extLst>
          </p:cNvPr>
          <p:cNvSpPr>
            <a:spLocks noGrp="1"/>
          </p:cNvSpPr>
          <p:nvPr/>
        </p:nvSpPr>
        <p:spPr>
          <a:xfrm rot="5400000" flipV="1">
            <a:off x="4053170" y="-2010429"/>
            <a:ext cx="3982064" cy="3982064"/>
          </a:xfrm>
          <a:custGeom>
            <a:avLst/>
            <a:gdLst/>
            <a:ahLst/>
            <a:cxnLst/>
            <a:rect l="l" t="t" r="r" b="b"/>
            <a:pathLst>
              <a:path w="3982064" h="3982064">
                <a:moveTo>
                  <a:pt x="0" y="3982064"/>
                </a:moveTo>
                <a:lnTo>
                  <a:pt x="3982064" y="3982064"/>
                </a:lnTo>
                <a:lnTo>
                  <a:pt x="3982064" y="0"/>
                </a:lnTo>
                <a:lnTo>
                  <a:pt x="0" y="0"/>
                </a:lnTo>
                <a:lnTo>
                  <a:pt x="0" y="3982064"/>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MY"/>
          </a:p>
        </p:txBody>
      </p:sp>
      <p:sp>
        <p:nvSpPr>
          <p:cNvPr id="30" name="TextBox 30">
            <a:extLst>
              <a:ext uri="{FF2B5EF4-FFF2-40B4-BE49-F238E27FC236}">
                <a16:creationId xmlns:a16="http://schemas.microsoft.com/office/drawing/2014/main" id="{16B45B45-7756-476A-A010-01BC007346BC}"/>
              </a:ext>
            </a:extLst>
          </p:cNvPr>
          <p:cNvSpPr>
            <a:spLocks noGrp="1"/>
          </p:cNvSpPr>
          <p:nvPr/>
        </p:nvSpPr>
        <p:spPr>
          <a:xfrm>
            <a:off x="1258243" y="5167107"/>
            <a:ext cx="10944919" cy="906145"/>
          </a:xfrm>
          <a:prstGeom prst="rect">
            <a:avLst/>
          </a:prstGeom>
        </p:spPr>
        <p:txBody>
          <a:bodyPr lIns="0" tIns="0" rIns="0" bIns="0" anchor="t">
            <a:spAutoFit/>
          </a:bodyPr>
          <a:lstStyle/>
          <a:p>
            <a:pPr marL="0" lvl="0" indent="0" algn="l">
              <a:lnSpc>
                <a:spcPts val="6800"/>
              </a:lnSpc>
              <a:spcBef>
                <a:spcPct val="0"/>
              </a:spcBef>
              <a:buNone/>
            </a:pPr>
            <a:r>
              <a:rPr sz="6800">
                <a:solidFill>
                  <a:srgbClr val="000000"/>
                </a:solidFill>
                <a:latin typeface="Hero Bold"/>
                <a:ea typeface="Hero Bold"/>
                <a:cs typeface="Hero Bold"/>
              </a:rPr>
              <a:t>Scope</a:t>
            </a:r>
          </a:p>
        </p:txBody>
      </p:sp>
      <p:sp>
        <p:nvSpPr>
          <p:cNvPr id="31" name="TextBox 31">
            <a:extLst>
              <a:ext uri="{FF2B5EF4-FFF2-40B4-BE49-F238E27FC236}">
                <a16:creationId xmlns:a16="http://schemas.microsoft.com/office/drawing/2014/main" id="{16F42F24-A714-464B-91CC-B5E82C32DFA8}"/>
              </a:ext>
            </a:extLst>
          </p:cNvPr>
          <p:cNvSpPr>
            <a:spLocks noGrp="1"/>
          </p:cNvSpPr>
          <p:nvPr/>
        </p:nvSpPr>
        <p:spPr>
          <a:xfrm>
            <a:off x="1210410" y="6056946"/>
            <a:ext cx="14560958" cy="2967355"/>
          </a:xfrm>
          <a:prstGeom prst="rect">
            <a:avLst/>
          </a:prstGeom>
        </p:spPr>
        <p:txBody>
          <a:bodyPr lIns="0" tIns="0" rIns="0" bIns="0" anchor="t">
            <a:spAutoFit/>
          </a:bodyPr>
          <a:lstStyle/>
          <a:p>
            <a:pPr marL="604519" lvl="1" indent="-302260" algn="l">
              <a:lnSpc>
                <a:spcPts val="3919"/>
              </a:lnSpc>
              <a:buFont typeface="Arial"/>
              <a:buChar char="•"/>
            </a:pPr>
            <a:r>
              <a:rPr sz="2799">
                <a:solidFill>
                  <a:srgbClr val="0B0A0A"/>
                </a:solidFill>
                <a:latin typeface="Quicksand"/>
                <a:ea typeface="Quicksand"/>
                <a:cs typeface="Quicksand"/>
              </a:rPr>
              <a:t>13 Malaysian states and three federal territories</a:t>
            </a:r>
          </a:p>
          <a:p>
            <a:pPr marL="604519" lvl="1" indent="-302260" algn="l">
              <a:lnSpc>
                <a:spcPts val="3919"/>
              </a:lnSpc>
              <a:buFont typeface="Arial"/>
              <a:buChar char="•"/>
            </a:pPr>
            <a:r>
              <a:rPr sz="2799">
                <a:solidFill>
                  <a:srgbClr val="0B0A0A"/>
                </a:solidFill>
                <a:latin typeface="Quicksand"/>
                <a:ea typeface="Quicksand"/>
                <a:cs typeface="Quicksand"/>
              </a:rPr>
              <a:t>430 general attractions</a:t>
            </a:r>
          </a:p>
          <a:p>
            <a:pPr marL="604519" lvl="1" indent="-302260" algn="l">
              <a:lnSpc>
                <a:spcPts val="3919"/>
              </a:lnSpc>
              <a:buFont typeface="Arial"/>
              <a:buChar char="•"/>
            </a:pPr>
            <a:r>
              <a:rPr sz="2799">
                <a:solidFill>
                  <a:srgbClr val="0B0A0A"/>
                </a:solidFill>
                <a:latin typeface="Quicksand"/>
                <a:ea typeface="Quicksand"/>
                <a:cs typeface="Quicksand"/>
              </a:rPr>
              <a:t>66 attractions with reviewed elderly-accessibility information</a:t>
            </a:r>
          </a:p>
          <a:p>
            <a:pPr marL="604519" lvl="1" indent="-302260" algn="l">
              <a:lnSpc>
                <a:spcPts val="3919"/>
              </a:lnSpc>
              <a:buFont typeface="Arial"/>
              <a:buChar char="•"/>
            </a:pPr>
            <a:r>
              <a:rPr sz="2799">
                <a:solidFill>
                  <a:srgbClr val="0B0A0A"/>
                </a:solidFill>
                <a:latin typeface="Quicksand"/>
                <a:ea typeface="Quicksand"/>
                <a:cs typeface="Quicksand"/>
              </a:rPr>
              <a:t>English, Malay and Simplified Chinese controlled input</a:t>
            </a:r>
          </a:p>
          <a:p>
            <a:pPr marL="604519" lvl="1" indent="-302260" algn="l">
              <a:lnSpc>
                <a:spcPts val="3919"/>
              </a:lnSpc>
              <a:buFont typeface="Arial"/>
              <a:buChar char="•"/>
            </a:pPr>
            <a:r>
              <a:rPr sz="2799">
                <a:solidFill>
                  <a:srgbClr val="0B0A0A"/>
                </a:solidFill>
                <a:latin typeface="Quicksand"/>
                <a:ea typeface="Quicksand"/>
                <a:cs typeface="Quicksand"/>
              </a:rPr>
              <a:t>Web prototype rather than a booking or medical-assessment system</a:t>
            </a:r>
          </a:p>
          <a:p>
            <a:pPr algn="l">
              <a:lnSpc>
                <a:spcPts val="3919"/>
              </a:lnSpc>
              <a:buNone/>
            </a:pPr>
            <a:endParaRPr sz="2799">
              <a:solidFill>
                <a:srgbClr val="0B0A0A"/>
              </a:solidFill>
              <a:latin typeface="Quicksand"/>
              <a:ea typeface="Quicksand"/>
              <a:cs typeface="Quicksand"/>
            </a:endParaRPr>
          </a:p>
        </p:txBody>
      </p:sp>
    </p:spTree>
    <p:extLst>
      <p:ext uri="{BB962C8B-B14F-4D97-AF65-F5344CB8AC3E}">
        <p14:creationId xmlns:p14="http://schemas.microsoft.com/office/powerpoint/2010/main" val="555552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EA182216-9956-451C-98AD-AB8566B0B437}"/>
              </a:ext>
            </a:extLst>
          </p:cNvPr>
          <p:cNvSpPr>
            <a:spLocks noGrp="1"/>
          </p:cNvSpPr>
          <p:nvPr/>
        </p:nvSpPr>
        <p:spPr>
          <a:xfrm>
            <a:off x="7470286" y="7717381"/>
            <a:ext cx="5638432" cy="5638432"/>
          </a:xfrm>
          <a:custGeom>
            <a:avLst/>
            <a:gdLst/>
            <a:ahLst/>
            <a:cxnLst/>
            <a:rect l="l" t="t" r="r" b="b"/>
            <a:pathLst>
              <a:path w="5638432" h="5638432">
                <a:moveTo>
                  <a:pt x="0" y="0"/>
                </a:moveTo>
                <a:lnTo>
                  <a:pt x="5638432" y="0"/>
                </a:lnTo>
                <a:lnTo>
                  <a:pt x="5638432" y="5638433"/>
                </a:lnTo>
                <a:lnTo>
                  <a:pt x="0" y="56384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A540414B-6393-430E-AB25-55C984D754F6}"/>
              </a:ext>
            </a:extLst>
          </p:cNvPr>
          <p:cNvSpPr>
            <a:spLocks noGrp="1"/>
          </p:cNvSpPr>
          <p:nvPr/>
        </p:nvSpPr>
        <p:spPr>
          <a:xfrm rot="5400000">
            <a:off x="7957467" y="-2842756"/>
            <a:ext cx="5685511" cy="5685511"/>
          </a:xfrm>
          <a:custGeom>
            <a:avLst/>
            <a:gdLst/>
            <a:ahLst/>
            <a:cxnLst/>
            <a:rect l="l" t="t" r="r" b="b"/>
            <a:pathLst>
              <a:path w="5685511" h="5685511">
                <a:moveTo>
                  <a:pt x="0" y="0"/>
                </a:moveTo>
                <a:lnTo>
                  <a:pt x="5685511" y="0"/>
                </a:lnTo>
                <a:lnTo>
                  <a:pt x="5685511" y="5685512"/>
                </a:lnTo>
                <a:lnTo>
                  <a:pt x="0" y="56855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Freeform 4">
            <a:extLst>
              <a:ext uri="{FF2B5EF4-FFF2-40B4-BE49-F238E27FC236}">
                <a16:creationId xmlns:a16="http://schemas.microsoft.com/office/drawing/2014/main" id="{0AA5BD2A-4EAA-4C4B-AF3F-2E6C34789A4A}"/>
              </a:ext>
            </a:extLst>
          </p:cNvPr>
          <p:cNvSpPr>
            <a:spLocks noGrp="1"/>
          </p:cNvSpPr>
          <p:nvPr/>
        </p:nvSpPr>
        <p:spPr>
          <a:xfrm>
            <a:off x="-3221306" y="-2127777"/>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5" name="TextBox 5">
            <a:extLst>
              <a:ext uri="{FF2B5EF4-FFF2-40B4-BE49-F238E27FC236}">
                <a16:creationId xmlns:a16="http://schemas.microsoft.com/office/drawing/2014/main" id="{6096CA71-53AF-4CE0-9916-0481AD9DD752}"/>
              </a:ext>
            </a:extLst>
          </p:cNvPr>
          <p:cNvSpPr>
            <a:spLocks noGrp="1"/>
          </p:cNvSpPr>
          <p:nvPr/>
        </p:nvSpPr>
        <p:spPr>
          <a:xfrm>
            <a:off x="544862" y="570271"/>
            <a:ext cx="9093593" cy="906145"/>
          </a:xfrm>
          <a:prstGeom prst="rect">
            <a:avLst/>
          </a:prstGeom>
        </p:spPr>
        <p:txBody>
          <a:bodyPr lIns="0" tIns="0" rIns="0" bIns="0" anchor="t">
            <a:spAutoFit/>
          </a:bodyPr>
          <a:lstStyle/>
          <a:p>
            <a:pPr marL="0" lvl="0" indent="0" algn="l">
              <a:lnSpc>
                <a:spcPts val="6800"/>
              </a:lnSpc>
              <a:spcBef>
                <a:spcPct val="0"/>
              </a:spcBef>
              <a:buNone/>
            </a:pPr>
            <a:r>
              <a:rPr sz="6800">
                <a:solidFill>
                  <a:srgbClr val="000000"/>
                </a:solidFill>
                <a:latin typeface="Hero Bold"/>
                <a:ea typeface="Hero Bold"/>
                <a:cs typeface="Hero Bold"/>
              </a:rPr>
              <a:t>Literature Review</a:t>
            </a:r>
          </a:p>
        </p:txBody>
      </p:sp>
      <p:sp>
        <p:nvSpPr>
          <p:cNvPr id="6" name="Freeform 6">
            <a:extLst>
              <a:ext uri="{FF2B5EF4-FFF2-40B4-BE49-F238E27FC236}">
                <a16:creationId xmlns:a16="http://schemas.microsoft.com/office/drawing/2014/main" id="{5B8C494D-CACC-479A-A205-F0451549D647}"/>
              </a:ext>
            </a:extLst>
          </p:cNvPr>
          <p:cNvSpPr>
            <a:spLocks noGrp="1"/>
          </p:cNvSpPr>
          <p:nvPr/>
        </p:nvSpPr>
        <p:spPr>
          <a:xfrm>
            <a:off x="12338781" y="-3131918"/>
            <a:ext cx="4634683" cy="4634683"/>
          </a:xfrm>
          <a:custGeom>
            <a:avLst/>
            <a:gdLst/>
            <a:ahLst/>
            <a:cxnLst/>
            <a:rect l="l" t="t" r="r" b="b"/>
            <a:pathLst>
              <a:path w="4634683" h="4634683">
                <a:moveTo>
                  <a:pt x="0" y="0"/>
                </a:moveTo>
                <a:lnTo>
                  <a:pt x="4634683" y="0"/>
                </a:lnTo>
                <a:lnTo>
                  <a:pt x="4634683" y="4634683"/>
                </a:lnTo>
                <a:lnTo>
                  <a:pt x="0" y="46346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7" name="Freeform 7">
            <a:extLst>
              <a:ext uri="{FF2B5EF4-FFF2-40B4-BE49-F238E27FC236}">
                <a16:creationId xmlns:a16="http://schemas.microsoft.com/office/drawing/2014/main" id="{B0D55ECE-CE53-44C4-A94D-EE9E813DA144}"/>
              </a:ext>
            </a:extLst>
          </p:cNvPr>
          <p:cNvSpPr>
            <a:spLocks noGrp="1"/>
          </p:cNvSpPr>
          <p:nvPr/>
        </p:nvSpPr>
        <p:spPr>
          <a:xfrm rot="5400000" flipH="1">
            <a:off x="4444645" y="8545566"/>
            <a:ext cx="3982064" cy="3982064"/>
          </a:xfrm>
          <a:custGeom>
            <a:avLst/>
            <a:gdLst/>
            <a:ahLst/>
            <a:cxnLst/>
            <a:rect l="l" t="t" r="r" b="b"/>
            <a:pathLst>
              <a:path w="3982064" h="3982064">
                <a:moveTo>
                  <a:pt x="3982064" y="0"/>
                </a:moveTo>
                <a:lnTo>
                  <a:pt x="0" y="0"/>
                </a:lnTo>
                <a:lnTo>
                  <a:pt x="0" y="3982063"/>
                </a:lnTo>
                <a:lnTo>
                  <a:pt x="3982064" y="3982063"/>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8" name="Freeform 8">
            <a:extLst>
              <a:ext uri="{FF2B5EF4-FFF2-40B4-BE49-F238E27FC236}">
                <a16:creationId xmlns:a16="http://schemas.microsoft.com/office/drawing/2014/main" id="{81957798-E0CB-4B84-9A37-668397DD34BD}"/>
              </a:ext>
            </a:extLst>
          </p:cNvPr>
          <p:cNvSpPr>
            <a:spLocks noGrp="1"/>
          </p:cNvSpPr>
          <p:nvPr/>
        </p:nvSpPr>
        <p:spPr>
          <a:xfrm rot="5400000">
            <a:off x="-2843792" y="2897459"/>
            <a:ext cx="3982064" cy="3982064"/>
          </a:xfrm>
          <a:custGeom>
            <a:avLst/>
            <a:gdLst/>
            <a:ahLst/>
            <a:cxnLst/>
            <a:rect l="l" t="t" r="r" b="b"/>
            <a:pathLst>
              <a:path w="3982064" h="3982064">
                <a:moveTo>
                  <a:pt x="0" y="0"/>
                </a:moveTo>
                <a:lnTo>
                  <a:pt x="3982064" y="0"/>
                </a:lnTo>
                <a:lnTo>
                  <a:pt x="3982064" y="3982064"/>
                </a:lnTo>
                <a:lnTo>
                  <a:pt x="0" y="3982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0" name="Freeform 10">
            <a:extLst>
              <a:ext uri="{FF2B5EF4-FFF2-40B4-BE49-F238E27FC236}">
                <a16:creationId xmlns:a16="http://schemas.microsoft.com/office/drawing/2014/main" id="{0C8501C2-BD10-4947-8A26-75DF570BCAFE}"/>
              </a:ext>
            </a:extLst>
          </p:cNvPr>
          <p:cNvSpPr>
            <a:spLocks noGrp="1"/>
          </p:cNvSpPr>
          <p:nvPr/>
        </p:nvSpPr>
        <p:spPr>
          <a:xfrm>
            <a:off x="705105" y="2777981"/>
            <a:ext cx="3470263"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11" name="TextBox 11">
            <a:extLst>
              <a:ext uri="{FF2B5EF4-FFF2-40B4-BE49-F238E27FC236}">
                <a16:creationId xmlns:a16="http://schemas.microsoft.com/office/drawing/2014/main" id="{E39746FE-0CC4-4D3E-A65A-00848FD548C3}"/>
              </a:ext>
            </a:extLst>
          </p:cNvPr>
          <p:cNvSpPr>
            <a:spLocks noGrp="1"/>
          </p:cNvSpPr>
          <p:nvPr/>
        </p:nvSpPr>
        <p:spPr>
          <a:xfrm>
            <a:off x="705105" y="2560990"/>
            <a:ext cx="3470263" cy="4967080"/>
          </a:xfrm>
          <a:prstGeom prst="rect">
            <a:avLst/>
          </a:prstGeom>
        </p:spPr>
        <p:txBody>
          <a:bodyPr lIns="50800" tIns="50800" rIns="50800" bIns="50800" anchor="ctr"/>
          <a:lstStyle/>
          <a:p>
            <a:pPr algn="l">
              <a:lnSpc>
                <a:spcPts val="3359"/>
              </a:lnSpc>
              <a:buNone/>
            </a:pPr>
            <a:endParaRPr/>
          </a:p>
          <a:p>
            <a:pPr algn="ctr">
              <a:lnSpc>
                <a:spcPts val="3359"/>
              </a:lnSpc>
              <a:buNone/>
            </a:pPr>
            <a:endParaRPr/>
          </a:p>
          <a:p>
            <a:pPr algn="ctr">
              <a:lnSpc>
                <a:spcPts val="3359"/>
              </a:lnSpc>
              <a:buNone/>
            </a:pPr>
            <a:endParaRPr/>
          </a:p>
        </p:txBody>
      </p:sp>
      <p:sp>
        <p:nvSpPr>
          <p:cNvPr id="13" name="Freeform 13">
            <a:extLst>
              <a:ext uri="{FF2B5EF4-FFF2-40B4-BE49-F238E27FC236}">
                <a16:creationId xmlns:a16="http://schemas.microsoft.com/office/drawing/2014/main" id="{F3BE2997-148B-4C8A-9E67-FF2E50B6517C}"/>
              </a:ext>
            </a:extLst>
          </p:cNvPr>
          <p:cNvSpPr>
            <a:spLocks noGrp="1"/>
          </p:cNvSpPr>
          <p:nvPr/>
        </p:nvSpPr>
        <p:spPr>
          <a:xfrm>
            <a:off x="4904011" y="2777981"/>
            <a:ext cx="3470263"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14" name="TextBox 14">
            <a:extLst>
              <a:ext uri="{FF2B5EF4-FFF2-40B4-BE49-F238E27FC236}">
                <a16:creationId xmlns:a16="http://schemas.microsoft.com/office/drawing/2014/main" id="{EA9E1CFB-E511-4BFA-8C59-68C7BFEB2F9E}"/>
              </a:ext>
            </a:extLst>
          </p:cNvPr>
          <p:cNvSpPr>
            <a:spLocks noGrp="1"/>
          </p:cNvSpPr>
          <p:nvPr/>
        </p:nvSpPr>
        <p:spPr>
          <a:xfrm>
            <a:off x="4904011" y="2597155"/>
            <a:ext cx="3470263" cy="4930915"/>
          </a:xfrm>
          <a:prstGeom prst="rect">
            <a:avLst/>
          </a:prstGeom>
        </p:spPr>
        <p:txBody>
          <a:bodyPr lIns="50800" tIns="50800" rIns="50800" bIns="50800" anchor="ctr"/>
          <a:lstStyle/>
          <a:p>
            <a:pPr algn="ctr">
              <a:lnSpc>
                <a:spcPts val="4480"/>
              </a:lnSpc>
              <a:buNone/>
            </a:pPr>
            <a:endParaRPr/>
          </a:p>
        </p:txBody>
      </p:sp>
      <p:sp>
        <p:nvSpPr>
          <p:cNvPr id="15" name="TextBox 15">
            <a:extLst>
              <a:ext uri="{FF2B5EF4-FFF2-40B4-BE49-F238E27FC236}">
                <a16:creationId xmlns:a16="http://schemas.microsoft.com/office/drawing/2014/main" id="{95447BD2-640A-4E8C-B5BE-D761277A87F5}"/>
              </a:ext>
            </a:extLst>
          </p:cNvPr>
          <p:cNvSpPr>
            <a:spLocks noGrp="1"/>
          </p:cNvSpPr>
          <p:nvPr/>
        </p:nvSpPr>
        <p:spPr>
          <a:xfrm>
            <a:off x="544862" y="1744201"/>
            <a:ext cx="16250414" cy="824230"/>
          </a:xfrm>
          <a:prstGeom prst="rect">
            <a:avLst/>
          </a:prstGeom>
        </p:spPr>
        <p:txBody>
          <a:bodyPr lIns="0" tIns="0" rIns="0" bIns="0" anchor="t">
            <a:spAutoFit/>
          </a:bodyPr>
          <a:lstStyle/>
          <a:p>
            <a:pPr algn="l">
              <a:lnSpc>
                <a:spcPts val="3200"/>
              </a:lnSpc>
              <a:buNone/>
            </a:pPr>
            <a:r>
              <a:rPr sz="3200">
                <a:solidFill>
                  <a:srgbClr val="000000"/>
                </a:solidFill>
                <a:latin typeface="Hero Bold"/>
                <a:ea typeface="Hero Bold"/>
                <a:cs typeface="Hero Bold"/>
              </a:rPr>
              <a:t>The literature shaped four requirements for an elderly-oriented travel chatbot</a:t>
            </a:r>
          </a:p>
          <a:p>
            <a:pPr marL="0" lvl="0" indent="0" algn="l">
              <a:lnSpc>
                <a:spcPts val="3200"/>
              </a:lnSpc>
              <a:spcBef>
                <a:spcPct val="0"/>
              </a:spcBef>
              <a:buNone/>
            </a:pPr>
            <a:endParaRPr sz="3200">
              <a:solidFill>
                <a:srgbClr val="000000"/>
              </a:solidFill>
              <a:latin typeface="Hero Bold"/>
              <a:ea typeface="Hero Bold"/>
              <a:cs typeface="Hero Bold"/>
            </a:endParaRPr>
          </a:p>
        </p:txBody>
      </p:sp>
      <p:sp>
        <p:nvSpPr>
          <p:cNvPr id="16" name="TextBox 16">
            <a:extLst>
              <a:ext uri="{FF2B5EF4-FFF2-40B4-BE49-F238E27FC236}">
                <a16:creationId xmlns:a16="http://schemas.microsoft.com/office/drawing/2014/main" id="{58495D2D-C85B-442C-8F55-7616E70F898A}"/>
              </a:ext>
            </a:extLst>
          </p:cNvPr>
          <p:cNvSpPr>
            <a:spLocks noGrp="1"/>
          </p:cNvSpPr>
          <p:nvPr/>
        </p:nvSpPr>
        <p:spPr>
          <a:xfrm>
            <a:off x="959481" y="2957852"/>
            <a:ext cx="3008143" cy="1481455"/>
          </a:xfrm>
          <a:prstGeom prst="rect">
            <a:avLst/>
          </a:prstGeom>
        </p:spPr>
        <p:txBody>
          <a:bodyPr lIns="0" tIns="0" rIns="0" bIns="0" anchor="t">
            <a:spAutoFit/>
          </a:bodyPr>
          <a:lstStyle/>
          <a:p>
            <a:pPr algn="l">
              <a:lnSpc>
                <a:spcPts val="3919"/>
              </a:lnSpc>
              <a:buNone/>
            </a:pPr>
            <a:r>
              <a:rPr sz="2799" b="1">
                <a:solidFill>
                  <a:srgbClr val="0B0A0A"/>
                </a:solidFill>
                <a:latin typeface="Quicksand Bold"/>
                <a:ea typeface="Quicksand Bold"/>
                <a:cs typeface="Quicksand Bold"/>
              </a:rPr>
              <a:t>Accessible interaction</a:t>
            </a:r>
          </a:p>
          <a:p>
            <a:pPr algn="l">
              <a:lnSpc>
                <a:spcPts val="3919"/>
              </a:lnSpc>
              <a:spcBef>
                <a:spcPct val="0"/>
              </a:spcBef>
              <a:buNone/>
            </a:pPr>
            <a:endParaRPr sz="2799" b="1">
              <a:solidFill>
                <a:srgbClr val="0B0A0A"/>
              </a:solidFill>
              <a:latin typeface="Quicksand Bold"/>
              <a:ea typeface="Quicksand Bold"/>
              <a:cs typeface="Quicksand Bold"/>
            </a:endParaRPr>
          </a:p>
        </p:txBody>
      </p:sp>
      <p:sp>
        <p:nvSpPr>
          <p:cNvPr id="17" name="TextBox 17">
            <a:extLst>
              <a:ext uri="{FF2B5EF4-FFF2-40B4-BE49-F238E27FC236}">
                <a16:creationId xmlns:a16="http://schemas.microsoft.com/office/drawing/2014/main" id="{86B6F471-37A5-4561-BFFB-AB78C0329E4D}"/>
              </a:ext>
            </a:extLst>
          </p:cNvPr>
          <p:cNvSpPr>
            <a:spLocks noGrp="1"/>
          </p:cNvSpPr>
          <p:nvPr/>
        </p:nvSpPr>
        <p:spPr>
          <a:xfrm>
            <a:off x="959481" y="4163717"/>
            <a:ext cx="2680350" cy="2929890"/>
          </a:xfrm>
          <a:prstGeom prst="rect">
            <a:avLst/>
          </a:prstGeom>
        </p:spPr>
        <p:txBody>
          <a:bodyPr lIns="0" tIns="0" rIns="0" bIns="0" anchor="t">
            <a:spAutoFit/>
          </a:bodyPr>
          <a:lstStyle/>
          <a:p>
            <a:pPr algn="l">
              <a:lnSpc>
                <a:spcPts val="3359"/>
              </a:lnSpc>
              <a:buNone/>
            </a:pPr>
            <a:r>
              <a:rPr sz="2400">
                <a:solidFill>
                  <a:srgbClr val="0B0A0A"/>
                </a:solidFill>
                <a:latin typeface="Quicksand"/>
                <a:ea typeface="Quicksand"/>
                <a:cs typeface="Quicksand"/>
              </a:rPr>
              <a:t>Readable text, sufficient contrast, large controls and predictable navigation reduce common barriers.</a:t>
            </a:r>
          </a:p>
          <a:p>
            <a:pPr algn="l">
              <a:lnSpc>
                <a:spcPts val="3359"/>
              </a:lnSpc>
              <a:buNone/>
            </a:pPr>
            <a:endParaRPr sz="2400">
              <a:solidFill>
                <a:srgbClr val="0B0A0A"/>
              </a:solidFill>
              <a:latin typeface="Quicksand"/>
              <a:ea typeface="Quicksand"/>
              <a:cs typeface="Quicksand"/>
            </a:endParaRPr>
          </a:p>
        </p:txBody>
      </p:sp>
      <p:sp>
        <p:nvSpPr>
          <p:cNvPr id="18" name="TextBox 18">
            <a:extLst>
              <a:ext uri="{FF2B5EF4-FFF2-40B4-BE49-F238E27FC236}">
                <a16:creationId xmlns:a16="http://schemas.microsoft.com/office/drawing/2014/main" id="{2E5E1215-E7AF-45BD-93A8-D97DA7B44B3E}"/>
              </a:ext>
            </a:extLst>
          </p:cNvPr>
          <p:cNvSpPr>
            <a:spLocks noGrp="1"/>
          </p:cNvSpPr>
          <p:nvPr/>
        </p:nvSpPr>
        <p:spPr>
          <a:xfrm>
            <a:off x="5024656" y="2911056"/>
            <a:ext cx="3178883" cy="1481455"/>
          </a:xfrm>
          <a:prstGeom prst="rect">
            <a:avLst/>
          </a:prstGeom>
        </p:spPr>
        <p:txBody>
          <a:bodyPr lIns="0" tIns="0" rIns="0" bIns="0" anchor="t">
            <a:spAutoFit/>
          </a:bodyPr>
          <a:lstStyle/>
          <a:p>
            <a:pPr algn="l">
              <a:lnSpc>
                <a:spcPts val="3919"/>
              </a:lnSpc>
              <a:buNone/>
            </a:pPr>
            <a:r>
              <a:rPr sz="2799" b="1">
                <a:solidFill>
                  <a:srgbClr val="0B0A0A"/>
                </a:solidFill>
                <a:latin typeface="Quicksand Bold"/>
                <a:ea typeface="Quicksand Bold"/>
                <a:cs typeface="Quicksand Bold"/>
              </a:rPr>
              <a:t>Relevant recommendations</a:t>
            </a:r>
          </a:p>
          <a:p>
            <a:pPr algn="l">
              <a:lnSpc>
                <a:spcPts val="3919"/>
              </a:lnSpc>
              <a:spcBef>
                <a:spcPct val="0"/>
              </a:spcBef>
              <a:buNone/>
            </a:pPr>
            <a:endParaRPr sz="2799" b="1">
              <a:solidFill>
                <a:srgbClr val="0B0A0A"/>
              </a:solidFill>
              <a:latin typeface="Quicksand Bold"/>
              <a:ea typeface="Quicksand Bold"/>
              <a:cs typeface="Quicksand Bold"/>
            </a:endParaRPr>
          </a:p>
        </p:txBody>
      </p:sp>
      <p:sp>
        <p:nvSpPr>
          <p:cNvPr id="19" name="TextBox 19">
            <a:extLst>
              <a:ext uri="{FF2B5EF4-FFF2-40B4-BE49-F238E27FC236}">
                <a16:creationId xmlns:a16="http://schemas.microsoft.com/office/drawing/2014/main" id="{9F473036-2D09-489A-80C7-E34121D571E5}"/>
              </a:ext>
            </a:extLst>
          </p:cNvPr>
          <p:cNvSpPr>
            <a:spLocks noGrp="1"/>
          </p:cNvSpPr>
          <p:nvPr/>
        </p:nvSpPr>
        <p:spPr>
          <a:xfrm>
            <a:off x="5133603" y="4163717"/>
            <a:ext cx="2680350" cy="2929890"/>
          </a:xfrm>
          <a:prstGeom prst="rect">
            <a:avLst/>
          </a:prstGeom>
        </p:spPr>
        <p:txBody>
          <a:bodyPr lIns="0" tIns="0" rIns="0" bIns="0" anchor="t">
            <a:spAutoFit/>
          </a:bodyPr>
          <a:lstStyle/>
          <a:p>
            <a:pPr algn="l">
              <a:lnSpc>
                <a:spcPts val="3359"/>
              </a:lnSpc>
              <a:buNone/>
            </a:pPr>
            <a:r>
              <a:rPr sz="2400">
                <a:solidFill>
                  <a:srgbClr val="0B0A0A"/>
                </a:solidFill>
                <a:latin typeface="Quicksand"/>
                <a:ea typeface="Quicksand"/>
                <a:cs typeface="Quicksand"/>
              </a:rPr>
              <a:t>Knowledge-based filters suit a new system because travellers can state clear constraints.</a:t>
            </a:r>
          </a:p>
          <a:p>
            <a:pPr algn="l">
              <a:lnSpc>
                <a:spcPts val="3359"/>
              </a:lnSpc>
              <a:buNone/>
            </a:pPr>
            <a:endParaRPr sz="2400">
              <a:solidFill>
                <a:srgbClr val="0B0A0A"/>
              </a:solidFill>
              <a:latin typeface="Quicksand"/>
              <a:ea typeface="Quicksand"/>
              <a:cs typeface="Quicksand"/>
            </a:endParaRPr>
          </a:p>
        </p:txBody>
      </p:sp>
      <p:sp>
        <p:nvSpPr>
          <p:cNvPr id="22" name="Freeform 22">
            <a:extLst>
              <a:ext uri="{FF2B5EF4-FFF2-40B4-BE49-F238E27FC236}">
                <a16:creationId xmlns:a16="http://schemas.microsoft.com/office/drawing/2014/main" id="{2F56017D-407C-4205-A7CB-9D3B74F2C108}"/>
              </a:ext>
            </a:extLst>
          </p:cNvPr>
          <p:cNvSpPr>
            <a:spLocks noGrp="1"/>
          </p:cNvSpPr>
          <p:nvPr/>
        </p:nvSpPr>
        <p:spPr>
          <a:xfrm>
            <a:off x="13292338" y="2777981"/>
            <a:ext cx="3779978" cy="4717521"/>
          </a:xfrm>
          <a:custGeom>
            <a:avLst/>
            <a:gdLst/>
            <a:ahLst/>
            <a:cxnLst/>
            <a:rect l="l" t="t" r="r" b="b"/>
            <a:pathLst>
              <a:path w="913979" h="1140672">
                <a:moveTo>
                  <a:pt x="66928" y="0"/>
                </a:moveTo>
                <a:lnTo>
                  <a:pt x="847051" y="0"/>
                </a:lnTo>
                <a:cubicBezTo>
                  <a:pt x="884014" y="0"/>
                  <a:pt x="913979" y="29965"/>
                  <a:pt x="913979" y="66928"/>
                </a:cubicBezTo>
                <a:lnTo>
                  <a:pt x="913979" y="1073744"/>
                </a:lnTo>
                <a:cubicBezTo>
                  <a:pt x="913979" y="1091494"/>
                  <a:pt x="906927" y="1108518"/>
                  <a:pt x="894376" y="1121069"/>
                </a:cubicBezTo>
                <a:cubicBezTo>
                  <a:pt x="881825" y="1133621"/>
                  <a:pt x="864801" y="1140672"/>
                  <a:pt x="847051" y="1140672"/>
                </a:cubicBezTo>
                <a:lnTo>
                  <a:pt x="66928" y="1140672"/>
                </a:lnTo>
                <a:cubicBezTo>
                  <a:pt x="29965" y="1140672"/>
                  <a:pt x="0" y="1110707"/>
                  <a:pt x="0" y="107374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23" name="TextBox 23">
            <a:extLst>
              <a:ext uri="{FF2B5EF4-FFF2-40B4-BE49-F238E27FC236}">
                <a16:creationId xmlns:a16="http://schemas.microsoft.com/office/drawing/2014/main" id="{5E7F37C6-A12F-442B-93FC-E523E61C0CED}"/>
              </a:ext>
            </a:extLst>
          </p:cNvPr>
          <p:cNvSpPr>
            <a:spLocks noGrp="1"/>
          </p:cNvSpPr>
          <p:nvPr/>
        </p:nvSpPr>
        <p:spPr>
          <a:xfrm>
            <a:off x="13292338" y="2541624"/>
            <a:ext cx="3779978" cy="4953878"/>
          </a:xfrm>
          <a:prstGeom prst="rect">
            <a:avLst/>
          </a:prstGeom>
        </p:spPr>
        <p:txBody>
          <a:bodyPr lIns="50800" tIns="50800" rIns="50800" bIns="50800" anchor="ctr"/>
          <a:lstStyle/>
          <a:p>
            <a:pPr algn="l">
              <a:lnSpc>
                <a:spcPts val="3360"/>
              </a:lnSpc>
              <a:buNone/>
            </a:pPr>
            <a:endParaRPr/>
          </a:p>
          <a:p>
            <a:pPr algn="ctr">
              <a:lnSpc>
                <a:spcPts val="3360"/>
              </a:lnSpc>
              <a:buNone/>
            </a:pPr>
            <a:endParaRPr/>
          </a:p>
          <a:p>
            <a:pPr algn="ctr">
              <a:lnSpc>
                <a:spcPts val="3360"/>
              </a:lnSpc>
              <a:buNone/>
            </a:pPr>
            <a:endParaRPr/>
          </a:p>
        </p:txBody>
      </p:sp>
      <p:sp>
        <p:nvSpPr>
          <p:cNvPr id="24" name="TextBox 24">
            <a:extLst>
              <a:ext uri="{FF2B5EF4-FFF2-40B4-BE49-F238E27FC236}">
                <a16:creationId xmlns:a16="http://schemas.microsoft.com/office/drawing/2014/main" id="{11BD2B2F-78E5-4842-8A02-DB155A91F0DD}"/>
              </a:ext>
            </a:extLst>
          </p:cNvPr>
          <p:cNvSpPr>
            <a:spLocks noGrp="1"/>
          </p:cNvSpPr>
          <p:nvPr/>
        </p:nvSpPr>
        <p:spPr>
          <a:xfrm>
            <a:off x="13569410" y="4313968"/>
            <a:ext cx="2919603" cy="2788158"/>
          </a:xfrm>
          <a:prstGeom prst="rect">
            <a:avLst/>
          </a:prstGeom>
        </p:spPr>
        <p:txBody>
          <a:bodyPr lIns="0" tIns="0" rIns="0" bIns="0" anchor="t">
            <a:spAutoFit/>
          </a:bodyPr>
          <a:lstStyle/>
          <a:p>
            <a:pPr algn="l">
              <a:lnSpc>
                <a:spcPts val="3659"/>
              </a:lnSpc>
              <a:buNone/>
            </a:pPr>
            <a:r>
              <a:rPr sz="2614">
                <a:solidFill>
                  <a:srgbClr val="0B0A0A"/>
                </a:solidFill>
                <a:latin typeface="Quicksand"/>
                <a:ea typeface="Quicksand"/>
                <a:cs typeface="Quicksand"/>
              </a:rPr>
              <a:t>Accessibility claims should use stored evidence. Unknown details stay visible.</a:t>
            </a:r>
          </a:p>
        </p:txBody>
      </p:sp>
      <p:sp>
        <p:nvSpPr>
          <p:cNvPr id="25" name="TextBox 25">
            <a:extLst>
              <a:ext uri="{FF2B5EF4-FFF2-40B4-BE49-F238E27FC236}">
                <a16:creationId xmlns:a16="http://schemas.microsoft.com/office/drawing/2014/main" id="{DAB1CD44-464C-47E9-8F25-B7F089846D28}"/>
              </a:ext>
            </a:extLst>
          </p:cNvPr>
          <p:cNvSpPr>
            <a:spLocks noGrp="1"/>
          </p:cNvSpPr>
          <p:nvPr/>
        </p:nvSpPr>
        <p:spPr>
          <a:xfrm>
            <a:off x="13546713" y="2957852"/>
            <a:ext cx="3008143" cy="1481455"/>
          </a:xfrm>
          <a:prstGeom prst="rect">
            <a:avLst/>
          </a:prstGeom>
        </p:spPr>
        <p:txBody>
          <a:bodyPr lIns="0" tIns="0" rIns="0" bIns="0" anchor="t">
            <a:spAutoFit/>
          </a:bodyPr>
          <a:lstStyle/>
          <a:p>
            <a:pPr algn="l">
              <a:lnSpc>
                <a:spcPts val="3919"/>
              </a:lnSpc>
              <a:buNone/>
            </a:pPr>
            <a:r>
              <a:rPr sz="2799" b="1">
                <a:solidFill>
                  <a:srgbClr val="0B0A0A"/>
                </a:solidFill>
                <a:latin typeface="Quicksand Bold"/>
                <a:ea typeface="Quicksand Bold"/>
                <a:cs typeface="Quicksand Bold"/>
              </a:rPr>
              <a:t>Grounded explanations</a:t>
            </a:r>
          </a:p>
          <a:p>
            <a:pPr algn="l">
              <a:lnSpc>
                <a:spcPts val="3919"/>
              </a:lnSpc>
              <a:spcBef>
                <a:spcPct val="0"/>
              </a:spcBef>
              <a:buNone/>
            </a:pPr>
            <a:endParaRPr sz="2799" b="1">
              <a:solidFill>
                <a:srgbClr val="0B0A0A"/>
              </a:solidFill>
              <a:latin typeface="Quicksand Bold"/>
              <a:ea typeface="Quicksand Bold"/>
              <a:cs typeface="Quicksand Bold"/>
            </a:endParaRPr>
          </a:p>
        </p:txBody>
      </p:sp>
      <p:sp>
        <p:nvSpPr>
          <p:cNvPr id="28" name="Freeform 28">
            <a:extLst>
              <a:ext uri="{FF2B5EF4-FFF2-40B4-BE49-F238E27FC236}">
                <a16:creationId xmlns:a16="http://schemas.microsoft.com/office/drawing/2014/main" id="{354E5F84-CF75-4E80-8074-0E3129E1FC0E}"/>
              </a:ext>
            </a:extLst>
          </p:cNvPr>
          <p:cNvSpPr>
            <a:spLocks noGrp="1"/>
          </p:cNvSpPr>
          <p:nvPr/>
        </p:nvSpPr>
        <p:spPr>
          <a:xfrm>
            <a:off x="9098174" y="2745413"/>
            <a:ext cx="3470262" cy="4750089"/>
          </a:xfrm>
          <a:custGeom>
            <a:avLst/>
            <a:gdLst/>
            <a:ahLst/>
            <a:cxnLst/>
            <a:rect l="l" t="t" r="r" b="b"/>
            <a:pathLst>
              <a:path w="913979" h="1251052">
                <a:moveTo>
                  <a:pt x="66928" y="0"/>
                </a:moveTo>
                <a:lnTo>
                  <a:pt x="847051" y="0"/>
                </a:lnTo>
                <a:cubicBezTo>
                  <a:pt x="884014" y="0"/>
                  <a:pt x="913979" y="29965"/>
                  <a:pt x="913979" y="66928"/>
                </a:cubicBezTo>
                <a:lnTo>
                  <a:pt x="913979" y="1184124"/>
                </a:lnTo>
                <a:cubicBezTo>
                  <a:pt x="913979" y="1201875"/>
                  <a:pt x="906927" y="1218898"/>
                  <a:pt x="894376" y="1231449"/>
                </a:cubicBezTo>
                <a:cubicBezTo>
                  <a:pt x="881825" y="1244001"/>
                  <a:pt x="864801" y="1251052"/>
                  <a:pt x="847051" y="1251052"/>
                </a:cubicBezTo>
                <a:lnTo>
                  <a:pt x="66928" y="1251052"/>
                </a:lnTo>
                <a:cubicBezTo>
                  <a:pt x="49178" y="1251052"/>
                  <a:pt x="32154" y="1244001"/>
                  <a:pt x="19603" y="1231449"/>
                </a:cubicBezTo>
                <a:cubicBezTo>
                  <a:pt x="7051" y="1218898"/>
                  <a:pt x="0" y="1201875"/>
                  <a:pt x="0" y="1184124"/>
                </a:cubicBezTo>
                <a:lnTo>
                  <a:pt x="0" y="66928"/>
                </a:lnTo>
                <a:cubicBezTo>
                  <a:pt x="0" y="49178"/>
                  <a:pt x="7051" y="32154"/>
                  <a:pt x="19603" y="19603"/>
                </a:cubicBezTo>
                <a:cubicBezTo>
                  <a:pt x="32154" y="7051"/>
                  <a:pt x="49178" y="0"/>
                  <a:pt x="66928" y="0"/>
                </a:cubicBezTo>
                <a:close/>
              </a:path>
            </a:pathLst>
          </a:custGeom>
          <a:solidFill>
            <a:srgbClr val="F3F3F3"/>
          </a:solidFill>
          <a:ln w="28575">
            <a:solidFill>
              <a:srgbClr val="000000"/>
            </a:solidFill>
            <a:prstDash val="solid"/>
          </a:ln>
        </p:spPr>
        <p:txBody>
          <a:bodyPr/>
          <a:lstStyle/>
          <a:p>
            <a:endParaRPr lang="en-MY"/>
          </a:p>
        </p:txBody>
      </p:sp>
      <p:sp>
        <p:nvSpPr>
          <p:cNvPr id="29" name="TextBox 29">
            <a:extLst>
              <a:ext uri="{FF2B5EF4-FFF2-40B4-BE49-F238E27FC236}">
                <a16:creationId xmlns:a16="http://schemas.microsoft.com/office/drawing/2014/main" id="{D0A32CC1-D14E-47EC-86E4-BAE0A22AC36A}"/>
              </a:ext>
            </a:extLst>
          </p:cNvPr>
          <p:cNvSpPr>
            <a:spLocks noGrp="1"/>
          </p:cNvSpPr>
          <p:nvPr/>
        </p:nvSpPr>
        <p:spPr>
          <a:xfrm>
            <a:off x="9098174" y="2528422"/>
            <a:ext cx="3470262" cy="4967080"/>
          </a:xfrm>
          <a:prstGeom prst="rect">
            <a:avLst/>
          </a:prstGeom>
        </p:spPr>
        <p:txBody>
          <a:bodyPr lIns="50800" tIns="50800" rIns="50800" bIns="50800" anchor="ctr"/>
          <a:lstStyle/>
          <a:p>
            <a:pPr algn="l">
              <a:lnSpc>
                <a:spcPts val="3359"/>
              </a:lnSpc>
              <a:buNone/>
            </a:pPr>
            <a:endParaRPr/>
          </a:p>
          <a:p>
            <a:pPr algn="ctr">
              <a:lnSpc>
                <a:spcPts val="3359"/>
              </a:lnSpc>
              <a:buNone/>
            </a:pPr>
            <a:endParaRPr/>
          </a:p>
          <a:p>
            <a:pPr algn="ctr">
              <a:lnSpc>
                <a:spcPts val="3359"/>
              </a:lnSpc>
              <a:buNone/>
            </a:pPr>
            <a:endParaRPr/>
          </a:p>
        </p:txBody>
      </p:sp>
      <p:sp>
        <p:nvSpPr>
          <p:cNvPr id="30" name="TextBox 30">
            <a:extLst>
              <a:ext uri="{FF2B5EF4-FFF2-40B4-BE49-F238E27FC236}">
                <a16:creationId xmlns:a16="http://schemas.microsoft.com/office/drawing/2014/main" id="{A1A355F6-8B95-4FC6-8EAA-837FA4276DCD}"/>
              </a:ext>
            </a:extLst>
          </p:cNvPr>
          <p:cNvSpPr>
            <a:spLocks noGrp="1"/>
          </p:cNvSpPr>
          <p:nvPr/>
        </p:nvSpPr>
        <p:spPr>
          <a:xfrm>
            <a:off x="9352549" y="2941953"/>
            <a:ext cx="3008143" cy="1464786"/>
          </a:xfrm>
          <a:prstGeom prst="rect">
            <a:avLst/>
          </a:prstGeom>
        </p:spPr>
        <p:txBody>
          <a:bodyPr lIns="0" tIns="0" rIns="0" bIns="0" anchor="t">
            <a:spAutoFit/>
          </a:bodyPr>
          <a:lstStyle/>
          <a:p>
            <a:pPr algn="l">
              <a:lnSpc>
                <a:spcPts val="3919"/>
              </a:lnSpc>
              <a:buNone/>
            </a:pPr>
            <a:r>
              <a:rPr sz="2799" b="1">
                <a:solidFill>
                  <a:srgbClr val="0B0A0A"/>
                </a:solidFill>
                <a:latin typeface="Quicksand Bold"/>
                <a:ea typeface="Quicksand Bold"/>
                <a:cs typeface="Quicksand Bold"/>
              </a:rPr>
              <a:t>Conversation context</a:t>
            </a:r>
          </a:p>
          <a:p>
            <a:pPr algn="l">
              <a:lnSpc>
                <a:spcPts val="3919"/>
              </a:lnSpc>
              <a:spcBef>
                <a:spcPct val="0"/>
              </a:spcBef>
              <a:buNone/>
            </a:pPr>
            <a:endParaRPr sz="2799" b="1">
              <a:solidFill>
                <a:srgbClr val="0B0A0A"/>
              </a:solidFill>
              <a:latin typeface="Quicksand Bold"/>
              <a:ea typeface="Quicksand Bold"/>
              <a:cs typeface="Quicksand Bold"/>
            </a:endParaRPr>
          </a:p>
        </p:txBody>
      </p:sp>
      <p:sp>
        <p:nvSpPr>
          <p:cNvPr id="31" name="TextBox 31">
            <a:extLst>
              <a:ext uri="{FF2B5EF4-FFF2-40B4-BE49-F238E27FC236}">
                <a16:creationId xmlns:a16="http://schemas.microsoft.com/office/drawing/2014/main" id="{D55C426A-EF4C-4166-8A91-572FF988425F}"/>
              </a:ext>
            </a:extLst>
          </p:cNvPr>
          <p:cNvSpPr>
            <a:spLocks noGrp="1"/>
          </p:cNvSpPr>
          <p:nvPr/>
        </p:nvSpPr>
        <p:spPr>
          <a:xfrm>
            <a:off x="9352549" y="4145437"/>
            <a:ext cx="2680349" cy="2915602"/>
          </a:xfrm>
          <a:prstGeom prst="rect">
            <a:avLst/>
          </a:prstGeom>
        </p:spPr>
        <p:txBody>
          <a:bodyPr lIns="0" tIns="0" rIns="0" bIns="0" anchor="t">
            <a:spAutoFit/>
          </a:bodyPr>
          <a:lstStyle/>
          <a:p>
            <a:pPr algn="l">
              <a:lnSpc>
                <a:spcPts val="3359"/>
              </a:lnSpc>
              <a:buNone/>
            </a:pPr>
            <a:r>
              <a:rPr sz="2400">
                <a:solidFill>
                  <a:srgbClr val="0B0A0A"/>
                </a:solidFill>
                <a:latin typeface="Quicksand"/>
                <a:ea typeface="Quicksand"/>
                <a:cs typeface="Quicksand"/>
              </a:rPr>
              <a:t>The chatbot must collect preferences gradually, remember them and support later changes.</a:t>
            </a:r>
          </a:p>
          <a:p>
            <a:pPr algn="l">
              <a:lnSpc>
                <a:spcPts val="3359"/>
              </a:lnSpc>
              <a:buNone/>
            </a:pPr>
            <a:endParaRPr sz="2400">
              <a:solidFill>
                <a:srgbClr val="0B0A0A"/>
              </a:solidFill>
              <a:latin typeface="Quicksand"/>
              <a:ea typeface="Quicksand"/>
              <a:cs typeface="Quicksand"/>
            </a:endParaRPr>
          </a:p>
        </p:txBody>
      </p:sp>
    </p:spTree>
    <p:extLst>
      <p:ext uri="{BB962C8B-B14F-4D97-AF65-F5344CB8AC3E}">
        <p14:creationId xmlns:p14="http://schemas.microsoft.com/office/powerpoint/2010/main" val="146553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A79D7CD-6C61-4C74-B597-62B6CC5022B1}"/>
              </a:ext>
            </a:extLst>
          </p:cNvPr>
          <p:cNvSpPr>
            <a:spLocks noGrp="1"/>
          </p:cNvSpPr>
          <p:nvPr/>
        </p:nvSpPr>
        <p:spPr>
          <a:xfrm>
            <a:off x="7470286" y="7717381"/>
            <a:ext cx="5638432" cy="5638432"/>
          </a:xfrm>
          <a:custGeom>
            <a:avLst/>
            <a:gdLst/>
            <a:ahLst/>
            <a:cxnLst/>
            <a:rect l="l" t="t" r="r" b="b"/>
            <a:pathLst>
              <a:path w="5638432" h="5638432">
                <a:moveTo>
                  <a:pt x="0" y="0"/>
                </a:moveTo>
                <a:lnTo>
                  <a:pt x="5638432" y="0"/>
                </a:lnTo>
                <a:lnTo>
                  <a:pt x="5638432" y="5638433"/>
                </a:lnTo>
                <a:lnTo>
                  <a:pt x="0" y="56384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7228088C-493D-46EE-AC01-4D87845C58AB}"/>
              </a:ext>
            </a:extLst>
          </p:cNvPr>
          <p:cNvSpPr>
            <a:spLocks noGrp="1"/>
          </p:cNvSpPr>
          <p:nvPr/>
        </p:nvSpPr>
        <p:spPr>
          <a:xfrm rot="5400000">
            <a:off x="7957467" y="-2842756"/>
            <a:ext cx="5685511" cy="5685511"/>
          </a:xfrm>
          <a:custGeom>
            <a:avLst/>
            <a:gdLst/>
            <a:ahLst/>
            <a:cxnLst/>
            <a:rect l="l" t="t" r="r" b="b"/>
            <a:pathLst>
              <a:path w="5685511" h="5685511">
                <a:moveTo>
                  <a:pt x="0" y="0"/>
                </a:moveTo>
                <a:lnTo>
                  <a:pt x="5685511" y="0"/>
                </a:lnTo>
                <a:lnTo>
                  <a:pt x="5685511" y="5685512"/>
                </a:lnTo>
                <a:lnTo>
                  <a:pt x="0" y="56855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Freeform 4">
            <a:extLst>
              <a:ext uri="{FF2B5EF4-FFF2-40B4-BE49-F238E27FC236}">
                <a16:creationId xmlns:a16="http://schemas.microsoft.com/office/drawing/2014/main" id="{01CD2515-D981-4759-B913-4259265EF9B5}"/>
              </a:ext>
            </a:extLst>
          </p:cNvPr>
          <p:cNvSpPr>
            <a:spLocks noGrp="1"/>
          </p:cNvSpPr>
          <p:nvPr/>
        </p:nvSpPr>
        <p:spPr>
          <a:xfrm>
            <a:off x="-3221306" y="-2127777"/>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5" name="Freeform 5">
            <a:extLst>
              <a:ext uri="{FF2B5EF4-FFF2-40B4-BE49-F238E27FC236}">
                <a16:creationId xmlns:a16="http://schemas.microsoft.com/office/drawing/2014/main" id="{1B4B4F71-4E84-4E27-BDBF-BBDFD27F248D}"/>
              </a:ext>
            </a:extLst>
          </p:cNvPr>
          <p:cNvSpPr>
            <a:spLocks noGrp="1"/>
          </p:cNvSpPr>
          <p:nvPr/>
        </p:nvSpPr>
        <p:spPr>
          <a:xfrm>
            <a:off x="12338781" y="-3131918"/>
            <a:ext cx="4634683" cy="4634683"/>
          </a:xfrm>
          <a:custGeom>
            <a:avLst/>
            <a:gdLst/>
            <a:ahLst/>
            <a:cxnLst/>
            <a:rect l="l" t="t" r="r" b="b"/>
            <a:pathLst>
              <a:path w="4634683" h="4634683">
                <a:moveTo>
                  <a:pt x="0" y="0"/>
                </a:moveTo>
                <a:lnTo>
                  <a:pt x="4634683" y="0"/>
                </a:lnTo>
                <a:lnTo>
                  <a:pt x="4634683" y="4634683"/>
                </a:lnTo>
                <a:lnTo>
                  <a:pt x="0" y="46346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6" name="TextBox 6">
            <a:extLst>
              <a:ext uri="{FF2B5EF4-FFF2-40B4-BE49-F238E27FC236}">
                <a16:creationId xmlns:a16="http://schemas.microsoft.com/office/drawing/2014/main" id="{7321CBE7-E8D6-4994-82F1-287E99B3177E}"/>
              </a:ext>
            </a:extLst>
          </p:cNvPr>
          <p:cNvSpPr>
            <a:spLocks noGrp="1"/>
          </p:cNvSpPr>
          <p:nvPr/>
        </p:nvSpPr>
        <p:spPr>
          <a:xfrm>
            <a:off x="544862" y="570271"/>
            <a:ext cx="17459817" cy="2620645"/>
          </a:xfrm>
          <a:prstGeom prst="rect">
            <a:avLst/>
          </a:prstGeom>
        </p:spPr>
        <p:txBody>
          <a:bodyPr lIns="0" tIns="0" rIns="0" bIns="0" anchor="t">
            <a:spAutoFit/>
          </a:bodyPr>
          <a:lstStyle/>
          <a:p>
            <a:pPr algn="l">
              <a:lnSpc>
                <a:spcPts val="6800"/>
              </a:lnSpc>
              <a:buNone/>
            </a:pPr>
            <a:r>
              <a:rPr sz="6800" dirty="0">
                <a:solidFill>
                  <a:srgbClr val="000000"/>
                </a:solidFill>
                <a:latin typeface="Hero Bold"/>
                <a:ea typeface="Hero Bold"/>
                <a:cs typeface="Hero Bold"/>
              </a:rPr>
              <a:t>Existing elderly-oriented conversational products</a:t>
            </a:r>
          </a:p>
          <a:p>
            <a:pPr marL="0" lvl="0" indent="0" algn="l">
              <a:lnSpc>
                <a:spcPts val="6800"/>
              </a:lnSpc>
              <a:spcBef>
                <a:spcPct val="0"/>
              </a:spcBef>
              <a:buNone/>
            </a:pPr>
            <a:endParaRPr sz="6800" dirty="0">
              <a:solidFill>
                <a:srgbClr val="000000"/>
              </a:solidFill>
              <a:latin typeface="Hero Bold"/>
              <a:ea typeface="Hero Bold"/>
              <a:cs typeface="Hero Bold"/>
            </a:endParaRPr>
          </a:p>
        </p:txBody>
      </p:sp>
      <p:sp>
        <p:nvSpPr>
          <p:cNvPr id="7" name="Freeform 7">
            <a:extLst>
              <a:ext uri="{FF2B5EF4-FFF2-40B4-BE49-F238E27FC236}">
                <a16:creationId xmlns:a16="http://schemas.microsoft.com/office/drawing/2014/main" id="{05F4BBC0-8E39-4785-BEC9-8601FE87A9FA}"/>
              </a:ext>
            </a:extLst>
          </p:cNvPr>
          <p:cNvSpPr>
            <a:spLocks noGrp="1"/>
          </p:cNvSpPr>
          <p:nvPr/>
        </p:nvSpPr>
        <p:spPr>
          <a:xfrm rot="5400000" flipH="1">
            <a:off x="4444645" y="8545566"/>
            <a:ext cx="3982064" cy="3982064"/>
          </a:xfrm>
          <a:custGeom>
            <a:avLst/>
            <a:gdLst/>
            <a:ahLst/>
            <a:cxnLst/>
            <a:rect l="l" t="t" r="r" b="b"/>
            <a:pathLst>
              <a:path w="3982064" h="3982064">
                <a:moveTo>
                  <a:pt x="3982064" y="0"/>
                </a:moveTo>
                <a:lnTo>
                  <a:pt x="0" y="0"/>
                </a:lnTo>
                <a:lnTo>
                  <a:pt x="0" y="3982063"/>
                </a:lnTo>
                <a:lnTo>
                  <a:pt x="3982064" y="3982063"/>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8" name="Freeform 8">
            <a:extLst>
              <a:ext uri="{FF2B5EF4-FFF2-40B4-BE49-F238E27FC236}">
                <a16:creationId xmlns:a16="http://schemas.microsoft.com/office/drawing/2014/main" id="{B4913DC1-B20C-495A-9D13-34F87B00EAE2}"/>
              </a:ext>
            </a:extLst>
          </p:cNvPr>
          <p:cNvSpPr>
            <a:spLocks noGrp="1"/>
          </p:cNvSpPr>
          <p:nvPr/>
        </p:nvSpPr>
        <p:spPr>
          <a:xfrm rot="5400000">
            <a:off x="-2843792" y="2897459"/>
            <a:ext cx="3982064" cy="3982064"/>
          </a:xfrm>
          <a:custGeom>
            <a:avLst/>
            <a:gdLst/>
            <a:ahLst/>
            <a:cxnLst/>
            <a:rect l="l" t="t" r="r" b="b"/>
            <a:pathLst>
              <a:path w="3982064" h="3982064">
                <a:moveTo>
                  <a:pt x="0" y="0"/>
                </a:moveTo>
                <a:lnTo>
                  <a:pt x="3982064" y="0"/>
                </a:lnTo>
                <a:lnTo>
                  <a:pt x="3982064" y="3982064"/>
                </a:lnTo>
                <a:lnTo>
                  <a:pt x="0" y="3982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0" name="TextBox 10">
            <a:extLst>
              <a:ext uri="{FF2B5EF4-FFF2-40B4-BE49-F238E27FC236}">
                <a16:creationId xmlns:a16="http://schemas.microsoft.com/office/drawing/2014/main" id="{01C0EC06-8412-40FA-A38C-D1948A07DF8B}"/>
              </a:ext>
            </a:extLst>
          </p:cNvPr>
          <p:cNvSpPr>
            <a:spLocks noGrp="1"/>
          </p:cNvSpPr>
          <p:nvPr/>
        </p:nvSpPr>
        <p:spPr>
          <a:xfrm>
            <a:off x="630231" y="2697495"/>
            <a:ext cx="17032969" cy="1224280"/>
          </a:xfrm>
          <a:prstGeom prst="rect">
            <a:avLst/>
          </a:prstGeom>
        </p:spPr>
        <p:txBody>
          <a:bodyPr lIns="0" tIns="0" rIns="0" bIns="0" anchor="t">
            <a:spAutoFit/>
          </a:bodyPr>
          <a:lstStyle/>
          <a:p>
            <a:pPr algn="l">
              <a:lnSpc>
                <a:spcPts val="3200"/>
              </a:lnSpc>
              <a:buNone/>
            </a:pPr>
            <a:r>
              <a:rPr sz="3200" dirty="0">
                <a:solidFill>
                  <a:srgbClr val="000000"/>
                </a:solidFill>
                <a:latin typeface="Hero Bold"/>
                <a:ea typeface="Hero Bold"/>
                <a:cs typeface="Hero Bold"/>
              </a:rPr>
              <a:t>The reviewed products contributed interaction ideas, but they addressed different services</a:t>
            </a:r>
          </a:p>
          <a:p>
            <a:pPr marL="0" lvl="0" indent="0" algn="l">
              <a:lnSpc>
                <a:spcPts val="3200"/>
              </a:lnSpc>
              <a:spcBef>
                <a:spcPct val="0"/>
              </a:spcBef>
              <a:buNone/>
            </a:pPr>
            <a:endParaRPr sz="3200" dirty="0">
              <a:solidFill>
                <a:srgbClr val="000000"/>
              </a:solidFill>
              <a:latin typeface="Hero Bold"/>
              <a:ea typeface="Hero Bold"/>
              <a:cs typeface="Hero Bold"/>
            </a:endParaRPr>
          </a:p>
        </p:txBody>
      </p:sp>
      <p:graphicFrame>
        <p:nvGraphicFramePr>
          <p:cNvPr id="9" name="Table 8">
            <a:extLst>
              <a:ext uri="{FF2B5EF4-FFF2-40B4-BE49-F238E27FC236}">
                <a16:creationId xmlns:a16="http://schemas.microsoft.com/office/drawing/2014/main" id="{004F7A7C-5214-B9B2-0E86-14F7B1524702}"/>
              </a:ext>
            </a:extLst>
          </p:cNvPr>
          <p:cNvGraphicFramePr>
            <a:graphicFrameLocks noGrp="1"/>
          </p:cNvGraphicFramePr>
          <p:nvPr>
            <p:extLst>
              <p:ext uri="{D42A27DB-BD31-4B8C-83A1-F6EECF244321}">
                <p14:modId xmlns:p14="http://schemas.microsoft.com/office/powerpoint/2010/main" val="1749630383"/>
              </p:ext>
            </p:extLst>
          </p:nvPr>
        </p:nvGraphicFramePr>
        <p:xfrm>
          <a:off x="960851" y="3854541"/>
          <a:ext cx="15716714" cy="5638431"/>
        </p:xfrm>
        <a:graphic>
          <a:graphicData uri="http://schemas.openxmlformats.org/drawingml/2006/table">
            <a:tbl>
              <a:tblPr/>
              <a:tblGrid>
                <a:gridCol w="2455737">
                  <a:extLst>
                    <a:ext uri="{9D8B030D-6E8A-4147-A177-3AD203B41FA5}">
                      <a16:colId xmlns:a16="http://schemas.microsoft.com/office/drawing/2014/main" val="4112090246"/>
                    </a:ext>
                  </a:extLst>
                </a:gridCol>
                <a:gridCol w="3683604">
                  <a:extLst>
                    <a:ext uri="{9D8B030D-6E8A-4147-A177-3AD203B41FA5}">
                      <a16:colId xmlns:a16="http://schemas.microsoft.com/office/drawing/2014/main" val="3369807535"/>
                    </a:ext>
                  </a:extLst>
                </a:gridCol>
                <a:gridCol w="4502184">
                  <a:extLst>
                    <a:ext uri="{9D8B030D-6E8A-4147-A177-3AD203B41FA5}">
                      <a16:colId xmlns:a16="http://schemas.microsoft.com/office/drawing/2014/main" val="3763759903"/>
                    </a:ext>
                  </a:extLst>
                </a:gridCol>
                <a:gridCol w="5075189">
                  <a:extLst>
                    <a:ext uri="{9D8B030D-6E8A-4147-A177-3AD203B41FA5}">
                      <a16:colId xmlns:a16="http://schemas.microsoft.com/office/drawing/2014/main" val="1233088757"/>
                    </a:ext>
                  </a:extLst>
                </a:gridCol>
              </a:tblGrid>
              <a:tr h="1120898">
                <a:tc>
                  <a:txBody>
                    <a:bodyPr/>
                    <a:lstStyle/>
                    <a:p>
                      <a:r>
                        <a:rPr sz="2000" b="1" dirty="0">
                          <a:solidFill>
                            <a:srgbClr val="FFFFFF"/>
                          </a:solidFill>
                          <a:latin typeface="Hero Bold" panose="020B0604020202020204" charset="0"/>
                          <a:ea typeface="Arial"/>
                          <a:cs typeface="Arial"/>
                        </a:rPr>
                        <a:t>System</a:t>
                      </a:r>
                    </a:p>
                  </a:txBody>
                  <a:tcPr marL="95250" marR="95250" marT="76200" marB="76200" anchor="ctr">
                    <a:solidFill>
                      <a:srgbClr val="0F766E"/>
                    </a:solidFill>
                  </a:tcPr>
                </a:tc>
                <a:tc>
                  <a:txBody>
                    <a:bodyPr/>
                    <a:lstStyle/>
                    <a:p>
                      <a:r>
                        <a:rPr sz="2000" b="1" dirty="0">
                          <a:solidFill>
                            <a:srgbClr val="FFFFFF"/>
                          </a:solidFill>
                          <a:latin typeface="Hero Bold" panose="020B0604020202020204" charset="0"/>
                          <a:ea typeface="Arial"/>
                          <a:cs typeface="Arial"/>
                        </a:rPr>
                        <a:t>Primary purpose</a:t>
                      </a:r>
                    </a:p>
                  </a:txBody>
                  <a:tcPr marL="95250" marR="95250" marT="76200" marB="76200" anchor="ctr">
                    <a:solidFill>
                      <a:srgbClr val="0F766E"/>
                    </a:solidFill>
                  </a:tcPr>
                </a:tc>
                <a:tc>
                  <a:txBody>
                    <a:bodyPr/>
                    <a:lstStyle/>
                    <a:p>
                      <a:r>
                        <a:rPr sz="2000" b="1" dirty="0">
                          <a:solidFill>
                            <a:srgbClr val="FFFFFF"/>
                          </a:solidFill>
                          <a:latin typeface="Hero Bold" panose="020B0604020202020204" charset="0"/>
                          <a:ea typeface="Arial"/>
                          <a:cs typeface="Arial"/>
                        </a:rPr>
                        <a:t>Useful idea</a:t>
                      </a:r>
                    </a:p>
                  </a:txBody>
                  <a:tcPr marL="95250" marR="95250" marT="76200" marB="76200" anchor="ctr">
                    <a:solidFill>
                      <a:srgbClr val="0F766E"/>
                    </a:solidFill>
                  </a:tcPr>
                </a:tc>
                <a:tc>
                  <a:txBody>
                    <a:bodyPr/>
                    <a:lstStyle/>
                    <a:p>
                      <a:r>
                        <a:rPr sz="2000" b="1" dirty="0">
                          <a:solidFill>
                            <a:srgbClr val="FFFFFF"/>
                          </a:solidFill>
                          <a:latin typeface="Hero Bold" panose="020B0604020202020204" charset="0"/>
                          <a:ea typeface="Arial"/>
                          <a:cs typeface="Arial"/>
                        </a:rPr>
                        <a:t>Difference from JomVoyage</a:t>
                      </a:r>
                    </a:p>
                  </a:txBody>
                  <a:tcPr marL="95250" marR="95250" marT="76200" marB="76200" anchor="ctr">
                    <a:solidFill>
                      <a:srgbClr val="0F766E"/>
                    </a:solidFill>
                  </a:tcPr>
                </a:tc>
                <a:extLst>
                  <a:ext uri="{0D108BD9-81ED-4DB2-BD59-A6C34878D82A}">
                    <a16:rowId xmlns:a16="http://schemas.microsoft.com/office/drawing/2014/main" val="1688450573"/>
                  </a:ext>
                </a:extLst>
              </a:tr>
              <a:tr h="1120898">
                <a:tc>
                  <a:txBody>
                    <a:bodyPr/>
                    <a:lstStyle/>
                    <a:p>
                      <a:r>
                        <a:rPr sz="2000" dirty="0">
                          <a:solidFill>
                            <a:srgbClr val="17363A"/>
                          </a:solidFill>
                          <a:latin typeface="Hero Bold" panose="020B0604020202020204" charset="0"/>
                          <a:ea typeface="Arial"/>
                          <a:cs typeface="Arial"/>
                        </a:rPr>
                        <a:t>Meela Rides</a:t>
                      </a:r>
                    </a:p>
                  </a:txBody>
                  <a:tcPr marL="95250" marR="95250" marT="66675" marB="66675" anchor="ctr">
                    <a:solidFill>
                      <a:schemeClr val="accent5">
                        <a:lumMod val="40000"/>
                        <a:lumOff val="60000"/>
                      </a:schemeClr>
                    </a:solidFill>
                  </a:tcPr>
                </a:tc>
                <a:tc>
                  <a:txBody>
                    <a:bodyPr/>
                    <a:lstStyle/>
                    <a:p>
                      <a:r>
                        <a:rPr sz="2000" dirty="0">
                          <a:solidFill>
                            <a:srgbClr val="17363A"/>
                          </a:solidFill>
                          <a:latin typeface="Hero Bold" panose="020B0604020202020204" charset="0"/>
                          <a:ea typeface="Arial"/>
                          <a:cs typeface="Arial"/>
                        </a:rPr>
                        <a:t>Telephone-based transport booking</a:t>
                      </a:r>
                    </a:p>
                  </a:txBody>
                  <a:tcPr marL="95250" marR="95250" marT="66675" marB="66675" anchor="ctr">
                    <a:solidFill>
                      <a:schemeClr val="accent5">
                        <a:lumMod val="40000"/>
                        <a:lumOff val="60000"/>
                      </a:schemeClr>
                    </a:solidFill>
                  </a:tcPr>
                </a:tc>
                <a:tc>
                  <a:txBody>
                    <a:bodyPr/>
                    <a:lstStyle/>
                    <a:p>
                      <a:r>
                        <a:rPr sz="2000">
                          <a:solidFill>
                            <a:srgbClr val="17363A"/>
                          </a:solidFill>
                          <a:latin typeface="Hero Bold" panose="020B0604020202020204" charset="0"/>
                          <a:ea typeface="Arial"/>
                          <a:cs typeface="Arial"/>
                        </a:rPr>
                        <a:t>Low setup effort and accessibility preferences</a:t>
                      </a:r>
                    </a:p>
                  </a:txBody>
                  <a:tcPr marL="95250" marR="95250" marT="66675" marB="66675" anchor="ctr">
                    <a:solidFill>
                      <a:schemeClr val="accent5">
                        <a:lumMod val="40000"/>
                        <a:lumOff val="60000"/>
                      </a:schemeClr>
                    </a:solidFill>
                  </a:tcPr>
                </a:tc>
                <a:tc>
                  <a:txBody>
                    <a:bodyPr/>
                    <a:lstStyle/>
                    <a:p>
                      <a:r>
                        <a:rPr sz="2000" dirty="0">
                          <a:solidFill>
                            <a:srgbClr val="17363A"/>
                          </a:solidFill>
                          <a:latin typeface="Hero Bold" panose="020B0604020202020204" charset="0"/>
                          <a:ea typeface="Arial"/>
                          <a:cs typeface="Arial"/>
                        </a:rPr>
                        <a:t>Focuses on transportation</a:t>
                      </a:r>
                    </a:p>
                  </a:txBody>
                  <a:tcPr marL="95250" marR="95250" marT="66675" marB="66675" anchor="ctr">
                    <a:solidFill>
                      <a:schemeClr val="accent5">
                        <a:lumMod val="40000"/>
                        <a:lumOff val="60000"/>
                      </a:schemeClr>
                    </a:solidFill>
                  </a:tcPr>
                </a:tc>
                <a:extLst>
                  <a:ext uri="{0D108BD9-81ED-4DB2-BD59-A6C34878D82A}">
                    <a16:rowId xmlns:a16="http://schemas.microsoft.com/office/drawing/2014/main" val="1360346335"/>
                  </a:ext>
                </a:extLst>
              </a:tr>
              <a:tr h="1120898">
                <a:tc>
                  <a:txBody>
                    <a:bodyPr/>
                    <a:lstStyle/>
                    <a:p>
                      <a:r>
                        <a:rPr sz="2000">
                          <a:solidFill>
                            <a:srgbClr val="17363A"/>
                          </a:solidFill>
                          <a:latin typeface="Hero Bold" panose="020B0604020202020204" charset="0"/>
                          <a:ea typeface="Arial"/>
                          <a:cs typeface="Arial"/>
                        </a:rPr>
                        <a:t>ElliQ</a:t>
                      </a:r>
                    </a:p>
                  </a:txBody>
                  <a:tcPr marL="95250" marR="95250" marT="66675" marB="66675" anchor="ctr">
                    <a:solidFill>
                      <a:srgbClr val="E5F1EC"/>
                    </a:solidFill>
                  </a:tcPr>
                </a:tc>
                <a:tc>
                  <a:txBody>
                    <a:bodyPr/>
                    <a:lstStyle/>
                    <a:p>
                      <a:r>
                        <a:rPr sz="2000">
                          <a:solidFill>
                            <a:srgbClr val="17363A"/>
                          </a:solidFill>
                          <a:latin typeface="Hero Bold" panose="020B0604020202020204" charset="0"/>
                          <a:ea typeface="Arial"/>
                          <a:cs typeface="Arial"/>
                        </a:rPr>
                        <a:t>AI companionship and daily support</a:t>
                      </a:r>
                    </a:p>
                  </a:txBody>
                  <a:tcPr marL="95250" marR="95250" marT="66675" marB="66675" anchor="ctr">
                    <a:solidFill>
                      <a:srgbClr val="E5F1EC"/>
                    </a:solidFill>
                  </a:tcPr>
                </a:tc>
                <a:tc>
                  <a:txBody>
                    <a:bodyPr/>
                    <a:lstStyle/>
                    <a:p>
                      <a:r>
                        <a:rPr sz="2000" dirty="0">
                          <a:solidFill>
                            <a:srgbClr val="17363A"/>
                          </a:solidFill>
                          <a:latin typeface="Hero Bold" panose="020B0604020202020204" charset="0"/>
                          <a:ea typeface="Arial"/>
                          <a:cs typeface="Arial"/>
                        </a:rPr>
                        <a:t>Voice, large text and remembered preferences</a:t>
                      </a:r>
                    </a:p>
                  </a:txBody>
                  <a:tcPr marL="95250" marR="95250" marT="66675" marB="66675" anchor="ctr">
                    <a:solidFill>
                      <a:srgbClr val="E5F1EC"/>
                    </a:solidFill>
                  </a:tcPr>
                </a:tc>
                <a:tc>
                  <a:txBody>
                    <a:bodyPr/>
                    <a:lstStyle/>
                    <a:p>
                      <a:r>
                        <a:rPr sz="2000" dirty="0">
                          <a:solidFill>
                            <a:srgbClr val="17363A"/>
                          </a:solidFill>
                          <a:latin typeface="Hero Bold" panose="020B0604020202020204" charset="0"/>
                          <a:ea typeface="Arial"/>
                          <a:cs typeface="Arial"/>
                        </a:rPr>
                        <a:t>Requires dedicated hardware</a:t>
                      </a:r>
                    </a:p>
                  </a:txBody>
                  <a:tcPr marL="95250" marR="95250" marT="66675" marB="66675" anchor="ctr">
                    <a:solidFill>
                      <a:srgbClr val="E5F1EC"/>
                    </a:solidFill>
                  </a:tcPr>
                </a:tc>
                <a:extLst>
                  <a:ext uri="{0D108BD9-81ED-4DB2-BD59-A6C34878D82A}">
                    <a16:rowId xmlns:a16="http://schemas.microsoft.com/office/drawing/2014/main" val="3904486793"/>
                  </a:ext>
                </a:extLst>
              </a:tr>
              <a:tr h="1120898">
                <a:tc>
                  <a:txBody>
                    <a:bodyPr/>
                    <a:lstStyle/>
                    <a:p>
                      <a:r>
                        <a:rPr sz="2000">
                          <a:solidFill>
                            <a:srgbClr val="17363A"/>
                          </a:solidFill>
                          <a:latin typeface="Hero Bold" panose="020B0604020202020204" charset="0"/>
                          <a:ea typeface="Arial"/>
                          <a:cs typeface="Arial"/>
                        </a:rPr>
                        <a:t>SeniorTalk</a:t>
                      </a:r>
                    </a:p>
                  </a:txBody>
                  <a:tcPr marL="95250" marR="95250" marT="66675" marB="66675" anchor="ctr">
                    <a:solidFill>
                      <a:schemeClr val="accent5">
                        <a:lumMod val="40000"/>
                        <a:lumOff val="60000"/>
                      </a:schemeClr>
                    </a:solidFill>
                  </a:tcPr>
                </a:tc>
                <a:tc>
                  <a:txBody>
                    <a:bodyPr/>
                    <a:lstStyle/>
                    <a:p>
                      <a:r>
                        <a:rPr sz="2000">
                          <a:solidFill>
                            <a:srgbClr val="17363A"/>
                          </a:solidFill>
                          <a:latin typeface="Hero Bold" panose="020B0604020202020204" charset="0"/>
                          <a:ea typeface="Arial"/>
                          <a:cs typeface="Arial"/>
                        </a:rPr>
                        <a:t>Familiar voice and text channels</a:t>
                      </a:r>
                    </a:p>
                  </a:txBody>
                  <a:tcPr marL="95250" marR="95250" marT="66675" marB="66675" anchor="ctr">
                    <a:solidFill>
                      <a:schemeClr val="accent5">
                        <a:lumMod val="40000"/>
                        <a:lumOff val="60000"/>
                      </a:schemeClr>
                    </a:solidFill>
                  </a:tcPr>
                </a:tc>
                <a:tc>
                  <a:txBody>
                    <a:bodyPr/>
                    <a:lstStyle/>
                    <a:p>
                      <a:r>
                        <a:rPr sz="2000" dirty="0">
                          <a:solidFill>
                            <a:srgbClr val="17363A"/>
                          </a:solidFill>
                          <a:latin typeface="Hero Bold" panose="020B0604020202020204" charset="0"/>
                          <a:ea typeface="Arial"/>
                          <a:cs typeface="Arial"/>
                        </a:rPr>
                        <a:t>Speech support and adjustable presentation</a:t>
                      </a:r>
                    </a:p>
                  </a:txBody>
                  <a:tcPr marL="95250" marR="95250" marT="66675" marB="66675" anchor="ctr">
                    <a:solidFill>
                      <a:schemeClr val="accent5">
                        <a:lumMod val="40000"/>
                        <a:lumOff val="60000"/>
                      </a:schemeClr>
                    </a:solidFill>
                  </a:tcPr>
                </a:tc>
                <a:tc>
                  <a:txBody>
                    <a:bodyPr/>
                    <a:lstStyle/>
                    <a:p>
                      <a:r>
                        <a:rPr sz="2000" dirty="0">
                          <a:solidFill>
                            <a:srgbClr val="17363A"/>
                          </a:solidFill>
                          <a:latin typeface="Hero Bold" panose="020B0604020202020204" charset="0"/>
                          <a:ea typeface="Arial"/>
                          <a:cs typeface="Arial"/>
                        </a:rPr>
                        <a:t>Does not provide a curated Malaysian catalogue</a:t>
                      </a:r>
                    </a:p>
                  </a:txBody>
                  <a:tcPr marL="95250" marR="95250" marT="66675" marB="66675" anchor="ctr">
                    <a:solidFill>
                      <a:schemeClr val="accent5">
                        <a:lumMod val="40000"/>
                        <a:lumOff val="60000"/>
                      </a:schemeClr>
                    </a:solidFill>
                  </a:tcPr>
                </a:tc>
                <a:extLst>
                  <a:ext uri="{0D108BD9-81ED-4DB2-BD59-A6C34878D82A}">
                    <a16:rowId xmlns:a16="http://schemas.microsoft.com/office/drawing/2014/main" val="3873525330"/>
                  </a:ext>
                </a:extLst>
              </a:tr>
              <a:tr h="1154839">
                <a:tc>
                  <a:txBody>
                    <a:bodyPr/>
                    <a:lstStyle/>
                    <a:p>
                      <a:r>
                        <a:rPr sz="2000">
                          <a:solidFill>
                            <a:srgbClr val="17363A"/>
                          </a:solidFill>
                          <a:latin typeface="Hero Bold" panose="020B0604020202020204" charset="0"/>
                          <a:ea typeface="Arial"/>
                          <a:cs typeface="Arial"/>
                        </a:rPr>
                        <a:t>JomVoyage</a:t>
                      </a:r>
                    </a:p>
                  </a:txBody>
                  <a:tcPr marL="95250" marR="95250" marT="66675" marB="66675" anchor="ctr">
                    <a:solidFill>
                      <a:srgbClr val="E5F1EC"/>
                    </a:solidFill>
                  </a:tcPr>
                </a:tc>
                <a:tc>
                  <a:txBody>
                    <a:bodyPr/>
                    <a:lstStyle/>
                    <a:p>
                      <a:r>
                        <a:rPr sz="2000">
                          <a:solidFill>
                            <a:srgbClr val="17363A"/>
                          </a:solidFill>
                          <a:latin typeface="Hero Bold" panose="020B0604020202020204" charset="0"/>
                          <a:ea typeface="Arial"/>
                          <a:cs typeface="Arial"/>
                        </a:rPr>
                        <a:t>Malaysian attraction recommendation</a:t>
                      </a:r>
                    </a:p>
                  </a:txBody>
                  <a:tcPr marL="95250" marR="95250" marT="66675" marB="66675" anchor="ctr">
                    <a:solidFill>
                      <a:srgbClr val="E5F1EC"/>
                    </a:solidFill>
                  </a:tcPr>
                </a:tc>
                <a:tc>
                  <a:txBody>
                    <a:bodyPr/>
                    <a:lstStyle/>
                    <a:p>
                      <a:r>
                        <a:rPr sz="2000">
                          <a:solidFill>
                            <a:srgbClr val="17363A"/>
                          </a:solidFill>
                          <a:latin typeface="Hero Bold" panose="020B0604020202020204" charset="0"/>
                          <a:ea typeface="Arial"/>
                          <a:cs typeface="Arial"/>
                        </a:rPr>
                        <a:t>Guided chat, visible preferences and grounded explanations</a:t>
                      </a:r>
                    </a:p>
                  </a:txBody>
                  <a:tcPr marL="95250" marR="95250" marT="66675" marB="66675" anchor="ctr">
                    <a:solidFill>
                      <a:srgbClr val="E5F1EC"/>
                    </a:solidFill>
                  </a:tcPr>
                </a:tc>
                <a:tc>
                  <a:txBody>
                    <a:bodyPr/>
                    <a:lstStyle/>
                    <a:p>
                      <a:r>
                        <a:rPr sz="2000" dirty="0">
                          <a:solidFill>
                            <a:srgbClr val="17363A"/>
                          </a:solidFill>
                          <a:latin typeface="Hero Bold" panose="020B0604020202020204" charset="0"/>
                          <a:ea typeface="Arial"/>
                          <a:cs typeface="Arial"/>
                        </a:rPr>
                        <a:t>Focuses on tourism and recorded accessibility evidence</a:t>
                      </a:r>
                    </a:p>
                  </a:txBody>
                  <a:tcPr marL="95250" marR="95250" marT="66675" marB="66675" anchor="ctr">
                    <a:solidFill>
                      <a:srgbClr val="E5F1EC"/>
                    </a:solidFill>
                  </a:tcPr>
                </a:tc>
                <a:extLst>
                  <a:ext uri="{0D108BD9-81ED-4DB2-BD59-A6C34878D82A}">
                    <a16:rowId xmlns:a16="http://schemas.microsoft.com/office/drawing/2014/main" val="19577367"/>
                  </a:ext>
                </a:extLst>
              </a:tr>
            </a:tbl>
          </a:graphicData>
        </a:graphic>
      </p:graphicFrame>
    </p:spTree>
    <p:extLst>
      <p:ext uri="{BB962C8B-B14F-4D97-AF65-F5344CB8AC3E}">
        <p14:creationId xmlns:p14="http://schemas.microsoft.com/office/powerpoint/2010/main" val="203743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F94E771B-82CC-4A52-BADC-A6B0F7D784BD}"/>
              </a:ext>
            </a:extLst>
          </p:cNvPr>
          <p:cNvSpPr>
            <a:spLocks noGrp="1"/>
          </p:cNvSpPr>
          <p:nvPr/>
        </p:nvSpPr>
        <p:spPr>
          <a:xfrm>
            <a:off x="6331959" y="-1957166"/>
            <a:ext cx="4535131" cy="4535131"/>
          </a:xfrm>
          <a:custGeom>
            <a:avLst/>
            <a:gdLst/>
            <a:ahLst/>
            <a:cxnLst/>
            <a:rect l="l" t="t" r="r" b="b"/>
            <a:pathLst>
              <a:path w="4535131" h="4535131">
                <a:moveTo>
                  <a:pt x="0" y="0"/>
                </a:moveTo>
                <a:lnTo>
                  <a:pt x="4535132" y="0"/>
                </a:lnTo>
                <a:lnTo>
                  <a:pt x="4535132" y="4535131"/>
                </a:lnTo>
                <a:lnTo>
                  <a:pt x="0" y="4535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8C3C76B1-7A10-442A-8571-1768C8342801}"/>
              </a:ext>
            </a:extLst>
          </p:cNvPr>
          <p:cNvSpPr>
            <a:spLocks noGrp="1"/>
          </p:cNvSpPr>
          <p:nvPr/>
        </p:nvSpPr>
        <p:spPr>
          <a:xfrm rot="5400000" flipV="1">
            <a:off x="6024338" y="1493973"/>
            <a:ext cx="3982064" cy="3982064"/>
          </a:xfrm>
          <a:custGeom>
            <a:avLst/>
            <a:gdLst/>
            <a:ahLst/>
            <a:cxnLst/>
            <a:rect l="l" t="t" r="r" b="b"/>
            <a:pathLst>
              <a:path w="3982064" h="3982064">
                <a:moveTo>
                  <a:pt x="0" y="3982064"/>
                </a:moveTo>
                <a:lnTo>
                  <a:pt x="3982064" y="3982064"/>
                </a:lnTo>
                <a:lnTo>
                  <a:pt x="3982064" y="0"/>
                </a:lnTo>
                <a:lnTo>
                  <a:pt x="0" y="0"/>
                </a:lnTo>
                <a:lnTo>
                  <a:pt x="0" y="398206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TextBox 4">
            <a:extLst>
              <a:ext uri="{FF2B5EF4-FFF2-40B4-BE49-F238E27FC236}">
                <a16:creationId xmlns:a16="http://schemas.microsoft.com/office/drawing/2014/main" id="{00F5AB43-C045-4449-8CC6-CE834D4A0E2D}"/>
              </a:ext>
            </a:extLst>
          </p:cNvPr>
          <p:cNvSpPr>
            <a:spLocks noGrp="1"/>
          </p:cNvSpPr>
          <p:nvPr/>
        </p:nvSpPr>
        <p:spPr>
          <a:xfrm>
            <a:off x="10254422" y="3895090"/>
            <a:ext cx="6202311" cy="2620645"/>
          </a:xfrm>
          <a:prstGeom prst="rect">
            <a:avLst/>
          </a:prstGeom>
        </p:spPr>
        <p:txBody>
          <a:bodyPr lIns="0" tIns="0" rIns="0" bIns="0" anchor="t">
            <a:spAutoFit/>
          </a:bodyPr>
          <a:lstStyle/>
          <a:p>
            <a:pPr marL="0" lvl="0" indent="0" algn="l">
              <a:lnSpc>
                <a:spcPts val="6800"/>
              </a:lnSpc>
              <a:spcBef>
                <a:spcPct val="0"/>
              </a:spcBef>
              <a:buNone/>
            </a:pPr>
            <a:r>
              <a:rPr sz="6800">
                <a:solidFill>
                  <a:srgbClr val="000000"/>
                </a:solidFill>
                <a:latin typeface="Hero Bold"/>
                <a:ea typeface="Hero Bold"/>
                <a:cs typeface="Hero Bold"/>
              </a:rPr>
              <a:t>Proposed deve</a:t>
            </a:r>
            <a:r>
              <a:rPr sz="6800" u="none">
                <a:solidFill>
                  <a:srgbClr val="000000"/>
                </a:solidFill>
                <a:latin typeface="Hero Bold"/>
                <a:ea typeface="Hero Bold"/>
                <a:cs typeface="Hero Bold"/>
              </a:rPr>
              <a:t>lopment method</a:t>
            </a:r>
          </a:p>
        </p:txBody>
      </p:sp>
      <p:sp>
        <p:nvSpPr>
          <p:cNvPr id="5" name="Freeform 5">
            <a:extLst>
              <a:ext uri="{FF2B5EF4-FFF2-40B4-BE49-F238E27FC236}">
                <a16:creationId xmlns:a16="http://schemas.microsoft.com/office/drawing/2014/main" id="{997A89AD-120B-4FBF-98E3-AD6F619D0FB2}"/>
              </a:ext>
            </a:extLst>
          </p:cNvPr>
          <p:cNvSpPr>
            <a:spLocks noGrp="1"/>
          </p:cNvSpPr>
          <p:nvPr/>
        </p:nvSpPr>
        <p:spPr>
          <a:xfrm>
            <a:off x="14373748" y="-2521279"/>
            <a:ext cx="6481928" cy="6481928"/>
          </a:xfrm>
          <a:custGeom>
            <a:avLst/>
            <a:gdLst/>
            <a:ahLst/>
            <a:cxnLst/>
            <a:rect l="l" t="t" r="r" b="b"/>
            <a:pathLst>
              <a:path w="6481928" h="6481928">
                <a:moveTo>
                  <a:pt x="0" y="0"/>
                </a:moveTo>
                <a:lnTo>
                  <a:pt x="6481928" y="0"/>
                </a:lnTo>
                <a:lnTo>
                  <a:pt x="6481928" y="6481928"/>
                </a:lnTo>
                <a:lnTo>
                  <a:pt x="0" y="64819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6" name="Freeform 6">
            <a:extLst>
              <a:ext uri="{FF2B5EF4-FFF2-40B4-BE49-F238E27FC236}">
                <a16:creationId xmlns:a16="http://schemas.microsoft.com/office/drawing/2014/main" id="{1EBE61A0-E139-4FA4-B8C5-147DE2674F63}"/>
              </a:ext>
            </a:extLst>
          </p:cNvPr>
          <p:cNvSpPr>
            <a:spLocks noGrp="1"/>
          </p:cNvSpPr>
          <p:nvPr/>
        </p:nvSpPr>
        <p:spPr>
          <a:xfrm>
            <a:off x="9144000" y="8465080"/>
            <a:ext cx="4535131" cy="4535131"/>
          </a:xfrm>
          <a:custGeom>
            <a:avLst/>
            <a:gdLst/>
            <a:ahLst/>
            <a:cxnLst/>
            <a:rect l="l" t="t" r="r" b="b"/>
            <a:pathLst>
              <a:path w="4535131" h="4535131">
                <a:moveTo>
                  <a:pt x="0" y="0"/>
                </a:moveTo>
                <a:lnTo>
                  <a:pt x="4535131" y="0"/>
                </a:lnTo>
                <a:lnTo>
                  <a:pt x="4535131" y="4535131"/>
                </a:lnTo>
                <a:lnTo>
                  <a:pt x="0" y="4535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7" name="Freeform 7">
            <a:extLst>
              <a:ext uri="{FF2B5EF4-FFF2-40B4-BE49-F238E27FC236}">
                <a16:creationId xmlns:a16="http://schemas.microsoft.com/office/drawing/2014/main" id="{88CDC1D7-4FD0-4195-A1AF-4C326146EAB0}"/>
              </a:ext>
            </a:extLst>
          </p:cNvPr>
          <p:cNvSpPr>
            <a:spLocks noGrp="1"/>
          </p:cNvSpPr>
          <p:nvPr/>
        </p:nvSpPr>
        <p:spPr>
          <a:xfrm rot="5400000" flipH="1">
            <a:off x="12353411" y="8741614"/>
            <a:ext cx="3982064" cy="3982064"/>
          </a:xfrm>
          <a:custGeom>
            <a:avLst/>
            <a:gdLst/>
            <a:ahLst/>
            <a:cxnLst/>
            <a:rect l="l" t="t" r="r" b="b"/>
            <a:pathLst>
              <a:path w="3982064" h="3982064">
                <a:moveTo>
                  <a:pt x="3982064" y="0"/>
                </a:moveTo>
                <a:lnTo>
                  <a:pt x="0" y="0"/>
                </a:lnTo>
                <a:lnTo>
                  <a:pt x="0" y="3982063"/>
                </a:lnTo>
                <a:lnTo>
                  <a:pt x="3982064" y="3982063"/>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8" name="Freeform 8">
            <a:extLst>
              <a:ext uri="{FF2B5EF4-FFF2-40B4-BE49-F238E27FC236}">
                <a16:creationId xmlns:a16="http://schemas.microsoft.com/office/drawing/2014/main" id="{948429BE-2E5A-4451-90BD-54E86F1EB26F}"/>
              </a:ext>
            </a:extLst>
          </p:cNvPr>
          <p:cNvSpPr>
            <a:spLocks noGrp="1"/>
          </p:cNvSpPr>
          <p:nvPr/>
        </p:nvSpPr>
        <p:spPr>
          <a:xfrm rot="5400000" flipH="1">
            <a:off x="16764100" y="2913227"/>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9" name="Freeform 9">
            <a:extLst>
              <a:ext uri="{FF2B5EF4-FFF2-40B4-BE49-F238E27FC236}">
                <a16:creationId xmlns:a16="http://schemas.microsoft.com/office/drawing/2014/main" id="{0195ABBB-607A-4CCA-B630-335157A8279B}"/>
              </a:ext>
            </a:extLst>
          </p:cNvPr>
          <p:cNvSpPr>
            <a:spLocks noGrp="1"/>
          </p:cNvSpPr>
          <p:nvPr/>
        </p:nvSpPr>
        <p:spPr>
          <a:xfrm>
            <a:off x="202212" y="310399"/>
            <a:ext cx="8941788" cy="9624279"/>
          </a:xfrm>
          <a:custGeom>
            <a:avLst/>
            <a:gdLst/>
            <a:ahLst/>
            <a:cxnLst/>
            <a:rect l="l" t="t" r="r" b="b"/>
            <a:pathLst>
              <a:path w="8941788" h="9624279">
                <a:moveTo>
                  <a:pt x="0" y="0"/>
                </a:moveTo>
                <a:lnTo>
                  <a:pt x="8941788" y="0"/>
                </a:lnTo>
                <a:lnTo>
                  <a:pt x="8941788" y="9624280"/>
                </a:lnTo>
                <a:lnTo>
                  <a:pt x="0" y="9624280"/>
                </a:lnTo>
                <a:lnTo>
                  <a:pt x="0" y="0"/>
                </a:lnTo>
                <a:close/>
              </a:path>
            </a:pathLst>
          </a:custGeom>
          <a:blipFill>
            <a:blip r:embed="rId5"/>
            <a:stretch>
              <a:fillRect/>
            </a:stretch>
          </a:blipFill>
        </p:spPr>
        <p:txBody>
          <a:bodyPr/>
          <a:lstStyle/>
          <a:p>
            <a:endParaRPr lang="en-MY"/>
          </a:p>
        </p:txBody>
      </p:sp>
    </p:spTree>
    <p:extLst>
      <p:ext uri="{BB962C8B-B14F-4D97-AF65-F5344CB8AC3E}">
        <p14:creationId xmlns:p14="http://schemas.microsoft.com/office/powerpoint/2010/main" val="172269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F4DBEBB1-A0A4-4299-9A51-6FDB225E5237}"/>
              </a:ext>
            </a:extLst>
          </p:cNvPr>
          <p:cNvSpPr>
            <a:spLocks noGrp="1"/>
          </p:cNvSpPr>
          <p:nvPr/>
        </p:nvSpPr>
        <p:spPr>
          <a:xfrm>
            <a:off x="6331959" y="-1957166"/>
            <a:ext cx="4535131" cy="4535131"/>
          </a:xfrm>
          <a:custGeom>
            <a:avLst/>
            <a:gdLst/>
            <a:ahLst/>
            <a:cxnLst/>
            <a:rect l="l" t="t" r="r" b="b"/>
            <a:pathLst>
              <a:path w="4535131" h="4535131">
                <a:moveTo>
                  <a:pt x="0" y="0"/>
                </a:moveTo>
                <a:lnTo>
                  <a:pt x="4535132" y="0"/>
                </a:lnTo>
                <a:lnTo>
                  <a:pt x="4535132" y="4535131"/>
                </a:lnTo>
                <a:lnTo>
                  <a:pt x="0" y="4535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2ADCDC0F-4781-4275-A633-D4B88641CD20}"/>
              </a:ext>
            </a:extLst>
          </p:cNvPr>
          <p:cNvSpPr>
            <a:spLocks noGrp="1"/>
          </p:cNvSpPr>
          <p:nvPr/>
        </p:nvSpPr>
        <p:spPr>
          <a:xfrm rot="5400000" flipV="1">
            <a:off x="6024338" y="1493973"/>
            <a:ext cx="3982064" cy="3982064"/>
          </a:xfrm>
          <a:custGeom>
            <a:avLst/>
            <a:gdLst/>
            <a:ahLst/>
            <a:cxnLst/>
            <a:rect l="l" t="t" r="r" b="b"/>
            <a:pathLst>
              <a:path w="3982064" h="3982064">
                <a:moveTo>
                  <a:pt x="0" y="3982064"/>
                </a:moveTo>
                <a:lnTo>
                  <a:pt x="3982064" y="3982064"/>
                </a:lnTo>
                <a:lnTo>
                  <a:pt x="3982064" y="0"/>
                </a:lnTo>
                <a:lnTo>
                  <a:pt x="0" y="0"/>
                </a:lnTo>
                <a:lnTo>
                  <a:pt x="0" y="398206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Freeform 4">
            <a:extLst>
              <a:ext uri="{FF2B5EF4-FFF2-40B4-BE49-F238E27FC236}">
                <a16:creationId xmlns:a16="http://schemas.microsoft.com/office/drawing/2014/main" id="{5DAB0BB5-CF67-469D-82DF-7A56BBD16433}"/>
              </a:ext>
            </a:extLst>
          </p:cNvPr>
          <p:cNvSpPr>
            <a:spLocks noGrp="1"/>
          </p:cNvSpPr>
          <p:nvPr/>
        </p:nvSpPr>
        <p:spPr>
          <a:xfrm>
            <a:off x="14373748" y="-2521279"/>
            <a:ext cx="6481928" cy="6481928"/>
          </a:xfrm>
          <a:custGeom>
            <a:avLst/>
            <a:gdLst/>
            <a:ahLst/>
            <a:cxnLst/>
            <a:rect l="l" t="t" r="r" b="b"/>
            <a:pathLst>
              <a:path w="6481928" h="6481928">
                <a:moveTo>
                  <a:pt x="0" y="0"/>
                </a:moveTo>
                <a:lnTo>
                  <a:pt x="6481928" y="0"/>
                </a:lnTo>
                <a:lnTo>
                  <a:pt x="6481928" y="6481928"/>
                </a:lnTo>
                <a:lnTo>
                  <a:pt x="0" y="64819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5" name="Freeform 5">
            <a:extLst>
              <a:ext uri="{FF2B5EF4-FFF2-40B4-BE49-F238E27FC236}">
                <a16:creationId xmlns:a16="http://schemas.microsoft.com/office/drawing/2014/main" id="{88D704F8-E8E9-43E1-97D4-DF185D8FFD08}"/>
              </a:ext>
            </a:extLst>
          </p:cNvPr>
          <p:cNvSpPr>
            <a:spLocks noGrp="1"/>
          </p:cNvSpPr>
          <p:nvPr/>
        </p:nvSpPr>
        <p:spPr>
          <a:xfrm>
            <a:off x="9144000" y="8465080"/>
            <a:ext cx="4535131" cy="4535131"/>
          </a:xfrm>
          <a:custGeom>
            <a:avLst/>
            <a:gdLst/>
            <a:ahLst/>
            <a:cxnLst/>
            <a:rect l="l" t="t" r="r" b="b"/>
            <a:pathLst>
              <a:path w="4535131" h="4535131">
                <a:moveTo>
                  <a:pt x="0" y="0"/>
                </a:moveTo>
                <a:lnTo>
                  <a:pt x="4535131" y="0"/>
                </a:lnTo>
                <a:lnTo>
                  <a:pt x="4535131" y="4535131"/>
                </a:lnTo>
                <a:lnTo>
                  <a:pt x="0" y="4535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6" name="Freeform 6">
            <a:extLst>
              <a:ext uri="{FF2B5EF4-FFF2-40B4-BE49-F238E27FC236}">
                <a16:creationId xmlns:a16="http://schemas.microsoft.com/office/drawing/2014/main" id="{4B3282C7-A3F0-4592-9835-64C7CA75100A}"/>
              </a:ext>
            </a:extLst>
          </p:cNvPr>
          <p:cNvSpPr>
            <a:spLocks noGrp="1"/>
          </p:cNvSpPr>
          <p:nvPr/>
        </p:nvSpPr>
        <p:spPr>
          <a:xfrm rot="5400000" flipH="1">
            <a:off x="12353411" y="8741614"/>
            <a:ext cx="3982064" cy="3982064"/>
          </a:xfrm>
          <a:custGeom>
            <a:avLst/>
            <a:gdLst/>
            <a:ahLst/>
            <a:cxnLst/>
            <a:rect l="l" t="t" r="r" b="b"/>
            <a:pathLst>
              <a:path w="3982064" h="3982064">
                <a:moveTo>
                  <a:pt x="3982064" y="0"/>
                </a:moveTo>
                <a:lnTo>
                  <a:pt x="0" y="0"/>
                </a:lnTo>
                <a:lnTo>
                  <a:pt x="0" y="3982063"/>
                </a:lnTo>
                <a:lnTo>
                  <a:pt x="3982064" y="3982063"/>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7" name="Freeform 7">
            <a:extLst>
              <a:ext uri="{FF2B5EF4-FFF2-40B4-BE49-F238E27FC236}">
                <a16:creationId xmlns:a16="http://schemas.microsoft.com/office/drawing/2014/main" id="{28B162E5-3868-4CB3-9C4E-714A9095C50E}"/>
              </a:ext>
            </a:extLst>
          </p:cNvPr>
          <p:cNvSpPr>
            <a:spLocks noGrp="1"/>
          </p:cNvSpPr>
          <p:nvPr/>
        </p:nvSpPr>
        <p:spPr>
          <a:xfrm rot="5400000" flipH="1">
            <a:off x="16764100" y="2913227"/>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8" name="TextBox 8">
            <a:extLst>
              <a:ext uri="{FF2B5EF4-FFF2-40B4-BE49-F238E27FC236}">
                <a16:creationId xmlns:a16="http://schemas.microsoft.com/office/drawing/2014/main" id="{CA2127A9-E530-42FA-9ED9-A20DBFBAC507}"/>
              </a:ext>
            </a:extLst>
          </p:cNvPr>
          <p:cNvSpPr>
            <a:spLocks noGrp="1"/>
          </p:cNvSpPr>
          <p:nvPr/>
        </p:nvSpPr>
        <p:spPr>
          <a:xfrm>
            <a:off x="359971" y="494533"/>
            <a:ext cx="14326655" cy="906145"/>
          </a:xfrm>
          <a:prstGeom prst="rect">
            <a:avLst/>
          </a:prstGeom>
        </p:spPr>
        <p:txBody>
          <a:bodyPr lIns="0" tIns="0" rIns="0" bIns="0" anchor="t">
            <a:spAutoFit/>
          </a:bodyPr>
          <a:lstStyle/>
          <a:p>
            <a:pPr marL="0" lvl="0" indent="0" algn="l">
              <a:lnSpc>
                <a:spcPts val="6800"/>
              </a:lnSpc>
              <a:spcBef>
                <a:spcPct val="0"/>
              </a:spcBef>
              <a:buNone/>
            </a:pPr>
            <a:r>
              <a:rPr sz="6800">
                <a:solidFill>
                  <a:srgbClr val="000000"/>
                </a:solidFill>
                <a:latin typeface="Hero Bold"/>
                <a:ea typeface="Hero Bold"/>
                <a:cs typeface="Hero Bold"/>
              </a:rPr>
              <a:t>Syste</a:t>
            </a:r>
            <a:r>
              <a:rPr sz="6800" u="none">
                <a:solidFill>
                  <a:srgbClr val="000000"/>
                </a:solidFill>
                <a:latin typeface="Hero Bold"/>
                <a:ea typeface="Hero Bold"/>
                <a:cs typeface="Hero Bold"/>
              </a:rPr>
              <a:t>m architecture design</a:t>
            </a:r>
          </a:p>
        </p:txBody>
      </p:sp>
      <p:sp>
        <p:nvSpPr>
          <p:cNvPr id="11" name="Freeform 11">
            <a:extLst>
              <a:ext uri="{FF2B5EF4-FFF2-40B4-BE49-F238E27FC236}">
                <a16:creationId xmlns:a16="http://schemas.microsoft.com/office/drawing/2014/main" id="{BFB6D815-8E3F-47CE-8AB8-3F393764F080}"/>
              </a:ext>
            </a:extLst>
          </p:cNvPr>
          <p:cNvSpPr>
            <a:spLocks noGrp="1"/>
          </p:cNvSpPr>
          <p:nvPr/>
        </p:nvSpPr>
        <p:spPr>
          <a:xfrm>
            <a:off x="359971" y="2455426"/>
            <a:ext cx="3517397" cy="2142541"/>
          </a:xfrm>
          <a:custGeom>
            <a:avLst/>
            <a:gdLst/>
            <a:ahLst/>
            <a:cxnLst/>
            <a:rect l="l" t="t" r="r" b="b"/>
            <a:pathLst>
              <a:path w="1134576" h="691101">
                <a:moveTo>
                  <a:pt x="53915" y="0"/>
                </a:moveTo>
                <a:lnTo>
                  <a:pt x="1080661" y="0"/>
                </a:lnTo>
                <a:cubicBezTo>
                  <a:pt x="1094961" y="0"/>
                  <a:pt x="1108674" y="5680"/>
                  <a:pt x="1118785" y="15791"/>
                </a:cubicBezTo>
                <a:cubicBezTo>
                  <a:pt x="1128896" y="25902"/>
                  <a:pt x="1134576" y="39616"/>
                  <a:pt x="1134576" y="53915"/>
                </a:cubicBezTo>
                <a:lnTo>
                  <a:pt x="1134576" y="637186"/>
                </a:lnTo>
                <a:cubicBezTo>
                  <a:pt x="1134576" y="666963"/>
                  <a:pt x="1110438" y="691101"/>
                  <a:pt x="1080661" y="691101"/>
                </a:cubicBezTo>
                <a:lnTo>
                  <a:pt x="53915" y="691101"/>
                </a:lnTo>
                <a:cubicBezTo>
                  <a:pt x="24139" y="691101"/>
                  <a:pt x="0" y="666963"/>
                  <a:pt x="0" y="637186"/>
                </a:cubicBezTo>
                <a:lnTo>
                  <a:pt x="0" y="53915"/>
                </a:lnTo>
                <a:cubicBezTo>
                  <a:pt x="0" y="24139"/>
                  <a:pt x="24139" y="0"/>
                  <a:pt x="53915" y="0"/>
                </a:cubicBezTo>
                <a:close/>
              </a:path>
            </a:pathLst>
          </a:custGeom>
          <a:solidFill>
            <a:srgbClr val="F3F3F3"/>
          </a:solidFill>
          <a:ln w="28575">
            <a:solidFill>
              <a:srgbClr val="000000"/>
            </a:solidFill>
            <a:prstDash val="solid"/>
          </a:ln>
        </p:spPr>
        <p:txBody>
          <a:bodyPr/>
          <a:lstStyle/>
          <a:p>
            <a:endParaRPr lang="en-MY"/>
          </a:p>
        </p:txBody>
      </p:sp>
      <p:sp>
        <p:nvSpPr>
          <p:cNvPr id="12" name="TextBox 12">
            <a:extLst>
              <a:ext uri="{FF2B5EF4-FFF2-40B4-BE49-F238E27FC236}">
                <a16:creationId xmlns:a16="http://schemas.microsoft.com/office/drawing/2014/main" id="{6719B4E7-42E6-4DDE-9559-AD9205389039}"/>
              </a:ext>
            </a:extLst>
          </p:cNvPr>
          <p:cNvSpPr>
            <a:spLocks noGrp="1"/>
          </p:cNvSpPr>
          <p:nvPr/>
        </p:nvSpPr>
        <p:spPr>
          <a:xfrm>
            <a:off x="359971" y="2278251"/>
            <a:ext cx="3517397" cy="2319717"/>
          </a:xfrm>
          <a:prstGeom prst="rect">
            <a:avLst/>
          </a:prstGeom>
        </p:spPr>
        <p:txBody>
          <a:bodyPr lIns="50800" tIns="50800" rIns="50800" bIns="50800" anchor="ctr"/>
          <a:lstStyle/>
          <a:p>
            <a:pPr algn="ctr">
              <a:lnSpc>
                <a:spcPts val="3360"/>
              </a:lnSpc>
              <a:buNone/>
            </a:pPr>
            <a:endParaRPr/>
          </a:p>
          <a:p>
            <a:pPr algn="ctr">
              <a:lnSpc>
                <a:spcPts val="3360"/>
              </a:lnSpc>
              <a:buNone/>
            </a:pPr>
            <a:endParaRPr/>
          </a:p>
          <a:p>
            <a:pPr algn="ctr">
              <a:lnSpc>
                <a:spcPts val="3360"/>
              </a:lnSpc>
              <a:buNone/>
            </a:pPr>
            <a:endParaRPr/>
          </a:p>
        </p:txBody>
      </p:sp>
      <p:sp>
        <p:nvSpPr>
          <p:cNvPr id="13" name="TextBox 13">
            <a:extLst>
              <a:ext uri="{FF2B5EF4-FFF2-40B4-BE49-F238E27FC236}">
                <a16:creationId xmlns:a16="http://schemas.microsoft.com/office/drawing/2014/main" id="{65542E7F-348F-49C5-88CE-9574A59F6E32}"/>
              </a:ext>
            </a:extLst>
          </p:cNvPr>
          <p:cNvSpPr>
            <a:spLocks noGrp="1"/>
          </p:cNvSpPr>
          <p:nvPr/>
        </p:nvSpPr>
        <p:spPr>
          <a:xfrm>
            <a:off x="594169" y="2614841"/>
            <a:ext cx="3049000" cy="426878"/>
          </a:xfrm>
          <a:prstGeom prst="rect">
            <a:avLst/>
          </a:prstGeom>
        </p:spPr>
        <p:txBody>
          <a:bodyPr lIns="0" tIns="0" rIns="0" bIns="0" anchor="t">
            <a:spAutoFit/>
          </a:bodyPr>
          <a:lstStyle/>
          <a:p>
            <a:pPr algn="ctr">
              <a:lnSpc>
                <a:spcPts val="3640"/>
              </a:lnSpc>
              <a:spcBef>
                <a:spcPct val="0"/>
              </a:spcBef>
              <a:buNone/>
            </a:pPr>
            <a:r>
              <a:rPr sz="2600" b="1">
                <a:solidFill>
                  <a:srgbClr val="0B0A0A"/>
                </a:solidFill>
                <a:latin typeface="Quicksand Bold"/>
                <a:ea typeface="Quicksand Bold"/>
                <a:cs typeface="Quicksand Bold"/>
              </a:rPr>
              <a:t>Traveller</a:t>
            </a:r>
          </a:p>
        </p:txBody>
      </p:sp>
      <p:sp>
        <p:nvSpPr>
          <p:cNvPr id="14" name="TextBox 14">
            <a:extLst>
              <a:ext uri="{FF2B5EF4-FFF2-40B4-BE49-F238E27FC236}">
                <a16:creationId xmlns:a16="http://schemas.microsoft.com/office/drawing/2014/main" id="{2D847E19-C4A2-45FD-8A67-35A16EE16801}"/>
              </a:ext>
            </a:extLst>
          </p:cNvPr>
          <p:cNvSpPr>
            <a:spLocks noGrp="1"/>
          </p:cNvSpPr>
          <p:nvPr/>
        </p:nvSpPr>
        <p:spPr>
          <a:xfrm>
            <a:off x="594169" y="3148624"/>
            <a:ext cx="3049000" cy="1123529"/>
          </a:xfrm>
          <a:prstGeom prst="rect">
            <a:avLst/>
          </a:prstGeom>
        </p:spPr>
        <p:txBody>
          <a:bodyPr lIns="0" tIns="0" rIns="0" bIns="0" anchor="t">
            <a:spAutoFit/>
          </a:bodyPr>
          <a:lstStyle/>
          <a:p>
            <a:pPr algn="ctr">
              <a:lnSpc>
                <a:spcPts val="3078"/>
              </a:lnSpc>
              <a:buNone/>
            </a:pPr>
            <a:r>
              <a:rPr sz="2199">
                <a:solidFill>
                  <a:srgbClr val="0B0A0A"/>
                </a:solidFill>
                <a:latin typeface="Quicksand"/>
                <a:ea typeface="Quicksand"/>
                <a:cs typeface="Quicksand"/>
              </a:rPr>
              <a:t>Types text, uses speech input or selects a quick answer</a:t>
            </a:r>
          </a:p>
        </p:txBody>
      </p:sp>
      <p:sp>
        <p:nvSpPr>
          <p:cNvPr id="17" name="Freeform 17">
            <a:extLst>
              <a:ext uri="{FF2B5EF4-FFF2-40B4-BE49-F238E27FC236}">
                <a16:creationId xmlns:a16="http://schemas.microsoft.com/office/drawing/2014/main" id="{30417C3B-76E6-4ED4-83CC-C33344B794E9}"/>
              </a:ext>
            </a:extLst>
          </p:cNvPr>
          <p:cNvSpPr>
            <a:spLocks noGrp="1"/>
          </p:cNvSpPr>
          <p:nvPr/>
        </p:nvSpPr>
        <p:spPr>
          <a:xfrm>
            <a:off x="4888975" y="2455426"/>
            <a:ext cx="3565042" cy="2097259"/>
          </a:xfrm>
          <a:custGeom>
            <a:avLst/>
            <a:gdLst/>
            <a:ahLst/>
            <a:cxnLst/>
            <a:rect l="l" t="t" r="r" b="b"/>
            <a:pathLst>
              <a:path w="984571" h="579208">
                <a:moveTo>
                  <a:pt x="62129" y="0"/>
                </a:moveTo>
                <a:lnTo>
                  <a:pt x="922442" y="0"/>
                </a:lnTo>
                <a:cubicBezTo>
                  <a:pt x="956755" y="0"/>
                  <a:pt x="984571" y="27816"/>
                  <a:pt x="984571" y="62129"/>
                </a:cubicBezTo>
                <a:lnTo>
                  <a:pt x="984571" y="517079"/>
                </a:lnTo>
                <a:cubicBezTo>
                  <a:pt x="984571" y="551392"/>
                  <a:pt x="956755" y="579208"/>
                  <a:pt x="922442" y="579208"/>
                </a:cubicBezTo>
                <a:lnTo>
                  <a:pt x="62129" y="579208"/>
                </a:lnTo>
                <a:cubicBezTo>
                  <a:pt x="45652" y="579208"/>
                  <a:pt x="29849" y="572662"/>
                  <a:pt x="18197" y="561011"/>
                </a:cubicBezTo>
                <a:cubicBezTo>
                  <a:pt x="6546" y="549359"/>
                  <a:pt x="0" y="533556"/>
                  <a:pt x="0" y="517079"/>
                </a:cubicBezTo>
                <a:lnTo>
                  <a:pt x="0" y="62129"/>
                </a:lnTo>
                <a:cubicBezTo>
                  <a:pt x="0" y="27816"/>
                  <a:pt x="27816" y="0"/>
                  <a:pt x="62129" y="0"/>
                </a:cubicBezTo>
                <a:close/>
              </a:path>
            </a:pathLst>
          </a:custGeom>
          <a:solidFill>
            <a:srgbClr val="F3F3F3"/>
          </a:solidFill>
          <a:ln w="28575">
            <a:solidFill>
              <a:srgbClr val="000000"/>
            </a:solidFill>
            <a:prstDash val="solid"/>
          </a:ln>
        </p:spPr>
        <p:txBody>
          <a:bodyPr/>
          <a:lstStyle/>
          <a:p>
            <a:endParaRPr lang="en-MY"/>
          </a:p>
        </p:txBody>
      </p:sp>
      <p:sp>
        <p:nvSpPr>
          <p:cNvPr id="18" name="TextBox 18">
            <a:extLst>
              <a:ext uri="{FF2B5EF4-FFF2-40B4-BE49-F238E27FC236}">
                <a16:creationId xmlns:a16="http://schemas.microsoft.com/office/drawing/2014/main" id="{0168B07B-BB37-4558-AF3E-B16C267CAEE1}"/>
              </a:ext>
            </a:extLst>
          </p:cNvPr>
          <p:cNvSpPr>
            <a:spLocks noGrp="1"/>
          </p:cNvSpPr>
          <p:nvPr/>
        </p:nvSpPr>
        <p:spPr>
          <a:xfrm>
            <a:off x="4888975" y="2248492"/>
            <a:ext cx="3565042" cy="2304193"/>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19" name="TextBox 19">
            <a:extLst>
              <a:ext uri="{FF2B5EF4-FFF2-40B4-BE49-F238E27FC236}">
                <a16:creationId xmlns:a16="http://schemas.microsoft.com/office/drawing/2014/main" id="{37B6F125-4155-4B92-BAC8-7E1052C8F9B6}"/>
              </a:ext>
            </a:extLst>
          </p:cNvPr>
          <p:cNvSpPr>
            <a:spLocks noGrp="1"/>
          </p:cNvSpPr>
          <p:nvPr/>
        </p:nvSpPr>
        <p:spPr>
          <a:xfrm>
            <a:off x="5126345" y="2540764"/>
            <a:ext cx="3090300" cy="446834"/>
          </a:xfrm>
          <a:prstGeom prst="rect">
            <a:avLst/>
          </a:prstGeom>
        </p:spPr>
        <p:txBody>
          <a:bodyPr lIns="0" tIns="0" rIns="0" bIns="0" anchor="t">
            <a:spAutoFit/>
          </a:bodyPr>
          <a:lstStyle/>
          <a:p>
            <a:pPr algn="ctr">
              <a:lnSpc>
                <a:spcPts val="3738"/>
              </a:lnSpc>
              <a:spcBef>
                <a:spcPct val="0"/>
              </a:spcBef>
              <a:buNone/>
            </a:pPr>
            <a:r>
              <a:rPr sz="2670" b="1">
                <a:solidFill>
                  <a:srgbClr val="0B0A0A"/>
                </a:solidFill>
                <a:latin typeface="Quicksand Bold"/>
                <a:ea typeface="Quicksand Bold"/>
                <a:cs typeface="Quicksand Bold"/>
              </a:rPr>
              <a:t>Web interface</a:t>
            </a:r>
          </a:p>
        </p:txBody>
      </p:sp>
      <p:sp>
        <p:nvSpPr>
          <p:cNvPr id="20" name="TextBox 20">
            <a:extLst>
              <a:ext uri="{FF2B5EF4-FFF2-40B4-BE49-F238E27FC236}">
                <a16:creationId xmlns:a16="http://schemas.microsoft.com/office/drawing/2014/main" id="{41D81A02-9FFC-4495-A37A-800EF4A0907C}"/>
              </a:ext>
            </a:extLst>
          </p:cNvPr>
          <p:cNvSpPr>
            <a:spLocks noGrp="1"/>
          </p:cNvSpPr>
          <p:nvPr/>
        </p:nvSpPr>
        <p:spPr>
          <a:xfrm>
            <a:off x="5091847" y="3113953"/>
            <a:ext cx="3159298"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Provides accessible controls and recommendation cards</a:t>
            </a:r>
          </a:p>
        </p:txBody>
      </p:sp>
      <p:sp>
        <p:nvSpPr>
          <p:cNvPr id="21" name="AutoShape 21">
            <a:extLst>
              <a:ext uri="{FF2B5EF4-FFF2-40B4-BE49-F238E27FC236}">
                <a16:creationId xmlns:a16="http://schemas.microsoft.com/office/drawing/2014/main" id="{47B49134-76A3-4FDC-AC24-78DD49E626E3}"/>
              </a:ext>
            </a:extLst>
          </p:cNvPr>
          <p:cNvSpPr>
            <a:spLocks noGrp="1"/>
          </p:cNvSpPr>
          <p:nvPr/>
        </p:nvSpPr>
        <p:spPr>
          <a:xfrm>
            <a:off x="3877368" y="3485005"/>
            <a:ext cx="1011607" cy="0"/>
          </a:xfrm>
          <a:prstGeom prst="line">
            <a:avLst/>
          </a:prstGeom>
          <a:ln w="38100">
            <a:solidFill>
              <a:srgbClr val="000000"/>
            </a:solidFill>
            <a:prstDash val="solid"/>
            <a:headEnd type="none" w="sm" len="sm"/>
            <a:tailEnd type="triangle" w="lg" len="med"/>
          </a:ln>
        </p:spPr>
        <p:txBody>
          <a:bodyPr/>
          <a:lstStyle/>
          <a:p>
            <a:endParaRPr lang="en-MY"/>
          </a:p>
        </p:txBody>
      </p:sp>
      <p:sp>
        <p:nvSpPr>
          <p:cNvPr id="24" name="Freeform 24">
            <a:extLst>
              <a:ext uri="{FF2B5EF4-FFF2-40B4-BE49-F238E27FC236}">
                <a16:creationId xmlns:a16="http://schemas.microsoft.com/office/drawing/2014/main" id="{E83B3FEB-11EB-4334-A931-82B09B85851F}"/>
              </a:ext>
            </a:extLst>
          </p:cNvPr>
          <p:cNvSpPr>
            <a:spLocks noGrp="1"/>
          </p:cNvSpPr>
          <p:nvPr/>
        </p:nvSpPr>
        <p:spPr>
          <a:xfrm>
            <a:off x="9467736" y="2430933"/>
            <a:ext cx="3465444" cy="2108146"/>
          </a:xfrm>
          <a:custGeom>
            <a:avLst/>
            <a:gdLst/>
            <a:ahLst/>
            <a:cxnLst/>
            <a:rect l="l" t="t" r="r" b="b"/>
            <a:pathLst>
              <a:path w="957065" h="582215">
                <a:moveTo>
                  <a:pt x="63915" y="0"/>
                </a:moveTo>
                <a:lnTo>
                  <a:pt x="893150" y="0"/>
                </a:lnTo>
                <a:cubicBezTo>
                  <a:pt x="928449" y="0"/>
                  <a:pt x="957065" y="28616"/>
                  <a:pt x="957065" y="63915"/>
                </a:cubicBezTo>
                <a:lnTo>
                  <a:pt x="957065" y="518300"/>
                </a:lnTo>
                <a:cubicBezTo>
                  <a:pt x="957065" y="535251"/>
                  <a:pt x="950331" y="551508"/>
                  <a:pt x="938345" y="563494"/>
                </a:cubicBezTo>
                <a:cubicBezTo>
                  <a:pt x="926358" y="575481"/>
                  <a:pt x="910101" y="582215"/>
                  <a:pt x="893150" y="582215"/>
                </a:cubicBezTo>
                <a:lnTo>
                  <a:pt x="63915" y="582215"/>
                </a:lnTo>
                <a:cubicBezTo>
                  <a:pt x="46964" y="582215"/>
                  <a:pt x="30707" y="575481"/>
                  <a:pt x="18720" y="563494"/>
                </a:cubicBezTo>
                <a:cubicBezTo>
                  <a:pt x="6734" y="551508"/>
                  <a:pt x="0" y="535251"/>
                  <a:pt x="0" y="518300"/>
                </a:cubicBezTo>
                <a:lnTo>
                  <a:pt x="0" y="63915"/>
                </a:lnTo>
                <a:cubicBezTo>
                  <a:pt x="0" y="46964"/>
                  <a:pt x="6734" y="30707"/>
                  <a:pt x="18720" y="18720"/>
                </a:cubicBezTo>
                <a:cubicBezTo>
                  <a:pt x="30707" y="6734"/>
                  <a:pt x="46964" y="0"/>
                  <a:pt x="63915" y="0"/>
                </a:cubicBezTo>
                <a:close/>
              </a:path>
            </a:pathLst>
          </a:custGeom>
          <a:solidFill>
            <a:srgbClr val="F3F3F3"/>
          </a:solidFill>
          <a:ln w="28575">
            <a:solidFill>
              <a:srgbClr val="000000"/>
            </a:solidFill>
            <a:prstDash val="solid"/>
          </a:ln>
        </p:spPr>
        <p:txBody>
          <a:bodyPr/>
          <a:lstStyle/>
          <a:p>
            <a:endParaRPr lang="en-MY"/>
          </a:p>
        </p:txBody>
      </p:sp>
      <p:sp>
        <p:nvSpPr>
          <p:cNvPr id="25" name="TextBox 25">
            <a:extLst>
              <a:ext uri="{FF2B5EF4-FFF2-40B4-BE49-F238E27FC236}">
                <a16:creationId xmlns:a16="http://schemas.microsoft.com/office/drawing/2014/main" id="{43B90ADC-9C9F-41ED-8552-A9A47DCD7BC5}"/>
              </a:ext>
            </a:extLst>
          </p:cNvPr>
          <p:cNvSpPr>
            <a:spLocks noGrp="1"/>
          </p:cNvSpPr>
          <p:nvPr/>
        </p:nvSpPr>
        <p:spPr>
          <a:xfrm>
            <a:off x="9467736" y="2223999"/>
            <a:ext cx="3465444" cy="2315080"/>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26" name="TextBox 26">
            <a:extLst>
              <a:ext uri="{FF2B5EF4-FFF2-40B4-BE49-F238E27FC236}">
                <a16:creationId xmlns:a16="http://schemas.microsoft.com/office/drawing/2014/main" id="{2C6CE4BC-24BC-46FF-B875-D13E9D8BFA53}"/>
              </a:ext>
            </a:extLst>
          </p:cNvPr>
          <p:cNvSpPr>
            <a:spLocks noGrp="1"/>
          </p:cNvSpPr>
          <p:nvPr/>
        </p:nvSpPr>
        <p:spPr>
          <a:xfrm>
            <a:off x="9698475" y="2516271"/>
            <a:ext cx="3003966" cy="446834"/>
          </a:xfrm>
          <a:prstGeom prst="rect">
            <a:avLst/>
          </a:prstGeom>
        </p:spPr>
        <p:txBody>
          <a:bodyPr lIns="0" tIns="0" rIns="0" bIns="0" anchor="t">
            <a:spAutoFit/>
          </a:bodyPr>
          <a:lstStyle/>
          <a:p>
            <a:pPr algn="ctr">
              <a:lnSpc>
                <a:spcPts val="3738"/>
              </a:lnSpc>
              <a:spcBef>
                <a:spcPct val="0"/>
              </a:spcBef>
              <a:buNone/>
            </a:pPr>
            <a:r>
              <a:rPr sz="2670" b="1">
                <a:solidFill>
                  <a:srgbClr val="0B0A0A"/>
                </a:solidFill>
                <a:latin typeface="Quicksand Bold"/>
                <a:ea typeface="Quicksand Bold"/>
                <a:cs typeface="Quicksand Bold"/>
              </a:rPr>
              <a:t>Flask service</a:t>
            </a:r>
          </a:p>
        </p:txBody>
      </p:sp>
      <p:sp>
        <p:nvSpPr>
          <p:cNvPr id="27" name="TextBox 27">
            <a:extLst>
              <a:ext uri="{FF2B5EF4-FFF2-40B4-BE49-F238E27FC236}">
                <a16:creationId xmlns:a16="http://schemas.microsoft.com/office/drawing/2014/main" id="{B3FCD49D-0D9A-464F-9781-DEA399D4B724}"/>
              </a:ext>
            </a:extLst>
          </p:cNvPr>
          <p:cNvSpPr>
            <a:spLocks noGrp="1"/>
          </p:cNvSpPr>
          <p:nvPr/>
        </p:nvSpPr>
        <p:spPr>
          <a:xfrm>
            <a:off x="9664940" y="3089460"/>
            <a:ext cx="3071036"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Validates requests and manage sessions and API endpoints </a:t>
            </a:r>
          </a:p>
        </p:txBody>
      </p:sp>
      <p:sp>
        <p:nvSpPr>
          <p:cNvPr id="28" name="AutoShape 28">
            <a:extLst>
              <a:ext uri="{FF2B5EF4-FFF2-40B4-BE49-F238E27FC236}">
                <a16:creationId xmlns:a16="http://schemas.microsoft.com/office/drawing/2014/main" id="{4B493EFD-4AF2-47E8-8AB1-C605B872BA24}"/>
              </a:ext>
            </a:extLst>
          </p:cNvPr>
          <p:cNvSpPr>
            <a:spLocks noGrp="1"/>
          </p:cNvSpPr>
          <p:nvPr/>
        </p:nvSpPr>
        <p:spPr>
          <a:xfrm>
            <a:off x="8454017" y="3504055"/>
            <a:ext cx="1011607" cy="0"/>
          </a:xfrm>
          <a:prstGeom prst="line">
            <a:avLst/>
          </a:prstGeom>
          <a:ln w="38100">
            <a:solidFill>
              <a:srgbClr val="000000"/>
            </a:solidFill>
            <a:prstDash val="solid"/>
            <a:headEnd type="none" w="sm" len="sm"/>
            <a:tailEnd type="triangle" w="lg" len="med"/>
          </a:ln>
        </p:spPr>
        <p:txBody>
          <a:bodyPr/>
          <a:lstStyle/>
          <a:p>
            <a:endParaRPr lang="en-MY"/>
          </a:p>
        </p:txBody>
      </p:sp>
      <p:sp>
        <p:nvSpPr>
          <p:cNvPr id="29" name="AutoShape 29">
            <a:extLst>
              <a:ext uri="{FF2B5EF4-FFF2-40B4-BE49-F238E27FC236}">
                <a16:creationId xmlns:a16="http://schemas.microsoft.com/office/drawing/2014/main" id="{CF843AED-FC7E-41C8-BDED-42A9D0D31393}"/>
              </a:ext>
            </a:extLst>
          </p:cNvPr>
          <p:cNvSpPr>
            <a:spLocks noGrp="1"/>
          </p:cNvSpPr>
          <p:nvPr/>
        </p:nvSpPr>
        <p:spPr>
          <a:xfrm>
            <a:off x="12933180" y="3504055"/>
            <a:ext cx="1011607" cy="0"/>
          </a:xfrm>
          <a:prstGeom prst="line">
            <a:avLst/>
          </a:prstGeom>
          <a:ln w="38100">
            <a:solidFill>
              <a:srgbClr val="000000"/>
            </a:solidFill>
            <a:prstDash val="solid"/>
            <a:headEnd type="none" w="sm" len="sm"/>
            <a:tailEnd type="triangle" w="lg" len="med"/>
          </a:ln>
        </p:spPr>
        <p:txBody>
          <a:bodyPr/>
          <a:lstStyle/>
          <a:p>
            <a:endParaRPr lang="en-MY"/>
          </a:p>
        </p:txBody>
      </p:sp>
      <p:sp>
        <p:nvSpPr>
          <p:cNvPr id="32" name="Freeform 32">
            <a:extLst>
              <a:ext uri="{FF2B5EF4-FFF2-40B4-BE49-F238E27FC236}">
                <a16:creationId xmlns:a16="http://schemas.microsoft.com/office/drawing/2014/main" id="{20B955ED-1A48-40E6-9726-8C0E92B36CA0}"/>
              </a:ext>
            </a:extLst>
          </p:cNvPr>
          <p:cNvSpPr>
            <a:spLocks noGrp="1"/>
          </p:cNvSpPr>
          <p:nvPr/>
        </p:nvSpPr>
        <p:spPr>
          <a:xfrm>
            <a:off x="13944787" y="2430933"/>
            <a:ext cx="3892292" cy="2079689"/>
          </a:xfrm>
          <a:custGeom>
            <a:avLst/>
            <a:gdLst/>
            <a:ahLst/>
            <a:cxnLst/>
            <a:rect l="l" t="t" r="r" b="b"/>
            <a:pathLst>
              <a:path w="1074949" h="574356">
                <a:moveTo>
                  <a:pt x="56906" y="0"/>
                </a:moveTo>
                <a:lnTo>
                  <a:pt x="1018044" y="0"/>
                </a:lnTo>
                <a:cubicBezTo>
                  <a:pt x="1033136" y="0"/>
                  <a:pt x="1047610" y="5995"/>
                  <a:pt x="1058282" y="16667"/>
                </a:cubicBezTo>
                <a:cubicBezTo>
                  <a:pt x="1068954" y="27339"/>
                  <a:pt x="1074949" y="41813"/>
                  <a:pt x="1074949" y="56906"/>
                </a:cubicBezTo>
                <a:lnTo>
                  <a:pt x="1074949" y="517450"/>
                </a:lnTo>
                <a:cubicBezTo>
                  <a:pt x="1074949" y="548878"/>
                  <a:pt x="1049472" y="574356"/>
                  <a:pt x="1018044" y="574356"/>
                </a:cubicBezTo>
                <a:lnTo>
                  <a:pt x="56906" y="574356"/>
                </a:lnTo>
                <a:cubicBezTo>
                  <a:pt x="25478" y="574356"/>
                  <a:pt x="0" y="548878"/>
                  <a:pt x="0" y="517450"/>
                </a:cubicBezTo>
                <a:lnTo>
                  <a:pt x="0" y="56906"/>
                </a:lnTo>
                <a:cubicBezTo>
                  <a:pt x="0" y="25478"/>
                  <a:pt x="25478" y="0"/>
                  <a:pt x="56906" y="0"/>
                </a:cubicBezTo>
                <a:close/>
              </a:path>
            </a:pathLst>
          </a:custGeom>
          <a:solidFill>
            <a:srgbClr val="F3F3F3"/>
          </a:solidFill>
          <a:ln w="28575">
            <a:solidFill>
              <a:srgbClr val="000000"/>
            </a:solidFill>
            <a:prstDash val="solid"/>
          </a:ln>
        </p:spPr>
        <p:txBody>
          <a:bodyPr/>
          <a:lstStyle/>
          <a:p>
            <a:endParaRPr lang="en-MY"/>
          </a:p>
        </p:txBody>
      </p:sp>
      <p:sp>
        <p:nvSpPr>
          <p:cNvPr id="33" name="TextBox 33">
            <a:extLst>
              <a:ext uri="{FF2B5EF4-FFF2-40B4-BE49-F238E27FC236}">
                <a16:creationId xmlns:a16="http://schemas.microsoft.com/office/drawing/2014/main" id="{8CB6821E-3D95-4B31-9798-FB92FE6FD712}"/>
              </a:ext>
            </a:extLst>
          </p:cNvPr>
          <p:cNvSpPr>
            <a:spLocks noGrp="1"/>
          </p:cNvSpPr>
          <p:nvPr/>
        </p:nvSpPr>
        <p:spPr>
          <a:xfrm>
            <a:off x="13944787" y="2223999"/>
            <a:ext cx="3892292" cy="2286623"/>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34" name="TextBox 34">
            <a:extLst>
              <a:ext uri="{FF2B5EF4-FFF2-40B4-BE49-F238E27FC236}">
                <a16:creationId xmlns:a16="http://schemas.microsoft.com/office/drawing/2014/main" id="{DDCD2D3E-611F-439F-889B-626C271DE3F7}"/>
              </a:ext>
            </a:extLst>
          </p:cNvPr>
          <p:cNvSpPr>
            <a:spLocks noGrp="1"/>
          </p:cNvSpPr>
          <p:nvPr/>
        </p:nvSpPr>
        <p:spPr>
          <a:xfrm>
            <a:off x="14203946" y="2516271"/>
            <a:ext cx="3373972" cy="446834"/>
          </a:xfrm>
          <a:prstGeom prst="rect">
            <a:avLst/>
          </a:prstGeom>
        </p:spPr>
        <p:txBody>
          <a:bodyPr lIns="0" tIns="0" rIns="0" bIns="0" anchor="t">
            <a:spAutoFit/>
          </a:bodyPr>
          <a:lstStyle/>
          <a:p>
            <a:pPr algn="ctr">
              <a:lnSpc>
                <a:spcPts val="3738"/>
              </a:lnSpc>
              <a:spcBef>
                <a:spcPct val="0"/>
              </a:spcBef>
              <a:buNone/>
            </a:pPr>
            <a:r>
              <a:rPr sz="2670" b="1">
                <a:solidFill>
                  <a:srgbClr val="0B0A0A"/>
                </a:solidFill>
                <a:latin typeface="Quicksand Bold"/>
                <a:ea typeface="Quicksand Bold"/>
                <a:cs typeface="Quicksand Bold"/>
              </a:rPr>
              <a:t>NLP and dialogue</a:t>
            </a:r>
          </a:p>
        </p:txBody>
      </p:sp>
      <p:sp>
        <p:nvSpPr>
          <p:cNvPr id="35" name="TextBox 35">
            <a:extLst>
              <a:ext uri="{FF2B5EF4-FFF2-40B4-BE49-F238E27FC236}">
                <a16:creationId xmlns:a16="http://schemas.microsoft.com/office/drawing/2014/main" id="{A0BE94E9-16B7-4384-9E4D-5F3EE5FB36D1}"/>
              </a:ext>
            </a:extLst>
          </p:cNvPr>
          <p:cNvSpPr>
            <a:spLocks noGrp="1"/>
          </p:cNvSpPr>
          <p:nvPr/>
        </p:nvSpPr>
        <p:spPr>
          <a:xfrm>
            <a:off x="14166281" y="3089459"/>
            <a:ext cx="3449303"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Handles intents, entities, context, clarification, and correction</a:t>
            </a:r>
          </a:p>
        </p:txBody>
      </p:sp>
      <p:sp>
        <p:nvSpPr>
          <p:cNvPr id="36" name="AutoShape 36">
            <a:extLst>
              <a:ext uri="{FF2B5EF4-FFF2-40B4-BE49-F238E27FC236}">
                <a16:creationId xmlns:a16="http://schemas.microsoft.com/office/drawing/2014/main" id="{7624D0F9-0A90-4773-8A72-B41D6C5BA90D}"/>
              </a:ext>
            </a:extLst>
          </p:cNvPr>
          <p:cNvSpPr>
            <a:spLocks noGrp="1"/>
          </p:cNvSpPr>
          <p:nvPr/>
        </p:nvSpPr>
        <p:spPr>
          <a:xfrm>
            <a:off x="15909983" y="4510622"/>
            <a:ext cx="0" cy="1011607"/>
          </a:xfrm>
          <a:prstGeom prst="line">
            <a:avLst/>
          </a:prstGeom>
          <a:ln w="38100">
            <a:solidFill>
              <a:srgbClr val="000000"/>
            </a:solidFill>
            <a:prstDash val="solid"/>
            <a:headEnd type="none" w="sm" len="sm"/>
            <a:tailEnd type="triangle" w="lg" len="med"/>
          </a:ln>
        </p:spPr>
        <p:txBody>
          <a:bodyPr/>
          <a:lstStyle/>
          <a:p>
            <a:endParaRPr lang="en-MY"/>
          </a:p>
        </p:txBody>
      </p:sp>
      <p:sp>
        <p:nvSpPr>
          <p:cNvPr id="39" name="Freeform 39">
            <a:extLst>
              <a:ext uri="{FF2B5EF4-FFF2-40B4-BE49-F238E27FC236}">
                <a16:creationId xmlns:a16="http://schemas.microsoft.com/office/drawing/2014/main" id="{448327ED-90EA-41CB-A783-A30F083EB23A}"/>
              </a:ext>
            </a:extLst>
          </p:cNvPr>
          <p:cNvSpPr>
            <a:spLocks noGrp="1"/>
          </p:cNvSpPr>
          <p:nvPr/>
        </p:nvSpPr>
        <p:spPr>
          <a:xfrm>
            <a:off x="13963837" y="5586273"/>
            <a:ext cx="3892292" cy="1980091"/>
          </a:xfrm>
          <a:custGeom>
            <a:avLst/>
            <a:gdLst/>
            <a:ahLst/>
            <a:cxnLst/>
            <a:rect l="l" t="t" r="r" b="b"/>
            <a:pathLst>
              <a:path w="1074949" h="546849">
                <a:moveTo>
                  <a:pt x="56906" y="0"/>
                </a:moveTo>
                <a:lnTo>
                  <a:pt x="1018044" y="0"/>
                </a:lnTo>
                <a:cubicBezTo>
                  <a:pt x="1033136" y="0"/>
                  <a:pt x="1047610" y="5995"/>
                  <a:pt x="1058282" y="16667"/>
                </a:cubicBezTo>
                <a:cubicBezTo>
                  <a:pt x="1068954" y="27339"/>
                  <a:pt x="1074949" y="41813"/>
                  <a:pt x="1074949" y="56906"/>
                </a:cubicBezTo>
                <a:lnTo>
                  <a:pt x="1074949" y="489944"/>
                </a:lnTo>
                <a:cubicBezTo>
                  <a:pt x="1074949" y="521372"/>
                  <a:pt x="1049472" y="546849"/>
                  <a:pt x="1018044" y="546849"/>
                </a:cubicBezTo>
                <a:lnTo>
                  <a:pt x="56906" y="546849"/>
                </a:lnTo>
                <a:cubicBezTo>
                  <a:pt x="25478" y="546849"/>
                  <a:pt x="0" y="521372"/>
                  <a:pt x="0" y="489944"/>
                </a:cubicBezTo>
                <a:lnTo>
                  <a:pt x="0" y="56906"/>
                </a:lnTo>
                <a:cubicBezTo>
                  <a:pt x="0" y="25478"/>
                  <a:pt x="25478" y="0"/>
                  <a:pt x="56906" y="0"/>
                </a:cubicBezTo>
                <a:close/>
              </a:path>
            </a:pathLst>
          </a:custGeom>
          <a:solidFill>
            <a:srgbClr val="F3F3F3"/>
          </a:solidFill>
          <a:ln w="28575">
            <a:solidFill>
              <a:srgbClr val="000000"/>
            </a:solidFill>
            <a:prstDash val="solid"/>
          </a:ln>
        </p:spPr>
        <p:txBody>
          <a:bodyPr/>
          <a:lstStyle/>
          <a:p>
            <a:endParaRPr lang="en-MY"/>
          </a:p>
        </p:txBody>
      </p:sp>
      <p:sp>
        <p:nvSpPr>
          <p:cNvPr id="40" name="TextBox 40">
            <a:extLst>
              <a:ext uri="{FF2B5EF4-FFF2-40B4-BE49-F238E27FC236}">
                <a16:creationId xmlns:a16="http://schemas.microsoft.com/office/drawing/2014/main" id="{0F54D08E-AF7A-4CB4-A01F-EDB462442CD6}"/>
              </a:ext>
            </a:extLst>
          </p:cNvPr>
          <p:cNvSpPr>
            <a:spLocks noGrp="1"/>
          </p:cNvSpPr>
          <p:nvPr/>
        </p:nvSpPr>
        <p:spPr>
          <a:xfrm>
            <a:off x="13963837" y="5379338"/>
            <a:ext cx="3892292" cy="2187026"/>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41" name="TextBox 41">
            <a:extLst>
              <a:ext uri="{FF2B5EF4-FFF2-40B4-BE49-F238E27FC236}">
                <a16:creationId xmlns:a16="http://schemas.microsoft.com/office/drawing/2014/main" id="{BBD27404-3AAD-4DC9-B446-73FFFDF2D036}"/>
              </a:ext>
            </a:extLst>
          </p:cNvPr>
          <p:cNvSpPr>
            <a:spLocks noGrp="1"/>
          </p:cNvSpPr>
          <p:nvPr/>
        </p:nvSpPr>
        <p:spPr>
          <a:xfrm>
            <a:off x="14222996" y="5671611"/>
            <a:ext cx="3373972" cy="446834"/>
          </a:xfrm>
          <a:prstGeom prst="rect">
            <a:avLst/>
          </a:prstGeom>
        </p:spPr>
        <p:txBody>
          <a:bodyPr lIns="0" tIns="0" rIns="0" bIns="0" anchor="t">
            <a:spAutoFit/>
          </a:bodyPr>
          <a:lstStyle/>
          <a:p>
            <a:pPr algn="ctr">
              <a:lnSpc>
                <a:spcPts val="3738"/>
              </a:lnSpc>
              <a:spcBef>
                <a:spcPct val="0"/>
              </a:spcBef>
              <a:buNone/>
            </a:pPr>
            <a:r>
              <a:rPr sz="2670" b="1">
                <a:solidFill>
                  <a:srgbClr val="0B0A0A"/>
                </a:solidFill>
                <a:latin typeface="Quicksand Bold"/>
                <a:ea typeface="Quicksand Bold"/>
                <a:cs typeface="Quicksand Bold"/>
              </a:rPr>
              <a:t>Hybrid retrieval</a:t>
            </a:r>
          </a:p>
        </p:txBody>
      </p:sp>
      <p:sp>
        <p:nvSpPr>
          <p:cNvPr id="42" name="TextBox 42">
            <a:extLst>
              <a:ext uri="{FF2B5EF4-FFF2-40B4-BE49-F238E27FC236}">
                <a16:creationId xmlns:a16="http://schemas.microsoft.com/office/drawing/2014/main" id="{80EBC836-D66A-46C2-98B8-BEA26FD8B5B4}"/>
              </a:ext>
            </a:extLst>
          </p:cNvPr>
          <p:cNvSpPr>
            <a:spLocks noGrp="1"/>
          </p:cNvSpPr>
          <p:nvPr/>
        </p:nvSpPr>
        <p:spPr>
          <a:xfrm>
            <a:off x="14071504" y="6244800"/>
            <a:ext cx="3691184"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Combines structured filters, FTS5, and adaptive semantic ranking</a:t>
            </a:r>
          </a:p>
        </p:txBody>
      </p:sp>
      <p:sp>
        <p:nvSpPr>
          <p:cNvPr id="45" name="Freeform 45">
            <a:extLst>
              <a:ext uri="{FF2B5EF4-FFF2-40B4-BE49-F238E27FC236}">
                <a16:creationId xmlns:a16="http://schemas.microsoft.com/office/drawing/2014/main" id="{693029BF-1EC5-489D-8773-EA3F12173860}"/>
              </a:ext>
            </a:extLst>
          </p:cNvPr>
          <p:cNvSpPr>
            <a:spLocks noGrp="1"/>
          </p:cNvSpPr>
          <p:nvPr/>
        </p:nvSpPr>
        <p:spPr>
          <a:xfrm>
            <a:off x="9465419" y="5571287"/>
            <a:ext cx="3892292" cy="2138865"/>
          </a:xfrm>
          <a:custGeom>
            <a:avLst/>
            <a:gdLst/>
            <a:ahLst/>
            <a:cxnLst/>
            <a:rect l="l" t="t" r="r" b="b"/>
            <a:pathLst>
              <a:path w="1074949" h="590699">
                <a:moveTo>
                  <a:pt x="56906" y="0"/>
                </a:moveTo>
                <a:lnTo>
                  <a:pt x="1018044" y="0"/>
                </a:lnTo>
                <a:cubicBezTo>
                  <a:pt x="1033136" y="0"/>
                  <a:pt x="1047610" y="5995"/>
                  <a:pt x="1058282" y="16667"/>
                </a:cubicBezTo>
                <a:cubicBezTo>
                  <a:pt x="1068954" y="27339"/>
                  <a:pt x="1074949" y="41813"/>
                  <a:pt x="1074949" y="56906"/>
                </a:cubicBezTo>
                <a:lnTo>
                  <a:pt x="1074949" y="533793"/>
                </a:lnTo>
                <a:cubicBezTo>
                  <a:pt x="1074949" y="565221"/>
                  <a:pt x="1049472" y="590699"/>
                  <a:pt x="1018044" y="590699"/>
                </a:cubicBezTo>
                <a:lnTo>
                  <a:pt x="56906" y="590699"/>
                </a:lnTo>
                <a:cubicBezTo>
                  <a:pt x="41813" y="590699"/>
                  <a:pt x="27339" y="584703"/>
                  <a:pt x="16667" y="574031"/>
                </a:cubicBezTo>
                <a:cubicBezTo>
                  <a:pt x="5995" y="563359"/>
                  <a:pt x="0" y="548885"/>
                  <a:pt x="0" y="533793"/>
                </a:cubicBezTo>
                <a:lnTo>
                  <a:pt x="0" y="56906"/>
                </a:lnTo>
                <a:cubicBezTo>
                  <a:pt x="0" y="25478"/>
                  <a:pt x="25478" y="0"/>
                  <a:pt x="56906" y="0"/>
                </a:cubicBezTo>
                <a:close/>
              </a:path>
            </a:pathLst>
          </a:custGeom>
          <a:solidFill>
            <a:srgbClr val="F3F3F3"/>
          </a:solidFill>
          <a:ln w="28575">
            <a:solidFill>
              <a:srgbClr val="000000"/>
            </a:solidFill>
            <a:prstDash val="solid"/>
          </a:ln>
        </p:spPr>
        <p:txBody>
          <a:bodyPr/>
          <a:lstStyle/>
          <a:p>
            <a:endParaRPr lang="en-MY"/>
          </a:p>
        </p:txBody>
      </p:sp>
      <p:sp>
        <p:nvSpPr>
          <p:cNvPr id="46" name="TextBox 46">
            <a:extLst>
              <a:ext uri="{FF2B5EF4-FFF2-40B4-BE49-F238E27FC236}">
                <a16:creationId xmlns:a16="http://schemas.microsoft.com/office/drawing/2014/main" id="{E64D6EFE-0A41-45D9-A2AF-2BD3ABC2F233}"/>
              </a:ext>
            </a:extLst>
          </p:cNvPr>
          <p:cNvSpPr>
            <a:spLocks noGrp="1"/>
          </p:cNvSpPr>
          <p:nvPr/>
        </p:nvSpPr>
        <p:spPr>
          <a:xfrm>
            <a:off x="9465419" y="5364353"/>
            <a:ext cx="3892292" cy="2345799"/>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47" name="TextBox 47">
            <a:extLst>
              <a:ext uri="{FF2B5EF4-FFF2-40B4-BE49-F238E27FC236}">
                <a16:creationId xmlns:a16="http://schemas.microsoft.com/office/drawing/2014/main" id="{08933AAB-B46F-4796-9AB1-CBB72FED7B41}"/>
              </a:ext>
            </a:extLst>
          </p:cNvPr>
          <p:cNvSpPr>
            <a:spLocks noGrp="1"/>
          </p:cNvSpPr>
          <p:nvPr/>
        </p:nvSpPr>
        <p:spPr>
          <a:xfrm>
            <a:off x="9472533" y="5784680"/>
            <a:ext cx="3863887" cy="446834"/>
          </a:xfrm>
          <a:prstGeom prst="rect">
            <a:avLst/>
          </a:prstGeom>
        </p:spPr>
        <p:txBody>
          <a:bodyPr lIns="0" tIns="0" rIns="0" bIns="0" anchor="t">
            <a:spAutoFit/>
          </a:bodyPr>
          <a:lstStyle/>
          <a:p>
            <a:pPr algn="ctr">
              <a:lnSpc>
                <a:spcPts val="3738"/>
              </a:lnSpc>
              <a:spcBef>
                <a:spcPct val="0"/>
              </a:spcBef>
              <a:buNone/>
            </a:pPr>
            <a:r>
              <a:rPr sz="2670" b="1">
                <a:solidFill>
                  <a:srgbClr val="0B0A0A"/>
                </a:solidFill>
                <a:latin typeface="Quicksand Bold"/>
                <a:ea typeface="Quicksand Bold"/>
                <a:cs typeface="Quicksand Bold"/>
              </a:rPr>
              <a:t>SQLite knowledge base</a:t>
            </a:r>
          </a:p>
        </p:txBody>
      </p:sp>
      <p:sp>
        <p:nvSpPr>
          <p:cNvPr id="48" name="TextBox 48">
            <a:extLst>
              <a:ext uri="{FF2B5EF4-FFF2-40B4-BE49-F238E27FC236}">
                <a16:creationId xmlns:a16="http://schemas.microsoft.com/office/drawing/2014/main" id="{19C1C6B9-3F60-4A29-A253-6DBEA52BF48C}"/>
              </a:ext>
            </a:extLst>
          </p:cNvPr>
          <p:cNvSpPr>
            <a:spLocks noGrp="1"/>
          </p:cNvSpPr>
          <p:nvPr/>
        </p:nvSpPr>
        <p:spPr>
          <a:xfrm>
            <a:off x="9573086" y="6288989"/>
            <a:ext cx="3664247"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Stores 430 attractions, 66 reviewed accessibility records and 43 attributes</a:t>
            </a:r>
          </a:p>
        </p:txBody>
      </p:sp>
      <p:sp>
        <p:nvSpPr>
          <p:cNvPr id="49" name="AutoShape 49">
            <a:extLst>
              <a:ext uri="{FF2B5EF4-FFF2-40B4-BE49-F238E27FC236}">
                <a16:creationId xmlns:a16="http://schemas.microsoft.com/office/drawing/2014/main" id="{0A339A48-3219-4C67-88B8-DB083093ADCC}"/>
              </a:ext>
            </a:extLst>
          </p:cNvPr>
          <p:cNvSpPr>
            <a:spLocks noGrp="1"/>
          </p:cNvSpPr>
          <p:nvPr/>
        </p:nvSpPr>
        <p:spPr>
          <a:xfrm flipH="1">
            <a:off x="13364850" y="6626118"/>
            <a:ext cx="598987" cy="0"/>
          </a:xfrm>
          <a:prstGeom prst="line">
            <a:avLst/>
          </a:prstGeom>
          <a:ln w="38100">
            <a:solidFill>
              <a:srgbClr val="000000"/>
            </a:solidFill>
            <a:prstDash val="solid"/>
            <a:headEnd type="none" w="sm" len="sm"/>
            <a:tailEnd type="triangle" w="lg" len="med"/>
          </a:ln>
        </p:spPr>
        <p:txBody>
          <a:bodyPr/>
          <a:lstStyle/>
          <a:p>
            <a:endParaRPr lang="en-MY"/>
          </a:p>
        </p:txBody>
      </p:sp>
      <p:sp>
        <p:nvSpPr>
          <p:cNvPr id="50" name="AutoShape 50">
            <a:extLst>
              <a:ext uri="{FF2B5EF4-FFF2-40B4-BE49-F238E27FC236}">
                <a16:creationId xmlns:a16="http://schemas.microsoft.com/office/drawing/2014/main" id="{9D6E5E5B-9CE9-4BC4-BDCD-A4C809DA35EC}"/>
              </a:ext>
            </a:extLst>
          </p:cNvPr>
          <p:cNvSpPr>
            <a:spLocks noGrp="1"/>
          </p:cNvSpPr>
          <p:nvPr/>
        </p:nvSpPr>
        <p:spPr>
          <a:xfrm flipH="1">
            <a:off x="8498417" y="6659770"/>
            <a:ext cx="1011607" cy="0"/>
          </a:xfrm>
          <a:prstGeom prst="line">
            <a:avLst/>
          </a:prstGeom>
          <a:ln w="38100">
            <a:solidFill>
              <a:srgbClr val="000000"/>
            </a:solidFill>
            <a:prstDash val="solid"/>
            <a:headEnd type="none" w="sm" len="sm"/>
            <a:tailEnd type="triangle" w="lg" len="med"/>
          </a:ln>
        </p:spPr>
        <p:txBody>
          <a:bodyPr/>
          <a:lstStyle/>
          <a:p>
            <a:endParaRPr lang="en-MY"/>
          </a:p>
        </p:txBody>
      </p:sp>
      <p:sp>
        <p:nvSpPr>
          <p:cNvPr id="53" name="Freeform 53">
            <a:extLst>
              <a:ext uri="{FF2B5EF4-FFF2-40B4-BE49-F238E27FC236}">
                <a16:creationId xmlns:a16="http://schemas.microsoft.com/office/drawing/2014/main" id="{C743595F-C424-4B3C-8716-44E02F955BE5}"/>
              </a:ext>
            </a:extLst>
          </p:cNvPr>
          <p:cNvSpPr>
            <a:spLocks noGrp="1"/>
          </p:cNvSpPr>
          <p:nvPr/>
        </p:nvSpPr>
        <p:spPr>
          <a:xfrm>
            <a:off x="4791092" y="5573550"/>
            <a:ext cx="3707325" cy="2136602"/>
          </a:xfrm>
          <a:custGeom>
            <a:avLst/>
            <a:gdLst/>
            <a:ahLst/>
            <a:cxnLst/>
            <a:rect l="l" t="t" r="r" b="b"/>
            <a:pathLst>
              <a:path w="1023866" h="590074">
                <a:moveTo>
                  <a:pt x="59745" y="0"/>
                </a:moveTo>
                <a:lnTo>
                  <a:pt x="964121" y="0"/>
                </a:lnTo>
                <a:cubicBezTo>
                  <a:pt x="979967" y="0"/>
                  <a:pt x="995163" y="6295"/>
                  <a:pt x="1006367" y="17499"/>
                </a:cubicBezTo>
                <a:cubicBezTo>
                  <a:pt x="1017572" y="28703"/>
                  <a:pt x="1023866" y="43900"/>
                  <a:pt x="1023866" y="59745"/>
                </a:cubicBezTo>
                <a:lnTo>
                  <a:pt x="1023866" y="530329"/>
                </a:lnTo>
                <a:cubicBezTo>
                  <a:pt x="1023866" y="563325"/>
                  <a:pt x="997117" y="590074"/>
                  <a:pt x="964121" y="590074"/>
                </a:cubicBezTo>
                <a:lnTo>
                  <a:pt x="59745" y="590074"/>
                </a:lnTo>
                <a:cubicBezTo>
                  <a:pt x="43900" y="590074"/>
                  <a:pt x="28703" y="583779"/>
                  <a:pt x="17499" y="572575"/>
                </a:cubicBezTo>
                <a:cubicBezTo>
                  <a:pt x="6295" y="561370"/>
                  <a:pt x="0" y="546174"/>
                  <a:pt x="0" y="530329"/>
                </a:cubicBezTo>
                <a:lnTo>
                  <a:pt x="0" y="59745"/>
                </a:lnTo>
                <a:cubicBezTo>
                  <a:pt x="0" y="26749"/>
                  <a:pt x="26749" y="0"/>
                  <a:pt x="59745" y="0"/>
                </a:cubicBezTo>
                <a:close/>
              </a:path>
            </a:pathLst>
          </a:custGeom>
          <a:solidFill>
            <a:srgbClr val="F3F3F3"/>
          </a:solidFill>
          <a:ln w="28575">
            <a:solidFill>
              <a:srgbClr val="000000"/>
            </a:solidFill>
            <a:prstDash val="solid"/>
          </a:ln>
        </p:spPr>
        <p:txBody>
          <a:bodyPr/>
          <a:lstStyle/>
          <a:p>
            <a:endParaRPr lang="en-MY"/>
          </a:p>
        </p:txBody>
      </p:sp>
      <p:sp>
        <p:nvSpPr>
          <p:cNvPr id="54" name="TextBox 54">
            <a:extLst>
              <a:ext uri="{FF2B5EF4-FFF2-40B4-BE49-F238E27FC236}">
                <a16:creationId xmlns:a16="http://schemas.microsoft.com/office/drawing/2014/main" id="{69B022D9-C212-4AE8-A9CA-0ADEF1C819E2}"/>
              </a:ext>
            </a:extLst>
          </p:cNvPr>
          <p:cNvSpPr>
            <a:spLocks noGrp="1"/>
          </p:cNvSpPr>
          <p:nvPr/>
        </p:nvSpPr>
        <p:spPr>
          <a:xfrm>
            <a:off x="4791092" y="5366616"/>
            <a:ext cx="3707325" cy="2343536"/>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55" name="TextBox 55">
            <a:extLst>
              <a:ext uri="{FF2B5EF4-FFF2-40B4-BE49-F238E27FC236}">
                <a16:creationId xmlns:a16="http://schemas.microsoft.com/office/drawing/2014/main" id="{B4B94D2D-F39B-423E-AAAF-4C2C8AC16FBA}"/>
              </a:ext>
            </a:extLst>
          </p:cNvPr>
          <p:cNvSpPr>
            <a:spLocks noGrp="1"/>
          </p:cNvSpPr>
          <p:nvPr/>
        </p:nvSpPr>
        <p:spPr>
          <a:xfrm>
            <a:off x="5037936" y="5658888"/>
            <a:ext cx="3371480" cy="446834"/>
          </a:xfrm>
          <a:prstGeom prst="rect">
            <a:avLst/>
          </a:prstGeom>
        </p:spPr>
        <p:txBody>
          <a:bodyPr wrap="square" lIns="0" tIns="0" rIns="0" bIns="0" anchor="t">
            <a:spAutoFit/>
          </a:bodyPr>
          <a:lstStyle/>
          <a:p>
            <a:pPr algn="ctr">
              <a:lnSpc>
                <a:spcPts val="3738"/>
              </a:lnSpc>
              <a:spcBef>
                <a:spcPct val="0"/>
              </a:spcBef>
              <a:buNone/>
            </a:pPr>
            <a:r>
              <a:rPr sz="2670" b="1" dirty="0">
                <a:solidFill>
                  <a:srgbClr val="0B0A0A"/>
                </a:solidFill>
                <a:latin typeface="Quicksand Bold"/>
                <a:ea typeface="Quicksand Bold"/>
                <a:cs typeface="Quicksand Bold"/>
              </a:rPr>
              <a:t>Grounded response</a:t>
            </a:r>
          </a:p>
        </p:txBody>
      </p:sp>
      <p:sp>
        <p:nvSpPr>
          <p:cNvPr id="56" name="TextBox 56">
            <a:extLst>
              <a:ext uri="{FF2B5EF4-FFF2-40B4-BE49-F238E27FC236}">
                <a16:creationId xmlns:a16="http://schemas.microsoft.com/office/drawing/2014/main" id="{C5E4E7D8-689F-4185-905B-A806D057215C}"/>
              </a:ext>
            </a:extLst>
          </p:cNvPr>
          <p:cNvSpPr>
            <a:spLocks noGrp="1"/>
          </p:cNvSpPr>
          <p:nvPr/>
        </p:nvSpPr>
        <p:spPr>
          <a:xfrm>
            <a:off x="4893643" y="6232076"/>
            <a:ext cx="3515773"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Builds recommendation reasons, limitations, sources, and speech</a:t>
            </a:r>
          </a:p>
        </p:txBody>
      </p:sp>
      <p:sp>
        <p:nvSpPr>
          <p:cNvPr id="57" name="AutoShape 57">
            <a:extLst>
              <a:ext uri="{FF2B5EF4-FFF2-40B4-BE49-F238E27FC236}">
                <a16:creationId xmlns:a16="http://schemas.microsoft.com/office/drawing/2014/main" id="{4F1B452E-F297-4328-BB4A-29D1F99BEE9F}"/>
              </a:ext>
            </a:extLst>
          </p:cNvPr>
          <p:cNvSpPr>
            <a:spLocks noGrp="1"/>
          </p:cNvSpPr>
          <p:nvPr/>
        </p:nvSpPr>
        <p:spPr>
          <a:xfrm flipH="1">
            <a:off x="4111439" y="6626118"/>
            <a:ext cx="670128" cy="0"/>
          </a:xfrm>
          <a:prstGeom prst="line">
            <a:avLst/>
          </a:prstGeom>
          <a:ln w="38100">
            <a:solidFill>
              <a:srgbClr val="000000"/>
            </a:solidFill>
            <a:prstDash val="solid"/>
            <a:headEnd type="none" w="sm" len="sm"/>
            <a:tailEnd type="triangle" w="lg" len="med"/>
          </a:ln>
        </p:spPr>
        <p:txBody>
          <a:bodyPr/>
          <a:lstStyle/>
          <a:p>
            <a:endParaRPr lang="en-MY"/>
          </a:p>
        </p:txBody>
      </p:sp>
      <p:sp>
        <p:nvSpPr>
          <p:cNvPr id="60" name="Freeform 60">
            <a:extLst>
              <a:ext uri="{FF2B5EF4-FFF2-40B4-BE49-F238E27FC236}">
                <a16:creationId xmlns:a16="http://schemas.microsoft.com/office/drawing/2014/main" id="{1EE0B170-BE9E-46FE-B15C-A24E0293E139}"/>
              </a:ext>
            </a:extLst>
          </p:cNvPr>
          <p:cNvSpPr>
            <a:spLocks noGrp="1"/>
          </p:cNvSpPr>
          <p:nvPr/>
        </p:nvSpPr>
        <p:spPr>
          <a:xfrm>
            <a:off x="359971" y="5522228"/>
            <a:ext cx="3707325" cy="2221972"/>
          </a:xfrm>
          <a:custGeom>
            <a:avLst/>
            <a:gdLst/>
            <a:ahLst/>
            <a:cxnLst/>
            <a:rect l="l" t="t" r="r" b="b"/>
            <a:pathLst>
              <a:path w="1023866" h="613650">
                <a:moveTo>
                  <a:pt x="59745" y="0"/>
                </a:moveTo>
                <a:lnTo>
                  <a:pt x="964121" y="0"/>
                </a:lnTo>
                <a:cubicBezTo>
                  <a:pt x="979967" y="0"/>
                  <a:pt x="995163" y="6295"/>
                  <a:pt x="1006367" y="17499"/>
                </a:cubicBezTo>
                <a:cubicBezTo>
                  <a:pt x="1017572" y="28703"/>
                  <a:pt x="1023866" y="43900"/>
                  <a:pt x="1023866" y="59745"/>
                </a:cubicBezTo>
                <a:lnTo>
                  <a:pt x="1023866" y="553906"/>
                </a:lnTo>
                <a:cubicBezTo>
                  <a:pt x="1023866" y="586902"/>
                  <a:pt x="997117" y="613650"/>
                  <a:pt x="964121" y="613650"/>
                </a:cubicBezTo>
                <a:lnTo>
                  <a:pt x="59745" y="613650"/>
                </a:lnTo>
                <a:cubicBezTo>
                  <a:pt x="26749" y="613650"/>
                  <a:pt x="0" y="586902"/>
                  <a:pt x="0" y="553906"/>
                </a:cubicBezTo>
                <a:lnTo>
                  <a:pt x="0" y="59745"/>
                </a:lnTo>
                <a:cubicBezTo>
                  <a:pt x="0" y="26749"/>
                  <a:pt x="26749" y="0"/>
                  <a:pt x="59745" y="0"/>
                </a:cubicBezTo>
                <a:close/>
              </a:path>
            </a:pathLst>
          </a:custGeom>
          <a:solidFill>
            <a:srgbClr val="F3F3F3"/>
          </a:solidFill>
          <a:ln w="28575">
            <a:solidFill>
              <a:srgbClr val="000000"/>
            </a:solidFill>
            <a:prstDash val="solid"/>
          </a:ln>
        </p:spPr>
        <p:txBody>
          <a:bodyPr/>
          <a:lstStyle/>
          <a:p>
            <a:endParaRPr lang="en-MY"/>
          </a:p>
        </p:txBody>
      </p:sp>
      <p:sp>
        <p:nvSpPr>
          <p:cNvPr id="61" name="TextBox 61">
            <a:extLst>
              <a:ext uri="{FF2B5EF4-FFF2-40B4-BE49-F238E27FC236}">
                <a16:creationId xmlns:a16="http://schemas.microsoft.com/office/drawing/2014/main" id="{3F844E47-50B4-40F5-84C7-BC721385042E}"/>
              </a:ext>
            </a:extLst>
          </p:cNvPr>
          <p:cNvSpPr>
            <a:spLocks noGrp="1"/>
          </p:cNvSpPr>
          <p:nvPr/>
        </p:nvSpPr>
        <p:spPr>
          <a:xfrm>
            <a:off x="359971" y="5315293"/>
            <a:ext cx="3707325" cy="2428907"/>
          </a:xfrm>
          <a:prstGeom prst="rect">
            <a:avLst/>
          </a:prstGeom>
        </p:spPr>
        <p:txBody>
          <a:bodyPr lIns="50800" tIns="50800" rIns="50800" bIns="50800" anchor="ctr"/>
          <a:lstStyle/>
          <a:p>
            <a:pPr algn="ctr">
              <a:lnSpc>
                <a:spcPts val="3359"/>
              </a:lnSpc>
              <a:buNone/>
            </a:pPr>
            <a:endParaRPr/>
          </a:p>
          <a:p>
            <a:pPr algn="ctr">
              <a:lnSpc>
                <a:spcPts val="3359"/>
              </a:lnSpc>
              <a:buNone/>
            </a:pPr>
            <a:endParaRPr/>
          </a:p>
          <a:p>
            <a:pPr algn="ctr">
              <a:lnSpc>
                <a:spcPts val="3359"/>
              </a:lnSpc>
              <a:buNone/>
            </a:pPr>
            <a:endParaRPr/>
          </a:p>
        </p:txBody>
      </p:sp>
      <p:sp>
        <p:nvSpPr>
          <p:cNvPr id="62" name="TextBox 62">
            <a:extLst>
              <a:ext uri="{FF2B5EF4-FFF2-40B4-BE49-F238E27FC236}">
                <a16:creationId xmlns:a16="http://schemas.microsoft.com/office/drawing/2014/main" id="{E9569E5E-265E-4764-B4A2-0BC351600A5D}"/>
              </a:ext>
            </a:extLst>
          </p:cNvPr>
          <p:cNvSpPr>
            <a:spLocks noGrp="1"/>
          </p:cNvSpPr>
          <p:nvPr/>
        </p:nvSpPr>
        <p:spPr>
          <a:xfrm>
            <a:off x="606815" y="5607566"/>
            <a:ext cx="3213636" cy="446834"/>
          </a:xfrm>
          <a:prstGeom prst="rect">
            <a:avLst/>
          </a:prstGeom>
        </p:spPr>
        <p:txBody>
          <a:bodyPr lIns="0" tIns="0" rIns="0" bIns="0" anchor="t">
            <a:spAutoFit/>
          </a:bodyPr>
          <a:lstStyle/>
          <a:p>
            <a:pPr algn="ctr">
              <a:lnSpc>
                <a:spcPts val="3738"/>
              </a:lnSpc>
              <a:spcBef>
                <a:spcPct val="0"/>
              </a:spcBef>
              <a:buNone/>
            </a:pPr>
            <a:r>
              <a:rPr sz="2670" b="1">
                <a:solidFill>
                  <a:srgbClr val="0B0A0A"/>
                </a:solidFill>
                <a:latin typeface="Quicksand Bold"/>
                <a:ea typeface="Quicksand Bold"/>
                <a:cs typeface="Quicksand Bold"/>
              </a:rPr>
              <a:t>Displayed reply</a:t>
            </a:r>
          </a:p>
        </p:txBody>
      </p:sp>
      <p:sp>
        <p:nvSpPr>
          <p:cNvPr id="63" name="TextBox 63">
            <a:extLst>
              <a:ext uri="{FF2B5EF4-FFF2-40B4-BE49-F238E27FC236}">
                <a16:creationId xmlns:a16="http://schemas.microsoft.com/office/drawing/2014/main" id="{7DAAC604-FA56-4EB4-8635-BDB4263B1FB5}"/>
              </a:ext>
            </a:extLst>
          </p:cNvPr>
          <p:cNvSpPr>
            <a:spLocks noGrp="1"/>
          </p:cNvSpPr>
          <p:nvPr/>
        </p:nvSpPr>
        <p:spPr>
          <a:xfrm>
            <a:off x="462522" y="6180755"/>
            <a:ext cx="3515773" cy="1174939"/>
          </a:xfrm>
          <a:prstGeom prst="rect">
            <a:avLst/>
          </a:prstGeom>
        </p:spPr>
        <p:txBody>
          <a:bodyPr lIns="0" tIns="0" rIns="0" bIns="0" anchor="t">
            <a:spAutoFit/>
          </a:bodyPr>
          <a:lstStyle/>
          <a:p>
            <a:pPr algn="ctr">
              <a:lnSpc>
                <a:spcPts val="3204"/>
              </a:lnSpc>
              <a:buNone/>
            </a:pPr>
            <a:r>
              <a:rPr sz="2288">
                <a:solidFill>
                  <a:srgbClr val="0B0A0A"/>
                </a:solidFill>
                <a:latin typeface="Quicksand"/>
                <a:ea typeface="Quicksand"/>
                <a:cs typeface="Quicksand"/>
              </a:rPr>
              <a:t>Shows the conversation, images, read-aloud audio and refinements</a:t>
            </a:r>
          </a:p>
        </p:txBody>
      </p:sp>
    </p:spTree>
    <p:extLst>
      <p:ext uri="{BB962C8B-B14F-4D97-AF65-F5344CB8AC3E}">
        <p14:creationId xmlns:p14="http://schemas.microsoft.com/office/powerpoint/2010/main" val="100888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6" name="Freeform 6">
            <a:extLst>
              <a:ext uri="{FF2B5EF4-FFF2-40B4-BE49-F238E27FC236}">
                <a16:creationId xmlns:a16="http://schemas.microsoft.com/office/drawing/2014/main" id="{6ED93D03-211C-4664-8D77-24B075892D3C}"/>
              </a:ext>
            </a:extLst>
          </p:cNvPr>
          <p:cNvSpPr>
            <a:spLocks noGrp="1"/>
          </p:cNvSpPr>
          <p:nvPr/>
        </p:nvSpPr>
        <p:spPr>
          <a:xfrm>
            <a:off x="15324077" y="2660850"/>
            <a:ext cx="4546192" cy="4546192"/>
          </a:xfrm>
          <a:custGeom>
            <a:avLst/>
            <a:gdLst/>
            <a:ahLst/>
            <a:cxnLst/>
            <a:rect l="l" t="t" r="r" b="b"/>
            <a:pathLst>
              <a:path w="4546192" h="4546192">
                <a:moveTo>
                  <a:pt x="0" y="0"/>
                </a:moveTo>
                <a:lnTo>
                  <a:pt x="4546192" y="0"/>
                </a:lnTo>
                <a:lnTo>
                  <a:pt x="4546192" y="4546192"/>
                </a:lnTo>
                <a:lnTo>
                  <a:pt x="0" y="45461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49" name="Rectangle 48">
            <a:extLst>
              <a:ext uri="{FF2B5EF4-FFF2-40B4-BE49-F238E27FC236}">
                <a16:creationId xmlns:a16="http://schemas.microsoft.com/office/drawing/2014/main" id="{2EFAA67A-E0C4-4420-705F-F2E2655980CB}"/>
              </a:ext>
            </a:extLst>
          </p:cNvPr>
          <p:cNvSpPr/>
          <p:nvPr/>
        </p:nvSpPr>
        <p:spPr>
          <a:xfrm>
            <a:off x="15068550" y="2667520"/>
            <a:ext cx="2314739" cy="22664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Rectangle 46">
            <a:extLst>
              <a:ext uri="{FF2B5EF4-FFF2-40B4-BE49-F238E27FC236}">
                <a16:creationId xmlns:a16="http://schemas.microsoft.com/office/drawing/2014/main" id="{23025185-A385-89C6-55E1-7725826D22B2}"/>
              </a:ext>
            </a:extLst>
          </p:cNvPr>
          <p:cNvSpPr/>
          <p:nvPr/>
        </p:nvSpPr>
        <p:spPr>
          <a:xfrm>
            <a:off x="12153736" y="2667521"/>
            <a:ext cx="2314739" cy="22664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a:extLst>
              <a:ext uri="{FF2B5EF4-FFF2-40B4-BE49-F238E27FC236}">
                <a16:creationId xmlns:a16="http://schemas.microsoft.com/office/drawing/2014/main" id="{51D32AD1-7204-5AFE-0EB1-BB311531B6E3}"/>
              </a:ext>
            </a:extLst>
          </p:cNvPr>
          <p:cNvSpPr/>
          <p:nvPr/>
        </p:nvSpPr>
        <p:spPr>
          <a:xfrm>
            <a:off x="9258218" y="2650926"/>
            <a:ext cx="2314739" cy="22664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10">
            <a:extLst>
              <a:ext uri="{FF2B5EF4-FFF2-40B4-BE49-F238E27FC236}">
                <a16:creationId xmlns:a16="http://schemas.microsoft.com/office/drawing/2014/main" id="{1B30366F-679D-6718-2693-75821CBA44EC}"/>
              </a:ext>
            </a:extLst>
          </p:cNvPr>
          <p:cNvSpPr/>
          <p:nvPr/>
        </p:nvSpPr>
        <p:spPr>
          <a:xfrm>
            <a:off x="6450422" y="2650926"/>
            <a:ext cx="2314739" cy="22664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BC8BA181-7435-3330-4B34-4773B46BB710}"/>
              </a:ext>
            </a:extLst>
          </p:cNvPr>
          <p:cNvSpPr/>
          <p:nvPr/>
        </p:nvSpPr>
        <p:spPr>
          <a:xfrm>
            <a:off x="3613846" y="2650926"/>
            <a:ext cx="2314739" cy="22664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Freeform 14">
            <a:extLst>
              <a:ext uri="{FF2B5EF4-FFF2-40B4-BE49-F238E27FC236}">
                <a16:creationId xmlns:a16="http://schemas.microsoft.com/office/drawing/2014/main" id="{46209BA7-217E-44D0-BA38-FDE8644B874A}"/>
              </a:ext>
            </a:extLst>
          </p:cNvPr>
          <p:cNvSpPr>
            <a:spLocks noGrp="1"/>
          </p:cNvSpPr>
          <p:nvPr/>
        </p:nvSpPr>
        <p:spPr>
          <a:xfrm rot="5400000">
            <a:off x="-4373434" y="2811520"/>
            <a:ext cx="5718695" cy="5718695"/>
          </a:xfrm>
          <a:custGeom>
            <a:avLst/>
            <a:gdLst/>
            <a:ahLst/>
            <a:cxnLst/>
            <a:rect l="l" t="t" r="r" b="b"/>
            <a:pathLst>
              <a:path w="5718695" h="5718695">
                <a:moveTo>
                  <a:pt x="0" y="0"/>
                </a:moveTo>
                <a:lnTo>
                  <a:pt x="5718695" y="0"/>
                </a:lnTo>
                <a:lnTo>
                  <a:pt x="5718695" y="5718695"/>
                </a:lnTo>
                <a:lnTo>
                  <a:pt x="0" y="57186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D86F1612-91DA-492B-9966-B3325A4EFA39}"/>
              </a:ext>
            </a:extLst>
          </p:cNvPr>
          <p:cNvSpPr>
            <a:spLocks noGrp="1"/>
          </p:cNvSpPr>
          <p:nvPr/>
        </p:nvSpPr>
        <p:spPr>
          <a:xfrm>
            <a:off x="-2904044" y="-2379573"/>
            <a:ext cx="6537235" cy="6537235"/>
          </a:xfrm>
          <a:custGeom>
            <a:avLst/>
            <a:gdLst/>
            <a:ahLst/>
            <a:cxnLst/>
            <a:rect l="l" t="t" r="r" b="b"/>
            <a:pathLst>
              <a:path w="6537235" h="6537235">
                <a:moveTo>
                  <a:pt x="0" y="0"/>
                </a:moveTo>
                <a:lnTo>
                  <a:pt x="6537234" y="0"/>
                </a:lnTo>
                <a:lnTo>
                  <a:pt x="6537234" y="6537234"/>
                </a:lnTo>
                <a:lnTo>
                  <a:pt x="0" y="65372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dirty="0"/>
          </a:p>
        </p:txBody>
      </p:sp>
      <p:sp>
        <p:nvSpPr>
          <p:cNvPr id="2" name="Freeform 2">
            <a:extLst>
              <a:ext uri="{FF2B5EF4-FFF2-40B4-BE49-F238E27FC236}">
                <a16:creationId xmlns:a16="http://schemas.microsoft.com/office/drawing/2014/main" id="{A030662B-BECC-4C9B-9F78-8CF381B8D6CE}"/>
              </a:ext>
            </a:extLst>
          </p:cNvPr>
          <p:cNvSpPr>
            <a:spLocks noGrp="1"/>
          </p:cNvSpPr>
          <p:nvPr/>
        </p:nvSpPr>
        <p:spPr>
          <a:xfrm rot="5400000">
            <a:off x="1911869" y="-3667970"/>
            <a:ext cx="5718695" cy="5718695"/>
          </a:xfrm>
          <a:custGeom>
            <a:avLst/>
            <a:gdLst/>
            <a:ahLst/>
            <a:cxnLst/>
            <a:rect l="l" t="t" r="r" b="b"/>
            <a:pathLst>
              <a:path w="5718695" h="5718695">
                <a:moveTo>
                  <a:pt x="0" y="0"/>
                </a:moveTo>
                <a:lnTo>
                  <a:pt x="5718695" y="0"/>
                </a:lnTo>
                <a:lnTo>
                  <a:pt x="5718695" y="5718695"/>
                </a:lnTo>
                <a:lnTo>
                  <a:pt x="0" y="57186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7" name="Rectangle 6">
            <a:extLst>
              <a:ext uri="{FF2B5EF4-FFF2-40B4-BE49-F238E27FC236}">
                <a16:creationId xmlns:a16="http://schemas.microsoft.com/office/drawing/2014/main" id="{45E1BFC8-0708-0D75-161A-1CA88ABFA83B}"/>
              </a:ext>
            </a:extLst>
          </p:cNvPr>
          <p:cNvSpPr/>
          <p:nvPr/>
        </p:nvSpPr>
        <p:spPr>
          <a:xfrm>
            <a:off x="748145" y="2660850"/>
            <a:ext cx="2314739" cy="22664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Freeform 4">
            <a:extLst>
              <a:ext uri="{FF2B5EF4-FFF2-40B4-BE49-F238E27FC236}">
                <a16:creationId xmlns:a16="http://schemas.microsoft.com/office/drawing/2014/main" id="{7B684970-75CA-452A-BAFE-C26C87F14D9C}"/>
              </a:ext>
            </a:extLst>
          </p:cNvPr>
          <p:cNvSpPr>
            <a:spLocks noGrp="1"/>
          </p:cNvSpPr>
          <p:nvPr/>
        </p:nvSpPr>
        <p:spPr>
          <a:xfrm>
            <a:off x="5875383" y="7119860"/>
            <a:ext cx="6537235" cy="6537235"/>
          </a:xfrm>
          <a:custGeom>
            <a:avLst/>
            <a:gdLst/>
            <a:ahLst/>
            <a:cxnLst/>
            <a:rect l="l" t="t" r="r" b="b"/>
            <a:pathLst>
              <a:path w="6537235" h="6537235">
                <a:moveTo>
                  <a:pt x="0" y="0"/>
                </a:moveTo>
                <a:lnTo>
                  <a:pt x="6537234" y="0"/>
                </a:lnTo>
                <a:lnTo>
                  <a:pt x="6537234" y="6537235"/>
                </a:lnTo>
                <a:lnTo>
                  <a:pt x="0" y="65372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5" name="Freeform 5">
            <a:extLst>
              <a:ext uri="{FF2B5EF4-FFF2-40B4-BE49-F238E27FC236}">
                <a16:creationId xmlns:a16="http://schemas.microsoft.com/office/drawing/2014/main" id="{4FCF774C-F069-4065-BFC4-306B36312107}"/>
              </a:ext>
            </a:extLst>
          </p:cNvPr>
          <p:cNvSpPr>
            <a:spLocks noGrp="1"/>
          </p:cNvSpPr>
          <p:nvPr/>
        </p:nvSpPr>
        <p:spPr>
          <a:xfrm rot="5400000" flipH="1">
            <a:off x="14178720" y="6250954"/>
            <a:ext cx="7422142" cy="7422142"/>
          </a:xfrm>
          <a:custGeom>
            <a:avLst/>
            <a:gdLst/>
            <a:ahLst/>
            <a:cxnLst/>
            <a:rect l="l" t="t" r="r" b="b"/>
            <a:pathLst>
              <a:path w="7422142" h="7422142">
                <a:moveTo>
                  <a:pt x="7422143" y="0"/>
                </a:moveTo>
                <a:lnTo>
                  <a:pt x="0" y="0"/>
                </a:lnTo>
                <a:lnTo>
                  <a:pt x="0" y="7422143"/>
                </a:lnTo>
                <a:lnTo>
                  <a:pt x="7422143" y="7422143"/>
                </a:lnTo>
                <a:lnTo>
                  <a:pt x="742214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5" name="Rectangle 14">
            <a:extLst>
              <a:ext uri="{FF2B5EF4-FFF2-40B4-BE49-F238E27FC236}">
                <a16:creationId xmlns:a16="http://schemas.microsoft.com/office/drawing/2014/main" id="{8D35BF1F-0AFB-4F65-A257-46F83F1BE978}"/>
              </a:ext>
            </a:extLst>
          </p:cNvPr>
          <p:cNvSpPr>
            <a:spLocks noGrp="1"/>
          </p:cNvSpPr>
          <p:nvPr/>
        </p:nvSpPr>
        <p:spPr>
          <a:xfrm>
            <a:off x="876300" y="533400"/>
            <a:ext cx="16002000" cy="1000125"/>
          </a:xfrm>
          <a:prstGeom prst="rect">
            <a:avLst/>
          </a:prstGeom>
          <a:noFill/>
          <a:ln w="0">
            <a:noFill/>
          </a:ln>
        </p:spPr>
        <p:txBody>
          <a:bodyPr anchor="ctr">
            <a:normAutofit/>
          </a:bodyPr>
          <a:lstStyle/>
          <a:p>
            <a:pPr algn="l">
              <a:defRPr sz="4650" b="1">
                <a:solidFill>
                  <a:srgbClr val="000000"/>
                </a:solidFill>
                <a:latin typeface="Hero Bold"/>
                <a:ea typeface="Hero Bold"/>
                <a:cs typeface="Hero Bold"/>
              </a:defRPr>
            </a:pPr>
            <a:r>
              <a:rPr sz="4650" b="1" dirty="0">
                <a:solidFill>
                  <a:srgbClr val="000000"/>
                </a:solidFill>
                <a:latin typeface="Hero Bold"/>
                <a:ea typeface="Hero Bold"/>
                <a:cs typeface="Hero Bold"/>
              </a:rPr>
              <a:t>NLP and recommendation process</a:t>
            </a:r>
          </a:p>
        </p:txBody>
      </p:sp>
      <p:sp>
        <p:nvSpPr>
          <p:cNvPr id="16" name="Rectangle 15">
            <a:extLst>
              <a:ext uri="{FF2B5EF4-FFF2-40B4-BE49-F238E27FC236}">
                <a16:creationId xmlns:a16="http://schemas.microsoft.com/office/drawing/2014/main" id="{E63DC8A4-CCAC-4F2E-BB42-5E82FC8689A1}"/>
              </a:ext>
            </a:extLst>
          </p:cNvPr>
          <p:cNvSpPr>
            <a:spLocks noGrp="1"/>
          </p:cNvSpPr>
          <p:nvPr/>
        </p:nvSpPr>
        <p:spPr>
          <a:xfrm>
            <a:off x="895350" y="1524000"/>
            <a:ext cx="14382750" cy="495300"/>
          </a:xfrm>
          <a:prstGeom prst="rect">
            <a:avLst/>
          </a:prstGeom>
          <a:noFill/>
          <a:ln w="0">
            <a:noFill/>
          </a:ln>
        </p:spPr>
        <p:txBody>
          <a:bodyPr anchor="ctr">
            <a:normAutofit/>
          </a:bodyPr>
          <a:lstStyle/>
          <a:p>
            <a:pPr algn="l">
              <a:defRPr sz="2250" b="1">
                <a:solidFill>
                  <a:srgbClr val="000000"/>
                </a:solidFill>
                <a:latin typeface="Hero Bold"/>
                <a:ea typeface="Hero Bold"/>
                <a:cs typeface="Hero Bold"/>
              </a:defRPr>
            </a:pPr>
            <a:r>
              <a:rPr sz="2250" b="1" dirty="0">
                <a:solidFill>
                  <a:srgbClr val="000000"/>
                </a:solidFill>
                <a:latin typeface="Hero Bold"/>
                <a:ea typeface="Hero Bold"/>
                <a:cs typeface="Hero Bold"/>
              </a:rPr>
              <a:t>A controlled pipeline turns a message into an evidence-based reply</a:t>
            </a:r>
          </a:p>
        </p:txBody>
      </p:sp>
      <p:sp>
        <p:nvSpPr>
          <p:cNvPr id="17" name="Rectangle 16">
            <a:extLst>
              <a:ext uri="{FF2B5EF4-FFF2-40B4-BE49-F238E27FC236}">
                <a16:creationId xmlns:a16="http://schemas.microsoft.com/office/drawing/2014/main" id="{6A17416D-9741-499F-9E84-9C88418B3464}"/>
              </a:ext>
            </a:extLst>
          </p:cNvPr>
          <p:cNvSpPr>
            <a:spLocks noGrp="1"/>
          </p:cNvSpPr>
          <p:nvPr/>
        </p:nvSpPr>
        <p:spPr>
          <a:xfrm>
            <a:off x="876300" y="2714625"/>
            <a:ext cx="523875" cy="381000"/>
          </a:xfrm>
          <a:prstGeom prst="rect">
            <a:avLst/>
          </a:prstGeom>
          <a:noFill/>
          <a:ln w="0">
            <a:noFill/>
          </a:ln>
        </p:spPr>
        <p:txBody>
          <a:bodyPr anchor="ctr">
            <a:normAutofit/>
          </a:bodyPr>
          <a:lstStyle/>
          <a:p>
            <a:pPr algn="l">
              <a:defRPr sz="1500" b="1">
                <a:solidFill>
                  <a:srgbClr val="117C89"/>
                </a:solidFill>
                <a:latin typeface="Hero Bold"/>
                <a:ea typeface="Hero Bold"/>
                <a:cs typeface="Hero Bold"/>
              </a:defRPr>
            </a:pPr>
            <a:r>
              <a:rPr sz="1500" b="1">
                <a:solidFill>
                  <a:srgbClr val="117C89"/>
                </a:solidFill>
                <a:latin typeface="Hero Bold"/>
                <a:ea typeface="Hero Bold"/>
                <a:cs typeface="Hero Bold"/>
              </a:rPr>
              <a:t>01</a:t>
            </a:r>
          </a:p>
        </p:txBody>
      </p:sp>
      <p:sp>
        <p:nvSpPr>
          <p:cNvPr id="18" name="Rectangle 17">
            <a:extLst>
              <a:ext uri="{FF2B5EF4-FFF2-40B4-BE49-F238E27FC236}">
                <a16:creationId xmlns:a16="http://schemas.microsoft.com/office/drawing/2014/main" id="{2E2FB0EB-B53F-4473-B799-6F9DA80FA4F7}"/>
              </a:ext>
            </a:extLst>
          </p:cNvPr>
          <p:cNvSpPr>
            <a:spLocks noGrp="1"/>
          </p:cNvSpPr>
          <p:nvPr/>
        </p:nvSpPr>
        <p:spPr>
          <a:xfrm>
            <a:off x="876300" y="3143250"/>
            <a:ext cx="2238375" cy="571500"/>
          </a:xfrm>
          <a:prstGeom prst="rect">
            <a:avLst/>
          </a:prstGeom>
          <a:noFill/>
          <a:ln w="0">
            <a:noFill/>
          </a:ln>
        </p:spPr>
        <p:txBody>
          <a:bodyPr anchor="ctr">
            <a:normAutofit fontScale="92500"/>
          </a:bodyPr>
          <a:lstStyle/>
          <a:p>
            <a:pPr algn="l">
              <a:defRPr sz="2250" b="1">
                <a:solidFill>
                  <a:srgbClr val="000000"/>
                </a:solidFill>
                <a:latin typeface="Hero Bold"/>
                <a:ea typeface="Hero Bold"/>
                <a:cs typeface="Hero Bold"/>
              </a:defRPr>
            </a:pPr>
            <a:r>
              <a:rPr sz="2250" b="1" dirty="0">
                <a:solidFill>
                  <a:srgbClr val="000000"/>
                </a:solidFill>
                <a:latin typeface="Hero Bold"/>
                <a:ea typeface="Hero Bold"/>
                <a:cs typeface="Hero Bold"/>
              </a:rPr>
              <a:t>User message</a:t>
            </a:r>
          </a:p>
        </p:txBody>
      </p:sp>
      <p:sp>
        <p:nvSpPr>
          <p:cNvPr id="19" name="Rectangle 18">
            <a:extLst>
              <a:ext uri="{FF2B5EF4-FFF2-40B4-BE49-F238E27FC236}">
                <a16:creationId xmlns:a16="http://schemas.microsoft.com/office/drawing/2014/main" id="{0A4BFC4E-F912-496C-9290-829C00D76584}"/>
              </a:ext>
            </a:extLst>
          </p:cNvPr>
          <p:cNvSpPr>
            <a:spLocks noGrp="1"/>
          </p:cNvSpPr>
          <p:nvPr/>
        </p:nvSpPr>
        <p:spPr>
          <a:xfrm>
            <a:off x="876300" y="3857625"/>
            <a:ext cx="2238375" cy="1238250"/>
          </a:xfrm>
          <a:prstGeom prst="rect">
            <a:avLst/>
          </a:prstGeom>
          <a:noFill/>
          <a:ln w="0">
            <a:noFill/>
          </a:ln>
        </p:spPr>
        <p:txBody>
          <a:bodyPr anchor="ctr">
            <a:normAutofit/>
          </a:bodyPr>
          <a:lstStyle/>
          <a:p>
            <a:pPr algn="l">
              <a:defRPr sz="1725" b="0">
                <a:solidFill>
                  <a:srgbClr val="30434B"/>
                </a:solidFill>
                <a:latin typeface="Quicksand"/>
                <a:ea typeface="Quicksand"/>
                <a:cs typeface="Quicksand"/>
              </a:defRPr>
            </a:pPr>
            <a:r>
              <a:rPr sz="1725" b="0" dirty="0">
                <a:solidFill>
                  <a:srgbClr val="30434B"/>
                </a:solidFill>
                <a:latin typeface="Quicksand"/>
                <a:ea typeface="Quicksand"/>
                <a:cs typeface="Quicksand"/>
              </a:rPr>
              <a:t>Typed, spoken or selected</a:t>
            </a:r>
          </a:p>
        </p:txBody>
      </p:sp>
      <p:sp>
        <p:nvSpPr>
          <p:cNvPr id="20" name="Arrow: Right 19">
            <a:extLst>
              <a:ext uri="{FF2B5EF4-FFF2-40B4-BE49-F238E27FC236}">
                <a16:creationId xmlns:a16="http://schemas.microsoft.com/office/drawing/2014/main" id="{687C0FA6-5A98-48A5-BE84-4B7643316CB8}"/>
              </a:ext>
            </a:extLst>
          </p:cNvPr>
          <p:cNvSpPr>
            <a:spLocks noGrp="1"/>
          </p:cNvSpPr>
          <p:nvPr/>
        </p:nvSpPr>
        <p:spPr>
          <a:xfrm>
            <a:off x="3162300" y="3314700"/>
            <a:ext cx="419100" cy="323850"/>
          </a:xfrm>
          <a:prstGeom prst="rightArrow">
            <a:avLst/>
          </a:prstGeom>
          <a:solidFill>
            <a:srgbClr val="000000"/>
          </a:solidFill>
          <a:ln w="9525">
            <a:solidFill>
              <a:srgbClr val="000000"/>
            </a:solidFill>
          </a:ln>
        </p:spPr>
        <p:txBody>
          <a:bodyPr/>
          <a:lstStyle/>
          <a:p>
            <a:endParaRPr lang="en-MY"/>
          </a:p>
        </p:txBody>
      </p:sp>
      <p:sp>
        <p:nvSpPr>
          <p:cNvPr id="21" name="Rectangle 20">
            <a:extLst>
              <a:ext uri="{FF2B5EF4-FFF2-40B4-BE49-F238E27FC236}">
                <a16:creationId xmlns:a16="http://schemas.microsoft.com/office/drawing/2014/main" id="{7F5453FF-8A1E-487E-9F9D-07E96AD58306}"/>
              </a:ext>
            </a:extLst>
          </p:cNvPr>
          <p:cNvSpPr>
            <a:spLocks noGrp="1"/>
          </p:cNvSpPr>
          <p:nvPr/>
        </p:nvSpPr>
        <p:spPr>
          <a:xfrm>
            <a:off x="3714750" y="2714625"/>
            <a:ext cx="523875" cy="381000"/>
          </a:xfrm>
          <a:prstGeom prst="rect">
            <a:avLst/>
          </a:prstGeom>
          <a:noFill/>
          <a:ln w="0">
            <a:noFill/>
          </a:ln>
        </p:spPr>
        <p:txBody>
          <a:bodyPr anchor="ctr">
            <a:normAutofit/>
          </a:bodyPr>
          <a:lstStyle/>
          <a:p>
            <a:pPr algn="l">
              <a:defRPr sz="1500" b="1">
                <a:solidFill>
                  <a:srgbClr val="117C89"/>
                </a:solidFill>
                <a:latin typeface="Hero Bold"/>
                <a:ea typeface="Hero Bold"/>
                <a:cs typeface="Hero Bold"/>
              </a:defRPr>
            </a:pPr>
            <a:r>
              <a:rPr sz="1500" b="1">
                <a:solidFill>
                  <a:srgbClr val="117C89"/>
                </a:solidFill>
                <a:latin typeface="Hero Bold"/>
                <a:ea typeface="Hero Bold"/>
                <a:cs typeface="Hero Bold"/>
              </a:rPr>
              <a:t>02</a:t>
            </a:r>
          </a:p>
        </p:txBody>
      </p:sp>
      <p:sp>
        <p:nvSpPr>
          <p:cNvPr id="22" name="Rectangle 21">
            <a:extLst>
              <a:ext uri="{FF2B5EF4-FFF2-40B4-BE49-F238E27FC236}">
                <a16:creationId xmlns:a16="http://schemas.microsoft.com/office/drawing/2014/main" id="{06F8669A-9B32-4240-95B4-61039C011111}"/>
              </a:ext>
            </a:extLst>
          </p:cNvPr>
          <p:cNvSpPr>
            <a:spLocks noGrp="1"/>
          </p:cNvSpPr>
          <p:nvPr/>
        </p:nvSpPr>
        <p:spPr>
          <a:xfrm>
            <a:off x="3714750" y="3143250"/>
            <a:ext cx="2238375" cy="571500"/>
          </a:xfrm>
          <a:prstGeom prst="rect">
            <a:avLst/>
          </a:prstGeom>
          <a:noFill/>
          <a:ln w="0">
            <a:noFill/>
          </a:ln>
        </p:spPr>
        <p:txBody>
          <a:bodyPr anchor="ctr">
            <a:normAutofit/>
          </a:bodyPr>
          <a:lstStyle/>
          <a:p>
            <a:pPr algn="l">
              <a:defRPr sz="2250" b="1">
                <a:solidFill>
                  <a:srgbClr val="000000"/>
                </a:solidFill>
                <a:latin typeface="Hero Bold"/>
                <a:ea typeface="Hero Bold"/>
                <a:cs typeface="Hero Bold"/>
              </a:defRPr>
            </a:pPr>
            <a:r>
              <a:rPr sz="2250" b="1">
                <a:solidFill>
                  <a:srgbClr val="000000"/>
                </a:solidFill>
                <a:latin typeface="Hero Bold"/>
                <a:ea typeface="Hero Bold"/>
                <a:cs typeface="Hero Bold"/>
              </a:rPr>
              <a:t>Understand</a:t>
            </a:r>
          </a:p>
        </p:txBody>
      </p:sp>
      <p:sp>
        <p:nvSpPr>
          <p:cNvPr id="23" name="Rectangle 22">
            <a:extLst>
              <a:ext uri="{FF2B5EF4-FFF2-40B4-BE49-F238E27FC236}">
                <a16:creationId xmlns:a16="http://schemas.microsoft.com/office/drawing/2014/main" id="{56C9EBA9-00D3-415D-980F-A21789F4CF57}"/>
              </a:ext>
            </a:extLst>
          </p:cNvPr>
          <p:cNvSpPr>
            <a:spLocks noGrp="1"/>
          </p:cNvSpPr>
          <p:nvPr/>
        </p:nvSpPr>
        <p:spPr>
          <a:xfrm>
            <a:off x="3714750" y="3857625"/>
            <a:ext cx="2238375" cy="1238250"/>
          </a:xfrm>
          <a:prstGeom prst="rect">
            <a:avLst/>
          </a:prstGeom>
          <a:noFill/>
          <a:ln w="0">
            <a:noFill/>
          </a:ln>
        </p:spPr>
        <p:txBody>
          <a:bodyPr anchor="ctr">
            <a:normAutofit/>
          </a:bodyPr>
          <a:lstStyle/>
          <a:p>
            <a:pPr algn="l">
              <a:defRPr sz="1725" b="0">
                <a:solidFill>
                  <a:srgbClr val="30434B"/>
                </a:solidFill>
                <a:latin typeface="Quicksand"/>
                <a:ea typeface="Quicksand"/>
                <a:cs typeface="Quicksand"/>
              </a:defRPr>
            </a:pPr>
            <a:r>
              <a:rPr sz="1725" b="0">
                <a:solidFill>
                  <a:srgbClr val="30434B"/>
                </a:solidFill>
                <a:latin typeface="Quicksand"/>
                <a:ea typeface="Quicksand"/>
                <a:cs typeface="Quicksand"/>
              </a:rPr>
              <a:t>Normalise language and detect intent</a:t>
            </a:r>
          </a:p>
        </p:txBody>
      </p:sp>
      <p:sp>
        <p:nvSpPr>
          <p:cNvPr id="24" name="Arrow: Right 23">
            <a:extLst>
              <a:ext uri="{FF2B5EF4-FFF2-40B4-BE49-F238E27FC236}">
                <a16:creationId xmlns:a16="http://schemas.microsoft.com/office/drawing/2014/main" id="{C5C7EEC9-35C9-426D-B013-4ACC9F2FC31D}"/>
              </a:ext>
            </a:extLst>
          </p:cNvPr>
          <p:cNvSpPr>
            <a:spLocks noGrp="1"/>
          </p:cNvSpPr>
          <p:nvPr/>
        </p:nvSpPr>
        <p:spPr>
          <a:xfrm>
            <a:off x="6000750" y="3314700"/>
            <a:ext cx="419100" cy="323850"/>
          </a:xfrm>
          <a:prstGeom prst="rightArrow">
            <a:avLst/>
          </a:prstGeom>
          <a:solidFill>
            <a:srgbClr val="000000"/>
          </a:solidFill>
          <a:ln w="9525">
            <a:solidFill>
              <a:srgbClr val="000000"/>
            </a:solidFill>
          </a:ln>
        </p:spPr>
        <p:txBody>
          <a:bodyPr/>
          <a:lstStyle/>
          <a:p>
            <a:endParaRPr lang="en-MY"/>
          </a:p>
        </p:txBody>
      </p:sp>
      <p:sp>
        <p:nvSpPr>
          <p:cNvPr id="25" name="Rectangle 24">
            <a:extLst>
              <a:ext uri="{FF2B5EF4-FFF2-40B4-BE49-F238E27FC236}">
                <a16:creationId xmlns:a16="http://schemas.microsoft.com/office/drawing/2014/main" id="{466B7A4D-11AA-4762-83BF-142DA96C1D49}"/>
              </a:ext>
            </a:extLst>
          </p:cNvPr>
          <p:cNvSpPr>
            <a:spLocks noGrp="1"/>
          </p:cNvSpPr>
          <p:nvPr/>
        </p:nvSpPr>
        <p:spPr>
          <a:xfrm>
            <a:off x="6553200" y="2714625"/>
            <a:ext cx="523875" cy="381000"/>
          </a:xfrm>
          <a:prstGeom prst="rect">
            <a:avLst/>
          </a:prstGeom>
          <a:noFill/>
          <a:ln w="0">
            <a:noFill/>
          </a:ln>
        </p:spPr>
        <p:txBody>
          <a:bodyPr anchor="ctr">
            <a:normAutofit/>
          </a:bodyPr>
          <a:lstStyle/>
          <a:p>
            <a:pPr algn="l">
              <a:defRPr sz="1500" b="1">
                <a:solidFill>
                  <a:srgbClr val="117C89"/>
                </a:solidFill>
                <a:latin typeface="Hero Bold"/>
                <a:ea typeface="Hero Bold"/>
                <a:cs typeface="Hero Bold"/>
              </a:defRPr>
            </a:pPr>
            <a:r>
              <a:rPr sz="1500" b="1">
                <a:solidFill>
                  <a:srgbClr val="117C89"/>
                </a:solidFill>
                <a:latin typeface="Hero Bold"/>
                <a:ea typeface="Hero Bold"/>
                <a:cs typeface="Hero Bold"/>
              </a:rPr>
              <a:t>03</a:t>
            </a:r>
          </a:p>
        </p:txBody>
      </p:sp>
      <p:sp>
        <p:nvSpPr>
          <p:cNvPr id="26" name="Rectangle 25">
            <a:extLst>
              <a:ext uri="{FF2B5EF4-FFF2-40B4-BE49-F238E27FC236}">
                <a16:creationId xmlns:a16="http://schemas.microsoft.com/office/drawing/2014/main" id="{63163BBA-9BC2-4957-BFB2-2AD38547B03F}"/>
              </a:ext>
            </a:extLst>
          </p:cNvPr>
          <p:cNvSpPr>
            <a:spLocks noGrp="1"/>
          </p:cNvSpPr>
          <p:nvPr/>
        </p:nvSpPr>
        <p:spPr>
          <a:xfrm>
            <a:off x="6553200" y="3143250"/>
            <a:ext cx="2238375" cy="571500"/>
          </a:xfrm>
          <a:prstGeom prst="rect">
            <a:avLst/>
          </a:prstGeom>
          <a:noFill/>
          <a:ln w="0">
            <a:noFill/>
          </a:ln>
        </p:spPr>
        <p:txBody>
          <a:bodyPr anchor="ctr">
            <a:normAutofit/>
          </a:bodyPr>
          <a:lstStyle/>
          <a:p>
            <a:pPr algn="l">
              <a:defRPr sz="2250" b="1">
                <a:solidFill>
                  <a:srgbClr val="000000"/>
                </a:solidFill>
                <a:latin typeface="Hero Bold"/>
                <a:ea typeface="Hero Bold"/>
                <a:cs typeface="Hero Bold"/>
              </a:defRPr>
            </a:pPr>
            <a:r>
              <a:rPr sz="2250" b="1">
                <a:solidFill>
                  <a:srgbClr val="000000"/>
                </a:solidFill>
                <a:latin typeface="Hero Bold"/>
                <a:ea typeface="Hero Bold"/>
                <a:cs typeface="Hero Bold"/>
              </a:rPr>
              <a:t>Keep context</a:t>
            </a:r>
          </a:p>
        </p:txBody>
      </p:sp>
      <p:sp>
        <p:nvSpPr>
          <p:cNvPr id="27" name="Rectangle 26">
            <a:extLst>
              <a:ext uri="{FF2B5EF4-FFF2-40B4-BE49-F238E27FC236}">
                <a16:creationId xmlns:a16="http://schemas.microsoft.com/office/drawing/2014/main" id="{70A2B3F9-262A-49A6-8FD0-A353FF522E01}"/>
              </a:ext>
            </a:extLst>
          </p:cNvPr>
          <p:cNvSpPr>
            <a:spLocks noGrp="1"/>
          </p:cNvSpPr>
          <p:nvPr/>
        </p:nvSpPr>
        <p:spPr>
          <a:xfrm>
            <a:off x="6553200" y="3857625"/>
            <a:ext cx="2238375" cy="1238250"/>
          </a:xfrm>
          <a:prstGeom prst="rect">
            <a:avLst/>
          </a:prstGeom>
          <a:noFill/>
          <a:ln w="0">
            <a:noFill/>
          </a:ln>
        </p:spPr>
        <p:txBody>
          <a:bodyPr anchor="ctr">
            <a:normAutofit/>
          </a:bodyPr>
          <a:lstStyle/>
          <a:p>
            <a:pPr algn="l">
              <a:defRPr sz="1725" b="0">
                <a:solidFill>
                  <a:srgbClr val="30434B"/>
                </a:solidFill>
                <a:latin typeface="Quicksand"/>
                <a:ea typeface="Quicksand"/>
                <a:cs typeface="Quicksand"/>
              </a:defRPr>
            </a:pPr>
            <a:r>
              <a:rPr sz="1725" b="0">
                <a:solidFill>
                  <a:srgbClr val="30434B"/>
                </a:solidFill>
                <a:latin typeface="Quicksand"/>
                <a:ea typeface="Quicksand"/>
                <a:cs typeface="Quicksand"/>
              </a:rPr>
              <a:t>Extract and update preferences</a:t>
            </a:r>
          </a:p>
        </p:txBody>
      </p:sp>
      <p:sp>
        <p:nvSpPr>
          <p:cNvPr id="28" name="Arrow: Right 27">
            <a:extLst>
              <a:ext uri="{FF2B5EF4-FFF2-40B4-BE49-F238E27FC236}">
                <a16:creationId xmlns:a16="http://schemas.microsoft.com/office/drawing/2014/main" id="{5832EF52-F1AE-418A-BB52-4771B3B4710B}"/>
              </a:ext>
            </a:extLst>
          </p:cNvPr>
          <p:cNvSpPr>
            <a:spLocks noGrp="1"/>
          </p:cNvSpPr>
          <p:nvPr/>
        </p:nvSpPr>
        <p:spPr>
          <a:xfrm>
            <a:off x="8839200" y="3314700"/>
            <a:ext cx="419100" cy="323850"/>
          </a:xfrm>
          <a:prstGeom prst="rightArrow">
            <a:avLst/>
          </a:prstGeom>
          <a:solidFill>
            <a:srgbClr val="000000"/>
          </a:solidFill>
          <a:ln w="9525">
            <a:solidFill>
              <a:srgbClr val="000000"/>
            </a:solidFill>
          </a:ln>
        </p:spPr>
        <p:txBody>
          <a:bodyPr/>
          <a:lstStyle/>
          <a:p>
            <a:endParaRPr lang="en-MY"/>
          </a:p>
        </p:txBody>
      </p:sp>
      <p:sp>
        <p:nvSpPr>
          <p:cNvPr id="29" name="Rectangle 28">
            <a:extLst>
              <a:ext uri="{FF2B5EF4-FFF2-40B4-BE49-F238E27FC236}">
                <a16:creationId xmlns:a16="http://schemas.microsoft.com/office/drawing/2014/main" id="{946CE3C9-B111-4030-8730-2DC792C6B260}"/>
              </a:ext>
            </a:extLst>
          </p:cNvPr>
          <p:cNvSpPr>
            <a:spLocks noGrp="1"/>
          </p:cNvSpPr>
          <p:nvPr/>
        </p:nvSpPr>
        <p:spPr>
          <a:xfrm>
            <a:off x="9391650" y="2714625"/>
            <a:ext cx="523875" cy="381000"/>
          </a:xfrm>
          <a:prstGeom prst="rect">
            <a:avLst/>
          </a:prstGeom>
          <a:noFill/>
          <a:ln w="0">
            <a:noFill/>
          </a:ln>
        </p:spPr>
        <p:txBody>
          <a:bodyPr anchor="ctr">
            <a:normAutofit/>
          </a:bodyPr>
          <a:lstStyle/>
          <a:p>
            <a:pPr algn="l">
              <a:defRPr sz="1500" b="1">
                <a:solidFill>
                  <a:srgbClr val="117C89"/>
                </a:solidFill>
                <a:latin typeface="Hero Bold"/>
                <a:ea typeface="Hero Bold"/>
                <a:cs typeface="Hero Bold"/>
              </a:defRPr>
            </a:pPr>
            <a:r>
              <a:rPr sz="1500" b="1">
                <a:solidFill>
                  <a:srgbClr val="117C89"/>
                </a:solidFill>
                <a:latin typeface="Hero Bold"/>
                <a:ea typeface="Hero Bold"/>
                <a:cs typeface="Hero Bold"/>
              </a:rPr>
              <a:t>04</a:t>
            </a:r>
          </a:p>
        </p:txBody>
      </p:sp>
      <p:sp>
        <p:nvSpPr>
          <p:cNvPr id="30" name="Rectangle 29">
            <a:extLst>
              <a:ext uri="{FF2B5EF4-FFF2-40B4-BE49-F238E27FC236}">
                <a16:creationId xmlns:a16="http://schemas.microsoft.com/office/drawing/2014/main" id="{3E389BE8-3AE5-4438-AC5A-7EA5C54CC0A3}"/>
              </a:ext>
            </a:extLst>
          </p:cNvPr>
          <p:cNvSpPr>
            <a:spLocks noGrp="1"/>
          </p:cNvSpPr>
          <p:nvPr/>
        </p:nvSpPr>
        <p:spPr>
          <a:xfrm>
            <a:off x="9391650" y="3143250"/>
            <a:ext cx="2238375" cy="571500"/>
          </a:xfrm>
          <a:prstGeom prst="rect">
            <a:avLst/>
          </a:prstGeom>
          <a:noFill/>
          <a:ln w="0">
            <a:noFill/>
          </a:ln>
        </p:spPr>
        <p:txBody>
          <a:bodyPr anchor="ctr">
            <a:normAutofit/>
          </a:bodyPr>
          <a:lstStyle/>
          <a:p>
            <a:pPr algn="l">
              <a:defRPr sz="2250" b="1">
                <a:solidFill>
                  <a:srgbClr val="000000"/>
                </a:solidFill>
                <a:latin typeface="Hero Bold"/>
                <a:ea typeface="Hero Bold"/>
                <a:cs typeface="Hero Bold"/>
              </a:defRPr>
            </a:pPr>
            <a:r>
              <a:rPr sz="2250" b="1">
                <a:solidFill>
                  <a:srgbClr val="000000"/>
                </a:solidFill>
                <a:latin typeface="Hero Bold"/>
                <a:ea typeface="Hero Bold"/>
                <a:cs typeface="Hero Bold"/>
              </a:rPr>
              <a:t>Filter</a:t>
            </a:r>
          </a:p>
        </p:txBody>
      </p:sp>
      <p:sp>
        <p:nvSpPr>
          <p:cNvPr id="31" name="Rectangle 30">
            <a:extLst>
              <a:ext uri="{FF2B5EF4-FFF2-40B4-BE49-F238E27FC236}">
                <a16:creationId xmlns:a16="http://schemas.microsoft.com/office/drawing/2014/main" id="{0533AB57-E4D7-4737-A268-7F7BC3B43FB6}"/>
              </a:ext>
            </a:extLst>
          </p:cNvPr>
          <p:cNvSpPr>
            <a:spLocks noGrp="1"/>
          </p:cNvSpPr>
          <p:nvPr/>
        </p:nvSpPr>
        <p:spPr>
          <a:xfrm>
            <a:off x="9391650" y="3857625"/>
            <a:ext cx="2238375" cy="1238250"/>
          </a:xfrm>
          <a:prstGeom prst="rect">
            <a:avLst/>
          </a:prstGeom>
          <a:noFill/>
          <a:ln w="0">
            <a:noFill/>
          </a:ln>
        </p:spPr>
        <p:txBody>
          <a:bodyPr anchor="ctr">
            <a:normAutofit/>
          </a:bodyPr>
          <a:lstStyle/>
          <a:p>
            <a:pPr algn="l">
              <a:defRPr sz="1725" b="0">
                <a:solidFill>
                  <a:srgbClr val="30434B"/>
                </a:solidFill>
                <a:latin typeface="Quicksand"/>
                <a:ea typeface="Quicksand"/>
                <a:cs typeface="Quicksand"/>
              </a:defRPr>
            </a:pPr>
            <a:r>
              <a:rPr sz="1725" b="0">
                <a:solidFill>
                  <a:srgbClr val="30434B"/>
                </a:solidFill>
                <a:latin typeface="Quicksand"/>
                <a:ea typeface="Quicksand"/>
                <a:cs typeface="Quicksand"/>
              </a:rPr>
              <a:t>Apply state, cost and accessibility needs</a:t>
            </a:r>
          </a:p>
        </p:txBody>
      </p:sp>
      <p:sp>
        <p:nvSpPr>
          <p:cNvPr id="32" name="Arrow: Right 31">
            <a:extLst>
              <a:ext uri="{FF2B5EF4-FFF2-40B4-BE49-F238E27FC236}">
                <a16:creationId xmlns:a16="http://schemas.microsoft.com/office/drawing/2014/main" id="{203A8EAF-645C-451D-A230-AE4B813C5E1D}"/>
              </a:ext>
            </a:extLst>
          </p:cNvPr>
          <p:cNvSpPr>
            <a:spLocks noGrp="1"/>
          </p:cNvSpPr>
          <p:nvPr/>
        </p:nvSpPr>
        <p:spPr>
          <a:xfrm>
            <a:off x="11677650" y="3314700"/>
            <a:ext cx="419100" cy="323850"/>
          </a:xfrm>
          <a:prstGeom prst="rightArrow">
            <a:avLst/>
          </a:prstGeom>
          <a:solidFill>
            <a:srgbClr val="000000"/>
          </a:solidFill>
          <a:ln w="9525">
            <a:solidFill>
              <a:srgbClr val="000000"/>
            </a:solidFill>
          </a:ln>
        </p:spPr>
        <p:txBody>
          <a:bodyPr/>
          <a:lstStyle/>
          <a:p>
            <a:endParaRPr lang="en-MY"/>
          </a:p>
        </p:txBody>
      </p:sp>
      <p:sp>
        <p:nvSpPr>
          <p:cNvPr id="33" name="Rectangle 32">
            <a:extLst>
              <a:ext uri="{FF2B5EF4-FFF2-40B4-BE49-F238E27FC236}">
                <a16:creationId xmlns:a16="http://schemas.microsoft.com/office/drawing/2014/main" id="{A8303111-DF21-4DBD-9834-3D1A44A0D46D}"/>
              </a:ext>
            </a:extLst>
          </p:cNvPr>
          <p:cNvSpPr>
            <a:spLocks noGrp="1"/>
          </p:cNvSpPr>
          <p:nvPr/>
        </p:nvSpPr>
        <p:spPr>
          <a:xfrm>
            <a:off x="12230100" y="2714625"/>
            <a:ext cx="523875" cy="381000"/>
          </a:xfrm>
          <a:prstGeom prst="rect">
            <a:avLst/>
          </a:prstGeom>
          <a:noFill/>
          <a:ln w="0">
            <a:noFill/>
          </a:ln>
        </p:spPr>
        <p:txBody>
          <a:bodyPr anchor="ctr">
            <a:normAutofit/>
          </a:bodyPr>
          <a:lstStyle/>
          <a:p>
            <a:pPr algn="l">
              <a:defRPr sz="1500" b="1">
                <a:solidFill>
                  <a:srgbClr val="117C89"/>
                </a:solidFill>
                <a:latin typeface="Hero Bold"/>
                <a:ea typeface="Hero Bold"/>
                <a:cs typeface="Hero Bold"/>
              </a:defRPr>
            </a:pPr>
            <a:r>
              <a:rPr sz="1500" b="1">
                <a:solidFill>
                  <a:srgbClr val="117C89"/>
                </a:solidFill>
                <a:latin typeface="Hero Bold"/>
                <a:ea typeface="Hero Bold"/>
                <a:cs typeface="Hero Bold"/>
              </a:rPr>
              <a:t>05</a:t>
            </a:r>
          </a:p>
        </p:txBody>
      </p:sp>
      <p:sp>
        <p:nvSpPr>
          <p:cNvPr id="34" name="Rectangle 33">
            <a:extLst>
              <a:ext uri="{FF2B5EF4-FFF2-40B4-BE49-F238E27FC236}">
                <a16:creationId xmlns:a16="http://schemas.microsoft.com/office/drawing/2014/main" id="{E29A209D-9084-408B-9331-F67A084771DA}"/>
              </a:ext>
            </a:extLst>
          </p:cNvPr>
          <p:cNvSpPr>
            <a:spLocks noGrp="1"/>
          </p:cNvSpPr>
          <p:nvPr/>
        </p:nvSpPr>
        <p:spPr>
          <a:xfrm>
            <a:off x="12230100" y="3143250"/>
            <a:ext cx="2238375" cy="571500"/>
          </a:xfrm>
          <a:prstGeom prst="rect">
            <a:avLst/>
          </a:prstGeom>
          <a:noFill/>
          <a:ln w="0">
            <a:noFill/>
          </a:ln>
        </p:spPr>
        <p:txBody>
          <a:bodyPr anchor="ctr">
            <a:normAutofit/>
          </a:bodyPr>
          <a:lstStyle/>
          <a:p>
            <a:pPr algn="l">
              <a:defRPr sz="2250" b="1">
                <a:solidFill>
                  <a:srgbClr val="000000"/>
                </a:solidFill>
                <a:latin typeface="Hero Bold"/>
                <a:ea typeface="Hero Bold"/>
                <a:cs typeface="Hero Bold"/>
              </a:defRPr>
            </a:pPr>
            <a:r>
              <a:rPr sz="2250" b="1">
                <a:solidFill>
                  <a:srgbClr val="000000"/>
                </a:solidFill>
                <a:latin typeface="Hero Bold"/>
                <a:ea typeface="Hero Bold"/>
                <a:cs typeface="Hero Bold"/>
              </a:rPr>
              <a:t>Rank</a:t>
            </a:r>
          </a:p>
        </p:txBody>
      </p:sp>
      <p:sp>
        <p:nvSpPr>
          <p:cNvPr id="35" name="Rectangle 34">
            <a:extLst>
              <a:ext uri="{FF2B5EF4-FFF2-40B4-BE49-F238E27FC236}">
                <a16:creationId xmlns:a16="http://schemas.microsoft.com/office/drawing/2014/main" id="{C3B2A9DF-0B31-4998-A55E-0D47448ACE2F}"/>
              </a:ext>
            </a:extLst>
          </p:cNvPr>
          <p:cNvSpPr>
            <a:spLocks noGrp="1"/>
          </p:cNvSpPr>
          <p:nvPr/>
        </p:nvSpPr>
        <p:spPr>
          <a:xfrm>
            <a:off x="12230100" y="3857625"/>
            <a:ext cx="2238375" cy="1238250"/>
          </a:xfrm>
          <a:prstGeom prst="rect">
            <a:avLst/>
          </a:prstGeom>
          <a:noFill/>
          <a:ln w="0">
            <a:noFill/>
          </a:ln>
        </p:spPr>
        <p:txBody>
          <a:bodyPr anchor="ctr">
            <a:normAutofit/>
          </a:bodyPr>
          <a:lstStyle/>
          <a:p>
            <a:pPr algn="l">
              <a:defRPr sz="1725" b="0">
                <a:solidFill>
                  <a:srgbClr val="30434B"/>
                </a:solidFill>
                <a:latin typeface="Quicksand"/>
                <a:ea typeface="Quicksand"/>
                <a:cs typeface="Quicksand"/>
              </a:defRPr>
            </a:pPr>
            <a:r>
              <a:rPr sz="1725" b="0">
                <a:solidFill>
                  <a:srgbClr val="30434B"/>
                </a:solidFill>
                <a:latin typeface="Quicksand"/>
                <a:ea typeface="Quicksand"/>
                <a:cs typeface="Quicksand"/>
              </a:rPr>
              <a:t>FTS5 and adaptive semantic comparison</a:t>
            </a:r>
          </a:p>
        </p:txBody>
      </p:sp>
      <p:sp>
        <p:nvSpPr>
          <p:cNvPr id="36" name="Arrow: Right 35">
            <a:extLst>
              <a:ext uri="{FF2B5EF4-FFF2-40B4-BE49-F238E27FC236}">
                <a16:creationId xmlns:a16="http://schemas.microsoft.com/office/drawing/2014/main" id="{692FD31A-D497-462D-9462-43B437F2FEF0}"/>
              </a:ext>
            </a:extLst>
          </p:cNvPr>
          <p:cNvSpPr>
            <a:spLocks noGrp="1"/>
          </p:cNvSpPr>
          <p:nvPr/>
        </p:nvSpPr>
        <p:spPr>
          <a:xfrm>
            <a:off x="14516100" y="3314700"/>
            <a:ext cx="419100" cy="323850"/>
          </a:xfrm>
          <a:prstGeom prst="rightArrow">
            <a:avLst/>
          </a:prstGeom>
          <a:solidFill>
            <a:srgbClr val="000000"/>
          </a:solidFill>
          <a:ln w="9525">
            <a:solidFill>
              <a:srgbClr val="000000"/>
            </a:solidFill>
          </a:ln>
        </p:spPr>
        <p:txBody>
          <a:bodyPr/>
          <a:lstStyle/>
          <a:p>
            <a:endParaRPr lang="en-MY"/>
          </a:p>
        </p:txBody>
      </p:sp>
      <p:sp>
        <p:nvSpPr>
          <p:cNvPr id="37" name="Rectangle 36">
            <a:extLst>
              <a:ext uri="{FF2B5EF4-FFF2-40B4-BE49-F238E27FC236}">
                <a16:creationId xmlns:a16="http://schemas.microsoft.com/office/drawing/2014/main" id="{7EA9FFDA-759A-4C16-9A6F-6210E31893DE}"/>
              </a:ext>
            </a:extLst>
          </p:cNvPr>
          <p:cNvSpPr>
            <a:spLocks noGrp="1"/>
          </p:cNvSpPr>
          <p:nvPr/>
        </p:nvSpPr>
        <p:spPr>
          <a:xfrm>
            <a:off x="15068550" y="2714625"/>
            <a:ext cx="523875" cy="381000"/>
          </a:xfrm>
          <a:prstGeom prst="rect">
            <a:avLst/>
          </a:prstGeom>
          <a:noFill/>
          <a:ln w="0">
            <a:noFill/>
          </a:ln>
        </p:spPr>
        <p:txBody>
          <a:bodyPr anchor="ctr">
            <a:normAutofit/>
          </a:bodyPr>
          <a:lstStyle/>
          <a:p>
            <a:pPr algn="l">
              <a:defRPr sz="1500" b="1">
                <a:solidFill>
                  <a:srgbClr val="117C89"/>
                </a:solidFill>
                <a:latin typeface="Hero Bold"/>
                <a:ea typeface="Hero Bold"/>
                <a:cs typeface="Hero Bold"/>
              </a:defRPr>
            </a:pPr>
            <a:r>
              <a:rPr sz="1500" b="1">
                <a:solidFill>
                  <a:srgbClr val="117C89"/>
                </a:solidFill>
                <a:latin typeface="Hero Bold"/>
                <a:ea typeface="Hero Bold"/>
                <a:cs typeface="Hero Bold"/>
              </a:rPr>
              <a:t>06</a:t>
            </a:r>
          </a:p>
        </p:txBody>
      </p:sp>
      <p:sp>
        <p:nvSpPr>
          <p:cNvPr id="38" name="Rectangle 37">
            <a:extLst>
              <a:ext uri="{FF2B5EF4-FFF2-40B4-BE49-F238E27FC236}">
                <a16:creationId xmlns:a16="http://schemas.microsoft.com/office/drawing/2014/main" id="{2660FF68-AD4F-43AD-A89B-95C0A263EE1A}"/>
              </a:ext>
            </a:extLst>
          </p:cNvPr>
          <p:cNvSpPr>
            <a:spLocks noGrp="1"/>
          </p:cNvSpPr>
          <p:nvPr/>
        </p:nvSpPr>
        <p:spPr>
          <a:xfrm>
            <a:off x="15068550" y="3143250"/>
            <a:ext cx="2238375" cy="571500"/>
          </a:xfrm>
          <a:prstGeom prst="rect">
            <a:avLst/>
          </a:prstGeom>
          <a:noFill/>
          <a:ln w="0">
            <a:noFill/>
          </a:ln>
        </p:spPr>
        <p:txBody>
          <a:bodyPr anchor="ctr">
            <a:normAutofit/>
          </a:bodyPr>
          <a:lstStyle/>
          <a:p>
            <a:pPr algn="l">
              <a:defRPr sz="2250" b="1">
                <a:solidFill>
                  <a:srgbClr val="000000"/>
                </a:solidFill>
                <a:latin typeface="Hero Bold"/>
                <a:ea typeface="Hero Bold"/>
                <a:cs typeface="Hero Bold"/>
              </a:defRPr>
            </a:pPr>
            <a:r>
              <a:rPr sz="2250" b="1">
                <a:solidFill>
                  <a:srgbClr val="000000"/>
                </a:solidFill>
                <a:latin typeface="Hero Bold"/>
                <a:ea typeface="Hero Bold"/>
                <a:cs typeface="Hero Bold"/>
              </a:rPr>
              <a:t>Respond</a:t>
            </a:r>
          </a:p>
        </p:txBody>
      </p:sp>
      <p:sp>
        <p:nvSpPr>
          <p:cNvPr id="39" name="Rectangle 38">
            <a:extLst>
              <a:ext uri="{FF2B5EF4-FFF2-40B4-BE49-F238E27FC236}">
                <a16:creationId xmlns:a16="http://schemas.microsoft.com/office/drawing/2014/main" id="{D3A80DF3-E17B-4E03-8765-5B793AA90E5E}"/>
              </a:ext>
            </a:extLst>
          </p:cNvPr>
          <p:cNvSpPr>
            <a:spLocks noGrp="1"/>
          </p:cNvSpPr>
          <p:nvPr/>
        </p:nvSpPr>
        <p:spPr>
          <a:xfrm>
            <a:off x="15068550" y="3857625"/>
            <a:ext cx="2238375" cy="1238250"/>
          </a:xfrm>
          <a:prstGeom prst="rect">
            <a:avLst/>
          </a:prstGeom>
          <a:noFill/>
          <a:ln w="0">
            <a:noFill/>
          </a:ln>
        </p:spPr>
        <p:txBody>
          <a:bodyPr anchor="ctr">
            <a:normAutofit/>
          </a:bodyPr>
          <a:lstStyle/>
          <a:p>
            <a:pPr algn="l">
              <a:defRPr sz="1725" b="0">
                <a:solidFill>
                  <a:srgbClr val="30434B"/>
                </a:solidFill>
                <a:latin typeface="Quicksand"/>
                <a:ea typeface="Quicksand"/>
                <a:cs typeface="Quicksand"/>
              </a:defRPr>
            </a:pPr>
            <a:r>
              <a:rPr sz="1725" b="0">
                <a:solidFill>
                  <a:srgbClr val="30434B"/>
                </a:solidFill>
                <a:latin typeface="Quicksand"/>
                <a:ea typeface="Quicksand"/>
                <a:cs typeface="Quicksand"/>
              </a:rPr>
              <a:t>Grounded cards and explanations</a:t>
            </a:r>
          </a:p>
        </p:txBody>
      </p:sp>
      <p:sp>
        <p:nvSpPr>
          <p:cNvPr id="40" name="Rectangle 39">
            <a:extLst>
              <a:ext uri="{FF2B5EF4-FFF2-40B4-BE49-F238E27FC236}">
                <a16:creationId xmlns:a16="http://schemas.microsoft.com/office/drawing/2014/main" id="{E3390F39-211A-49BA-8317-E2837B4C1451}"/>
              </a:ext>
            </a:extLst>
          </p:cNvPr>
          <p:cNvSpPr>
            <a:spLocks noGrp="1"/>
          </p:cNvSpPr>
          <p:nvPr/>
        </p:nvSpPr>
        <p:spPr>
          <a:xfrm>
            <a:off x="895350" y="5905500"/>
            <a:ext cx="2381250" cy="400050"/>
          </a:xfrm>
          <a:prstGeom prst="rect">
            <a:avLst/>
          </a:prstGeom>
          <a:noFill/>
          <a:ln w="0">
            <a:noFill/>
          </a:ln>
        </p:spPr>
        <p:txBody>
          <a:bodyPr anchor="ctr">
            <a:normAutofit/>
          </a:bodyPr>
          <a:lstStyle/>
          <a:p>
            <a:pPr algn="l">
              <a:defRPr sz="2025" b="1">
                <a:solidFill>
                  <a:srgbClr val="000000"/>
                </a:solidFill>
                <a:latin typeface="Hero Bold"/>
                <a:ea typeface="Hero Bold"/>
                <a:cs typeface="Hero Bold"/>
              </a:defRPr>
            </a:pPr>
            <a:r>
              <a:rPr sz="2025" b="1">
                <a:solidFill>
                  <a:srgbClr val="000000"/>
                </a:solidFill>
                <a:latin typeface="Hero Bold"/>
                <a:ea typeface="Hero Bold"/>
                <a:cs typeface="Hero Bold"/>
              </a:rPr>
              <a:t>AI components</a:t>
            </a:r>
          </a:p>
        </p:txBody>
      </p:sp>
      <p:sp>
        <p:nvSpPr>
          <p:cNvPr id="41" name="Rectangle: Rounded Corners 40">
            <a:extLst>
              <a:ext uri="{FF2B5EF4-FFF2-40B4-BE49-F238E27FC236}">
                <a16:creationId xmlns:a16="http://schemas.microsoft.com/office/drawing/2014/main" id="{EEE4412C-E093-468B-9EC9-C5FDBEC51A3A}"/>
              </a:ext>
            </a:extLst>
          </p:cNvPr>
          <p:cNvSpPr>
            <a:spLocks noGrp="1"/>
          </p:cNvSpPr>
          <p:nvPr/>
        </p:nvSpPr>
        <p:spPr>
          <a:xfrm>
            <a:off x="895350" y="6591300"/>
            <a:ext cx="3790950" cy="742950"/>
          </a:xfrm>
          <a:prstGeom prst="roundRect">
            <a:avLst>
              <a:gd name="adj" fmla="val 10256"/>
            </a:avLst>
          </a:prstGeom>
          <a:solidFill>
            <a:srgbClr val="FFFFFF"/>
          </a:solidFill>
          <a:ln w="19050">
            <a:solidFill>
              <a:srgbClr val="1A1A1A"/>
            </a:solidFill>
          </a:ln>
        </p:spPr>
        <p:txBody>
          <a:bodyPr anchor="ctr">
            <a:normAutofit/>
          </a:bodyPr>
          <a:lstStyle/>
          <a:p>
            <a:pPr algn="ctr">
              <a:defRPr sz="1725" b="1">
                <a:solidFill>
                  <a:srgbClr val="000000"/>
                </a:solidFill>
                <a:latin typeface="Hero Bold"/>
                <a:ea typeface="Hero Bold"/>
                <a:cs typeface="Hero Bold"/>
              </a:defRPr>
            </a:pPr>
            <a:r>
              <a:rPr sz="1725" b="1">
                <a:solidFill>
                  <a:srgbClr val="000000"/>
                </a:solidFill>
                <a:latin typeface="Hero Bold"/>
                <a:ea typeface="Hero Bold"/>
                <a:cs typeface="Hero Bold"/>
              </a:rPr>
              <a:t>Trained spaCy intent classifier</a:t>
            </a:r>
          </a:p>
        </p:txBody>
      </p:sp>
      <p:sp>
        <p:nvSpPr>
          <p:cNvPr id="42" name="Rectangle: Rounded Corners 41">
            <a:extLst>
              <a:ext uri="{FF2B5EF4-FFF2-40B4-BE49-F238E27FC236}">
                <a16:creationId xmlns:a16="http://schemas.microsoft.com/office/drawing/2014/main" id="{76EEDF39-1C7E-4EC5-A567-8E204ED0F0D4}"/>
              </a:ext>
            </a:extLst>
          </p:cNvPr>
          <p:cNvSpPr>
            <a:spLocks noGrp="1"/>
          </p:cNvSpPr>
          <p:nvPr/>
        </p:nvSpPr>
        <p:spPr>
          <a:xfrm>
            <a:off x="5067300" y="6591300"/>
            <a:ext cx="3790950" cy="742950"/>
          </a:xfrm>
          <a:prstGeom prst="roundRect">
            <a:avLst>
              <a:gd name="adj" fmla="val 10256"/>
            </a:avLst>
          </a:prstGeom>
          <a:solidFill>
            <a:srgbClr val="FFFFFF"/>
          </a:solidFill>
          <a:ln w="19050">
            <a:solidFill>
              <a:srgbClr val="1A1A1A"/>
            </a:solidFill>
          </a:ln>
        </p:spPr>
        <p:txBody>
          <a:bodyPr anchor="ctr">
            <a:normAutofit/>
          </a:bodyPr>
          <a:lstStyle/>
          <a:p>
            <a:pPr algn="ctr">
              <a:defRPr sz="1725" b="1">
                <a:solidFill>
                  <a:srgbClr val="000000"/>
                </a:solidFill>
                <a:latin typeface="Hero Bold"/>
                <a:ea typeface="Hero Bold"/>
                <a:cs typeface="Hero Bold"/>
              </a:defRPr>
            </a:pPr>
            <a:r>
              <a:rPr sz="1725" b="1">
                <a:solidFill>
                  <a:srgbClr val="000000"/>
                </a:solidFill>
                <a:latin typeface="Hero Bold"/>
                <a:ea typeface="Hero Bold"/>
                <a:cs typeface="Hero Bold"/>
              </a:rPr>
              <a:t>Preference extraction rules</a:t>
            </a:r>
          </a:p>
        </p:txBody>
      </p:sp>
      <p:sp>
        <p:nvSpPr>
          <p:cNvPr id="43" name="Rectangle: Rounded Corners 42">
            <a:extLst>
              <a:ext uri="{FF2B5EF4-FFF2-40B4-BE49-F238E27FC236}">
                <a16:creationId xmlns:a16="http://schemas.microsoft.com/office/drawing/2014/main" id="{8F32FECB-E8D0-4E40-A109-965F8DDEB682}"/>
              </a:ext>
            </a:extLst>
          </p:cNvPr>
          <p:cNvSpPr>
            <a:spLocks noGrp="1"/>
          </p:cNvSpPr>
          <p:nvPr/>
        </p:nvSpPr>
        <p:spPr>
          <a:xfrm>
            <a:off x="9239250" y="6591300"/>
            <a:ext cx="3790950" cy="742950"/>
          </a:xfrm>
          <a:prstGeom prst="roundRect">
            <a:avLst>
              <a:gd name="adj" fmla="val 10256"/>
            </a:avLst>
          </a:prstGeom>
          <a:solidFill>
            <a:srgbClr val="FFFFFF"/>
          </a:solidFill>
          <a:ln w="19050">
            <a:solidFill>
              <a:srgbClr val="1A1A1A"/>
            </a:solidFill>
          </a:ln>
        </p:spPr>
        <p:txBody>
          <a:bodyPr anchor="ctr">
            <a:normAutofit/>
          </a:bodyPr>
          <a:lstStyle/>
          <a:p>
            <a:pPr algn="ctr">
              <a:defRPr sz="1725" b="1">
                <a:solidFill>
                  <a:srgbClr val="000000"/>
                </a:solidFill>
                <a:latin typeface="Hero Bold"/>
                <a:ea typeface="Hero Bold"/>
                <a:cs typeface="Hero Bold"/>
              </a:defRPr>
            </a:pPr>
            <a:r>
              <a:rPr sz="1725" b="1">
                <a:solidFill>
                  <a:srgbClr val="000000"/>
                </a:solidFill>
                <a:latin typeface="Hero Bold"/>
                <a:ea typeface="Hero Bold"/>
                <a:cs typeface="Hero Bold"/>
              </a:rPr>
              <a:t>Approximate name correction</a:t>
            </a:r>
          </a:p>
        </p:txBody>
      </p:sp>
      <p:sp>
        <p:nvSpPr>
          <p:cNvPr id="44" name="Rectangle: Rounded Corners 43">
            <a:extLst>
              <a:ext uri="{FF2B5EF4-FFF2-40B4-BE49-F238E27FC236}">
                <a16:creationId xmlns:a16="http://schemas.microsoft.com/office/drawing/2014/main" id="{37A9F042-4F49-4926-8FF8-252ED27392D6}"/>
              </a:ext>
            </a:extLst>
          </p:cNvPr>
          <p:cNvSpPr>
            <a:spLocks noGrp="1"/>
          </p:cNvSpPr>
          <p:nvPr/>
        </p:nvSpPr>
        <p:spPr>
          <a:xfrm>
            <a:off x="13411200" y="6591300"/>
            <a:ext cx="3790950" cy="742950"/>
          </a:xfrm>
          <a:prstGeom prst="roundRect">
            <a:avLst>
              <a:gd name="adj" fmla="val 10256"/>
            </a:avLst>
          </a:prstGeom>
          <a:solidFill>
            <a:srgbClr val="FFFFFF"/>
          </a:solidFill>
          <a:ln w="19050">
            <a:solidFill>
              <a:srgbClr val="1A1A1A"/>
            </a:solidFill>
          </a:ln>
        </p:spPr>
        <p:txBody>
          <a:bodyPr anchor="ctr">
            <a:normAutofit/>
          </a:bodyPr>
          <a:lstStyle/>
          <a:p>
            <a:pPr algn="ctr">
              <a:defRPr sz="1725" b="1">
                <a:solidFill>
                  <a:srgbClr val="000000"/>
                </a:solidFill>
                <a:latin typeface="Hero Bold"/>
                <a:ea typeface="Hero Bold"/>
                <a:cs typeface="Hero Bold"/>
              </a:defRPr>
            </a:pPr>
            <a:r>
              <a:rPr sz="1725" b="1">
                <a:solidFill>
                  <a:srgbClr val="000000"/>
                </a:solidFill>
                <a:latin typeface="Hero Bold"/>
                <a:ea typeface="Hero Bold"/>
                <a:cs typeface="Hero Bold"/>
              </a:rPr>
              <a:t>Semantic similarity ranking</a:t>
            </a:r>
          </a:p>
        </p:txBody>
      </p:sp>
      <p:sp>
        <p:nvSpPr>
          <p:cNvPr id="45" name="Rectangle: Rounded Corners 44">
            <a:extLst>
              <a:ext uri="{FF2B5EF4-FFF2-40B4-BE49-F238E27FC236}">
                <a16:creationId xmlns:a16="http://schemas.microsoft.com/office/drawing/2014/main" id="{D8133492-0B77-4AB8-B3A6-AA6DC678DD3F}"/>
              </a:ext>
            </a:extLst>
          </p:cNvPr>
          <p:cNvSpPr>
            <a:spLocks noGrp="1"/>
          </p:cNvSpPr>
          <p:nvPr/>
        </p:nvSpPr>
        <p:spPr>
          <a:xfrm>
            <a:off x="1714500" y="8239125"/>
            <a:ext cx="14859000" cy="876300"/>
          </a:xfrm>
          <a:prstGeom prst="roundRect">
            <a:avLst>
              <a:gd name="adj" fmla="val 8696"/>
            </a:avLst>
          </a:prstGeom>
          <a:solidFill>
            <a:srgbClr val="FFFFFF"/>
          </a:solidFill>
          <a:ln w="19050">
            <a:solidFill>
              <a:srgbClr val="1A1A1A"/>
            </a:solidFill>
          </a:ln>
        </p:spPr>
        <p:txBody>
          <a:bodyPr anchor="ctr">
            <a:normAutofit/>
          </a:bodyPr>
          <a:lstStyle/>
          <a:p>
            <a:pPr algn="ctr">
              <a:defRPr sz="2175" b="1">
                <a:solidFill>
                  <a:srgbClr val="000000"/>
                </a:solidFill>
                <a:latin typeface="Hero Bold"/>
                <a:ea typeface="Hero Bold"/>
                <a:cs typeface="Hero Bold"/>
              </a:defRPr>
            </a:pPr>
            <a:r>
              <a:rPr sz="2175" b="1">
                <a:solidFill>
                  <a:srgbClr val="000000"/>
                </a:solidFill>
                <a:latin typeface="Hero Bold"/>
                <a:ea typeface="Hero Bold"/>
                <a:cs typeface="Hero Bold"/>
              </a:rPr>
              <a:t>Structured filters control the final candidate set. Semantic ranking cannot ignore required travel preferences.</a:t>
            </a:r>
          </a:p>
        </p:txBody>
      </p:sp>
    </p:spTree>
    <p:extLst>
      <p:ext uri="{BB962C8B-B14F-4D97-AF65-F5344CB8AC3E}">
        <p14:creationId xmlns:p14="http://schemas.microsoft.com/office/powerpoint/2010/main" val="11445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4412D54-00A5-44D4-8FFC-6E4B80D39CA8}"/>
              </a:ext>
            </a:extLst>
          </p:cNvPr>
          <p:cNvSpPr>
            <a:spLocks noGrp="1"/>
          </p:cNvSpPr>
          <p:nvPr/>
        </p:nvSpPr>
        <p:spPr>
          <a:xfrm rot="5400000">
            <a:off x="-2352703" y="8138546"/>
            <a:ext cx="5718695" cy="5718695"/>
          </a:xfrm>
          <a:custGeom>
            <a:avLst/>
            <a:gdLst/>
            <a:ahLst/>
            <a:cxnLst/>
            <a:rect l="l" t="t" r="r" b="b"/>
            <a:pathLst>
              <a:path w="5718695" h="5718695">
                <a:moveTo>
                  <a:pt x="0" y="0"/>
                </a:moveTo>
                <a:lnTo>
                  <a:pt x="5718696" y="0"/>
                </a:lnTo>
                <a:lnTo>
                  <a:pt x="5718696" y="5718695"/>
                </a:lnTo>
                <a:lnTo>
                  <a:pt x="0" y="57186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8595241D-602A-4AF7-B1CB-03F1D88D177E}"/>
              </a:ext>
            </a:extLst>
          </p:cNvPr>
          <p:cNvSpPr>
            <a:spLocks noGrp="1"/>
          </p:cNvSpPr>
          <p:nvPr/>
        </p:nvSpPr>
        <p:spPr>
          <a:xfrm>
            <a:off x="-4123408" y="3543300"/>
            <a:ext cx="4999708" cy="4999708"/>
          </a:xfrm>
          <a:custGeom>
            <a:avLst/>
            <a:gdLst/>
            <a:ahLst/>
            <a:cxnLst/>
            <a:rect l="l" t="t" r="r" b="b"/>
            <a:pathLst>
              <a:path w="4999708" h="4999708">
                <a:moveTo>
                  <a:pt x="0" y="0"/>
                </a:moveTo>
                <a:lnTo>
                  <a:pt x="4999708" y="0"/>
                </a:lnTo>
                <a:lnTo>
                  <a:pt x="4999708" y="4999708"/>
                </a:lnTo>
                <a:lnTo>
                  <a:pt x="0" y="49997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6" name="Freeform 6">
            <a:extLst>
              <a:ext uri="{FF2B5EF4-FFF2-40B4-BE49-F238E27FC236}">
                <a16:creationId xmlns:a16="http://schemas.microsoft.com/office/drawing/2014/main" id="{5BB554DD-F598-42E2-864E-BB049BCE8ADF}"/>
              </a:ext>
            </a:extLst>
          </p:cNvPr>
          <p:cNvSpPr>
            <a:spLocks noGrp="1"/>
          </p:cNvSpPr>
          <p:nvPr/>
        </p:nvSpPr>
        <p:spPr>
          <a:xfrm rot="5400000">
            <a:off x="16197849" y="1353881"/>
            <a:ext cx="5718695" cy="5718695"/>
          </a:xfrm>
          <a:custGeom>
            <a:avLst/>
            <a:gdLst/>
            <a:ahLst/>
            <a:cxnLst/>
            <a:rect l="l" t="t" r="r" b="b"/>
            <a:pathLst>
              <a:path w="5718695" h="5718695">
                <a:moveTo>
                  <a:pt x="0" y="0"/>
                </a:moveTo>
                <a:lnTo>
                  <a:pt x="5718695" y="0"/>
                </a:lnTo>
                <a:lnTo>
                  <a:pt x="5718695" y="5718695"/>
                </a:lnTo>
                <a:lnTo>
                  <a:pt x="0" y="57186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7" name="Freeform 7">
            <a:extLst>
              <a:ext uri="{FF2B5EF4-FFF2-40B4-BE49-F238E27FC236}">
                <a16:creationId xmlns:a16="http://schemas.microsoft.com/office/drawing/2014/main" id="{6FA6FBC4-DA86-4E0B-B68F-9621530A44FE}"/>
              </a:ext>
            </a:extLst>
          </p:cNvPr>
          <p:cNvSpPr>
            <a:spLocks noGrp="1"/>
          </p:cNvSpPr>
          <p:nvPr/>
        </p:nvSpPr>
        <p:spPr>
          <a:xfrm>
            <a:off x="12129047" y="-2062936"/>
            <a:ext cx="6537235" cy="6537235"/>
          </a:xfrm>
          <a:custGeom>
            <a:avLst/>
            <a:gdLst/>
            <a:ahLst/>
            <a:cxnLst/>
            <a:rect l="l" t="t" r="r" b="b"/>
            <a:pathLst>
              <a:path w="6537235" h="6537235">
                <a:moveTo>
                  <a:pt x="0" y="0"/>
                </a:moveTo>
                <a:lnTo>
                  <a:pt x="6537235" y="0"/>
                </a:lnTo>
                <a:lnTo>
                  <a:pt x="6537235" y="6537235"/>
                </a:lnTo>
                <a:lnTo>
                  <a:pt x="0" y="65372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1" name="Freeform 11">
            <a:extLst>
              <a:ext uri="{FF2B5EF4-FFF2-40B4-BE49-F238E27FC236}">
                <a16:creationId xmlns:a16="http://schemas.microsoft.com/office/drawing/2014/main" id="{C5159F56-83CC-492F-8B95-486C77504C33}"/>
              </a:ext>
            </a:extLst>
          </p:cNvPr>
          <p:cNvSpPr>
            <a:spLocks noGrp="1"/>
          </p:cNvSpPr>
          <p:nvPr/>
        </p:nvSpPr>
        <p:spPr>
          <a:xfrm flipV="1">
            <a:off x="11505020" y="8138546"/>
            <a:ext cx="4999708" cy="4999708"/>
          </a:xfrm>
          <a:custGeom>
            <a:avLst/>
            <a:gdLst/>
            <a:ahLst/>
            <a:cxnLst/>
            <a:rect l="l" t="t" r="r" b="b"/>
            <a:pathLst>
              <a:path w="4999708" h="4999708">
                <a:moveTo>
                  <a:pt x="0" y="4999708"/>
                </a:moveTo>
                <a:lnTo>
                  <a:pt x="4999707" y="4999708"/>
                </a:lnTo>
                <a:lnTo>
                  <a:pt x="4999707" y="0"/>
                </a:lnTo>
                <a:lnTo>
                  <a:pt x="0" y="0"/>
                </a:lnTo>
                <a:lnTo>
                  <a:pt x="0" y="4999708"/>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2" name="Freeform 12">
            <a:extLst>
              <a:ext uri="{FF2B5EF4-FFF2-40B4-BE49-F238E27FC236}">
                <a16:creationId xmlns:a16="http://schemas.microsoft.com/office/drawing/2014/main" id="{59D3A3E5-58DC-4A1A-B4CB-37C14DE9A861}"/>
              </a:ext>
            </a:extLst>
          </p:cNvPr>
          <p:cNvSpPr>
            <a:spLocks noGrp="1"/>
          </p:cNvSpPr>
          <p:nvPr/>
        </p:nvSpPr>
        <p:spPr>
          <a:xfrm rot="5400000">
            <a:off x="-2859348" y="-3588939"/>
            <a:ext cx="5718695" cy="5718695"/>
          </a:xfrm>
          <a:custGeom>
            <a:avLst/>
            <a:gdLst/>
            <a:ahLst/>
            <a:cxnLst/>
            <a:rect l="l" t="t" r="r" b="b"/>
            <a:pathLst>
              <a:path w="5718695" h="5718695">
                <a:moveTo>
                  <a:pt x="0" y="0"/>
                </a:moveTo>
                <a:lnTo>
                  <a:pt x="5718696" y="0"/>
                </a:lnTo>
                <a:lnTo>
                  <a:pt x="5718696" y="5718695"/>
                </a:lnTo>
                <a:lnTo>
                  <a:pt x="0" y="57186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3" name="Rectangle 12">
            <a:extLst>
              <a:ext uri="{FF2B5EF4-FFF2-40B4-BE49-F238E27FC236}">
                <a16:creationId xmlns:a16="http://schemas.microsoft.com/office/drawing/2014/main" id="{7FEB084E-F3FF-4182-9974-1EF2849931EB}"/>
              </a:ext>
            </a:extLst>
          </p:cNvPr>
          <p:cNvSpPr>
            <a:spLocks noGrp="1"/>
          </p:cNvSpPr>
          <p:nvPr/>
        </p:nvSpPr>
        <p:spPr>
          <a:xfrm>
            <a:off x="876300" y="533400"/>
            <a:ext cx="16002000" cy="1000125"/>
          </a:xfrm>
          <a:prstGeom prst="rect">
            <a:avLst/>
          </a:prstGeom>
          <a:noFill/>
          <a:ln w="0">
            <a:noFill/>
          </a:ln>
        </p:spPr>
        <p:txBody>
          <a:bodyPr anchor="ctr">
            <a:normAutofit/>
          </a:bodyPr>
          <a:lstStyle/>
          <a:p>
            <a:pPr algn="l">
              <a:defRPr sz="4650" b="1">
                <a:solidFill>
                  <a:srgbClr val="000000"/>
                </a:solidFill>
                <a:latin typeface="Hero Bold"/>
                <a:ea typeface="Hero Bold"/>
                <a:cs typeface="Hero Bold"/>
              </a:defRPr>
            </a:pPr>
            <a:r>
              <a:rPr sz="4650" b="1">
                <a:solidFill>
                  <a:srgbClr val="000000"/>
                </a:solidFill>
                <a:latin typeface="Hero Bold"/>
                <a:ea typeface="Hero Bold"/>
                <a:cs typeface="Hero Bold"/>
              </a:rPr>
              <a:t>Dataset preparation</a:t>
            </a:r>
          </a:p>
        </p:txBody>
      </p:sp>
      <p:sp>
        <p:nvSpPr>
          <p:cNvPr id="14" name="Rectangle 13">
            <a:extLst>
              <a:ext uri="{FF2B5EF4-FFF2-40B4-BE49-F238E27FC236}">
                <a16:creationId xmlns:a16="http://schemas.microsoft.com/office/drawing/2014/main" id="{0BC1A9AB-B034-46ED-B02E-4EED1729CFEF}"/>
              </a:ext>
            </a:extLst>
          </p:cNvPr>
          <p:cNvSpPr>
            <a:spLocks noGrp="1"/>
          </p:cNvSpPr>
          <p:nvPr/>
        </p:nvSpPr>
        <p:spPr>
          <a:xfrm>
            <a:off x="1190625" y="2190750"/>
            <a:ext cx="2857500" cy="1143000"/>
          </a:xfrm>
          <a:prstGeom prst="rect">
            <a:avLst/>
          </a:prstGeom>
          <a:noFill/>
          <a:ln w="0">
            <a:noFill/>
          </a:ln>
        </p:spPr>
        <p:txBody>
          <a:bodyPr anchor="ctr">
            <a:normAutofit/>
          </a:bodyPr>
          <a:lstStyle/>
          <a:p>
            <a:pPr algn="l">
              <a:defRPr sz="6150" b="1">
                <a:solidFill>
                  <a:srgbClr val="117C89"/>
                </a:solidFill>
                <a:latin typeface="Hero Bold"/>
                <a:ea typeface="Hero Bold"/>
                <a:cs typeface="Hero Bold"/>
              </a:defRPr>
            </a:pPr>
            <a:r>
              <a:rPr sz="6150" b="1">
                <a:solidFill>
                  <a:srgbClr val="117C89"/>
                </a:solidFill>
                <a:latin typeface="Hero Bold"/>
                <a:ea typeface="Hero Bold"/>
                <a:cs typeface="Hero Bold"/>
              </a:rPr>
              <a:t>430</a:t>
            </a:r>
          </a:p>
        </p:txBody>
      </p:sp>
      <p:sp>
        <p:nvSpPr>
          <p:cNvPr id="15" name="Rectangle 14">
            <a:extLst>
              <a:ext uri="{FF2B5EF4-FFF2-40B4-BE49-F238E27FC236}">
                <a16:creationId xmlns:a16="http://schemas.microsoft.com/office/drawing/2014/main" id="{1AAF95B2-AD62-4C68-B7DE-5A0BAE0E2625}"/>
              </a:ext>
            </a:extLst>
          </p:cNvPr>
          <p:cNvSpPr>
            <a:spLocks noGrp="1"/>
          </p:cNvSpPr>
          <p:nvPr/>
        </p:nvSpPr>
        <p:spPr>
          <a:xfrm>
            <a:off x="1190625" y="3314700"/>
            <a:ext cx="3238500" cy="457200"/>
          </a:xfrm>
          <a:prstGeom prst="rect">
            <a:avLst/>
          </a:prstGeom>
          <a:noFill/>
          <a:ln w="0">
            <a:noFill/>
          </a:ln>
        </p:spPr>
        <p:txBody>
          <a:bodyPr anchor="ctr">
            <a:normAutofit/>
          </a:bodyPr>
          <a:lstStyle/>
          <a:p>
            <a:pPr algn="l">
              <a:defRPr sz="2325" b="1">
                <a:solidFill>
                  <a:srgbClr val="000000"/>
                </a:solidFill>
                <a:latin typeface="Hero Bold"/>
                <a:ea typeface="Hero Bold"/>
                <a:cs typeface="Hero Bold"/>
              </a:defRPr>
            </a:pPr>
            <a:r>
              <a:rPr sz="2325" b="1">
                <a:solidFill>
                  <a:srgbClr val="000000"/>
                </a:solidFill>
                <a:latin typeface="Hero Bold"/>
                <a:ea typeface="Hero Bold"/>
                <a:cs typeface="Hero Bold"/>
              </a:rPr>
              <a:t>general attractions</a:t>
            </a:r>
          </a:p>
        </p:txBody>
      </p:sp>
      <p:sp>
        <p:nvSpPr>
          <p:cNvPr id="16" name="Rectangle: Rounded Corners 15">
            <a:extLst>
              <a:ext uri="{FF2B5EF4-FFF2-40B4-BE49-F238E27FC236}">
                <a16:creationId xmlns:a16="http://schemas.microsoft.com/office/drawing/2014/main" id="{4510322A-C85B-40F3-8DAC-6877517C04B7}"/>
              </a:ext>
            </a:extLst>
          </p:cNvPr>
          <p:cNvSpPr>
            <a:spLocks noGrp="1"/>
          </p:cNvSpPr>
          <p:nvPr/>
        </p:nvSpPr>
        <p:spPr>
          <a:xfrm>
            <a:off x="1190625" y="3938021"/>
            <a:ext cx="3852430" cy="723900"/>
          </a:xfrm>
          <a:prstGeom prst="roundRect">
            <a:avLst/>
          </a:prstGeom>
          <a:solidFill>
            <a:schemeClr val="bg1"/>
          </a:solidFill>
          <a:ln w="0">
            <a:noFill/>
          </a:ln>
        </p:spPr>
        <p:txBody>
          <a:bodyPr anchor="ctr">
            <a:normAutofit/>
          </a:bodyPr>
          <a:lstStyle/>
          <a:p>
            <a:pPr algn="l">
              <a:defRPr sz="1800" b="0">
                <a:solidFill>
                  <a:srgbClr val="30434B"/>
                </a:solidFill>
                <a:latin typeface="Quicksand"/>
                <a:ea typeface="Quicksand"/>
                <a:cs typeface="Quicksand"/>
              </a:defRPr>
            </a:pPr>
            <a:r>
              <a:rPr sz="1800" b="1" dirty="0">
                <a:solidFill>
                  <a:srgbClr val="30434B"/>
                </a:solidFill>
                <a:latin typeface="Quicksand"/>
                <a:ea typeface="Quicksand"/>
                <a:cs typeface="Quicksand"/>
              </a:rPr>
              <a:t>13 states and 3 federal territories</a:t>
            </a:r>
          </a:p>
        </p:txBody>
      </p:sp>
      <p:sp>
        <p:nvSpPr>
          <p:cNvPr id="17" name="Rectangle 16">
            <a:extLst>
              <a:ext uri="{FF2B5EF4-FFF2-40B4-BE49-F238E27FC236}">
                <a16:creationId xmlns:a16="http://schemas.microsoft.com/office/drawing/2014/main" id="{7A81E581-87C5-4D9C-94F7-7F2AC55B2868}"/>
              </a:ext>
            </a:extLst>
          </p:cNvPr>
          <p:cNvSpPr>
            <a:spLocks noGrp="1"/>
          </p:cNvSpPr>
          <p:nvPr/>
        </p:nvSpPr>
        <p:spPr>
          <a:xfrm>
            <a:off x="1190625" y="5286375"/>
            <a:ext cx="2857500" cy="1143000"/>
          </a:xfrm>
          <a:prstGeom prst="rect">
            <a:avLst/>
          </a:prstGeom>
          <a:noFill/>
          <a:ln w="0">
            <a:noFill/>
          </a:ln>
        </p:spPr>
        <p:txBody>
          <a:bodyPr anchor="ctr">
            <a:normAutofit/>
          </a:bodyPr>
          <a:lstStyle/>
          <a:p>
            <a:pPr algn="l">
              <a:defRPr sz="6150" b="1">
                <a:solidFill>
                  <a:srgbClr val="117C89"/>
                </a:solidFill>
                <a:latin typeface="Hero Bold"/>
                <a:ea typeface="Hero Bold"/>
                <a:cs typeface="Hero Bold"/>
              </a:defRPr>
            </a:pPr>
            <a:r>
              <a:rPr sz="6150" b="1">
                <a:solidFill>
                  <a:srgbClr val="117C89"/>
                </a:solidFill>
                <a:latin typeface="Hero Bold"/>
                <a:ea typeface="Hero Bold"/>
                <a:cs typeface="Hero Bold"/>
              </a:rPr>
              <a:t>66</a:t>
            </a:r>
          </a:p>
        </p:txBody>
      </p:sp>
      <p:sp>
        <p:nvSpPr>
          <p:cNvPr id="18" name="Rectangle 17">
            <a:extLst>
              <a:ext uri="{FF2B5EF4-FFF2-40B4-BE49-F238E27FC236}">
                <a16:creationId xmlns:a16="http://schemas.microsoft.com/office/drawing/2014/main" id="{004E7A98-9307-4F00-96B4-AC6379788023}"/>
              </a:ext>
            </a:extLst>
          </p:cNvPr>
          <p:cNvSpPr>
            <a:spLocks noGrp="1"/>
          </p:cNvSpPr>
          <p:nvPr/>
        </p:nvSpPr>
        <p:spPr>
          <a:xfrm>
            <a:off x="1190625" y="6410325"/>
            <a:ext cx="4000500" cy="762000"/>
          </a:xfrm>
          <a:prstGeom prst="rect">
            <a:avLst/>
          </a:prstGeom>
          <a:noFill/>
          <a:ln w="0">
            <a:noFill/>
          </a:ln>
        </p:spPr>
        <p:txBody>
          <a:bodyPr anchor="ctr">
            <a:normAutofit fontScale="94624"/>
          </a:bodyPr>
          <a:lstStyle/>
          <a:p>
            <a:pPr algn="l">
              <a:defRPr sz="2325" b="1">
                <a:solidFill>
                  <a:srgbClr val="000000"/>
                </a:solidFill>
                <a:latin typeface="Hero Bold"/>
                <a:ea typeface="Hero Bold"/>
                <a:cs typeface="Hero Bold"/>
              </a:defRPr>
            </a:pPr>
            <a:r>
              <a:rPr sz="2325" b="1">
                <a:solidFill>
                  <a:srgbClr val="000000"/>
                </a:solidFill>
                <a:latin typeface="Hero Bold"/>
                <a:ea typeface="Hero Bold"/>
                <a:cs typeface="Hero Bold"/>
              </a:rPr>
              <a:t>reviewed accessibility entries</a:t>
            </a:r>
          </a:p>
        </p:txBody>
      </p:sp>
      <p:sp>
        <p:nvSpPr>
          <p:cNvPr id="19" name="Rectangle: Rounded Corners 18">
            <a:extLst>
              <a:ext uri="{FF2B5EF4-FFF2-40B4-BE49-F238E27FC236}">
                <a16:creationId xmlns:a16="http://schemas.microsoft.com/office/drawing/2014/main" id="{F78F81E3-3674-4E00-B7A6-4DD1738C0896}"/>
              </a:ext>
            </a:extLst>
          </p:cNvPr>
          <p:cNvSpPr>
            <a:spLocks noGrp="1"/>
          </p:cNvSpPr>
          <p:nvPr/>
        </p:nvSpPr>
        <p:spPr>
          <a:xfrm>
            <a:off x="1190625" y="7239000"/>
            <a:ext cx="4000500" cy="685800"/>
          </a:xfrm>
          <a:prstGeom prst="roundRect">
            <a:avLst/>
          </a:prstGeom>
          <a:solidFill>
            <a:schemeClr val="bg1"/>
          </a:solidFill>
          <a:ln w="0">
            <a:noFill/>
          </a:ln>
        </p:spPr>
        <p:txBody>
          <a:bodyPr anchor="ctr">
            <a:normAutofit lnSpcReduction="10000"/>
          </a:bodyPr>
          <a:lstStyle/>
          <a:p>
            <a:pPr algn="l">
              <a:defRPr sz="1800" b="0">
                <a:solidFill>
                  <a:srgbClr val="30434B"/>
                </a:solidFill>
                <a:latin typeface="Quicksand"/>
                <a:ea typeface="Quicksand"/>
                <a:cs typeface="Quicksand"/>
              </a:defRPr>
            </a:pPr>
            <a:r>
              <a:rPr sz="1800" b="1" dirty="0">
                <a:solidFill>
                  <a:srgbClr val="30434B"/>
                </a:solidFill>
                <a:latin typeface="Quicksand"/>
                <a:ea typeface="Quicksand"/>
                <a:cs typeface="Quicksand"/>
              </a:rPr>
              <a:t>Used for elderly and mobility-focused requests</a:t>
            </a:r>
          </a:p>
        </p:txBody>
      </p:sp>
      <p:graphicFrame>
        <p:nvGraphicFramePr>
          <p:cNvPr id="35" name="Table 34"/>
          <p:cNvGraphicFramePr/>
          <p:nvPr/>
        </p:nvGraphicFramePr>
        <p:xfrm>
          <a:off x="5905500" y="2047875"/>
          <a:ext cx="11049000" cy="5334000"/>
        </p:xfrm>
        <a:graphic>
          <a:graphicData uri="http://schemas.openxmlformats.org/drawingml/2006/table">
            <a:tbl>
              <a:tblPr/>
              <a:tblGrid>
                <a:gridCol w="5334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1066800">
                <a:tc>
                  <a:txBody>
                    <a:bodyPr/>
                    <a:lstStyle/>
                    <a:p>
                      <a:r>
                        <a:rPr sz="1875" b="1">
                          <a:solidFill>
                            <a:srgbClr val="FFFFFF"/>
                          </a:solidFill>
                          <a:latin typeface="Hero Bold"/>
                          <a:ea typeface="Hero Bold"/>
                          <a:cs typeface="Hero Bold"/>
                        </a:rPr>
                        <a:t>General attraction catalogue</a:t>
                      </a:r>
                    </a:p>
                  </a:txBody>
                  <a:tcPr marL="133350" marR="133350" marT="95250" marB="95250" anchor="ctr">
                    <a:solidFill>
                      <a:srgbClr val="117C89"/>
                    </a:solidFill>
                  </a:tcPr>
                </a:tc>
                <a:tc>
                  <a:txBody>
                    <a:bodyPr/>
                    <a:lstStyle/>
                    <a:p>
                      <a:r>
                        <a:rPr sz="1875" b="1">
                          <a:solidFill>
                            <a:srgbClr val="FFFFFF"/>
                          </a:solidFill>
                          <a:latin typeface="Hero Bold"/>
                          <a:ea typeface="Hero Bold"/>
                          <a:cs typeface="Hero Bold"/>
                        </a:rPr>
                        <a:t>Reviewed accessibility layer</a:t>
                      </a:r>
                    </a:p>
                  </a:txBody>
                  <a:tcPr marL="133350" marR="133350" marT="95250" marB="95250" anchor="ctr">
                    <a:solidFill>
                      <a:srgbClr val="117C89"/>
                    </a:solidFill>
                  </a:tcPr>
                </a:tc>
                <a:extLst>
                  <a:ext uri="{0D108BD9-81ED-4DB2-BD59-A6C34878D82A}">
                    <a16:rowId xmlns:a16="http://schemas.microsoft.com/office/drawing/2014/main" val="10000"/>
                  </a:ext>
                </a:extLst>
              </a:tr>
              <a:tr h="1066800">
                <a:tc>
                  <a:txBody>
                    <a:bodyPr/>
                    <a:lstStyle/>
                    <a:p>
                      <a:r>
                        <a:rPr sz="1725">
                          <a:solidFill>
                            <a:srgbClr val="000000"/>
                          </a:solidFill>
                          <a:latin typeface="Quicksand"/>
                          <a:ea typeface="Quicksand"/>
                          <a:cs typeface="Quicksand"/>
                        </a:rPr>
                        <a:t>Name, state and district</a:t>
                      </a:r>
                    </a:p>
                  </a:txBody>
                  <a:tcPr marL="133350" marR="133350" marT="95250" marB="95250" anchor="ctr">
                    <a:solidFill>
                      <a:srgbClr val="FFFFFF"/>
                    </a:solidFill>
                  </a:tcPr>
                </a:tc>
                <a:tc>
                  <a:txBody>
                    <a:bodyPr/>
                    <a:lstStyle/>
                    <a:p>
                      <a:r>
                        <a:rPr sz="1725">
                          <a:solidFill>
                            <a:srgbClr val="000000"/>
                          </a:solidFill>
                          <a:latin typeface="Quicksand"/>
                          <a:ea typeface="Quicksand"/>
                          <a:cs typeface="Quicksand"/>
                        </a:rPr>
                        <a:t>Walking difficulty</a:t>
                      </a:r>
                    </a:p>
                  </a:txBody>
                  <a:tcPr marL="133350" marR="133350" marT="95250" marB="95250" anchor="ctr">
                    <a:solidFill>
                      <a:srgbClr val="FFFFFF"/>
                    </a:solidFill>
                  </a:tcPr>
                </a:tc>
                <a:extLst>
                  <a:ext uri="{0D108BD9-81ED-4DB2-BD59-A6C34878D82A}">
                    <a16:rowId xmlns:a16="http://schemas.microsoft.com/office/drawing/2014/main" val="10001"/>
                  </a:ext>
                </a:extLst>
              </a:tr>
              <a:tr h="1066800">
                <a:tc>
                  <a:txBody>
                    <a:bodyPr/>
                    <a:lstStyle/>
                    <a:p>
                      <a:r>
                        <a:rPr sz="1725">
                          <a:solidFill>
                            <a:srgbClr val="000000"/>
                          </a:solidFill>
                          <a:latin typeface="Quicksand"/>
                          <a:ea typeface="Quicksand"/>
                          <a:cs typeface="Quicksand"/>
                        </a:rPr>
                        <a:t>Category, cost and duration</a:t>
                      </a:r>
                    </a:p>
                  </a:txBody>
                  <a:tcPr marL="133350" marR="133350" marT="95250" marB="95250" anchor="ctr">
                    <a:solidFill>
                      <a:srgbClr val="E8F6FB"/>
                    </a:solidFill>
                  </a:tcPr>
                </a:tc>
                <a:tc>
                  <a:txBody>
                    <a:bodyPr/>
                    <a:lstStyle/>
                    <a:p>
                      <a:r>
                        <a:rPr sz="1725">
                          <a:solidFill>
                            <a:srgbClr val="000000"/>
                          </a:solidFill>
                          <a:latin typeface="Quicksand"/>
                          <a:ea typeface="Quicksand"/>
                          <a:cs typeface="Quicksand"/>
                        </a:rPr>
                        <a:t>Step-free and wheelchair access</a:t>
                      </a:r>
                    </a:p>
                  </a:txBody>
                  <a:tcPr marL="133350" marR="133350" marT="95250" marB="95250" anchor="ctr">
                    <a:solidFill>
                      <a:srgbClr val="E8F6FB"/>
                    </a:solidFill>
                  </a:tcPr>
                </a:tc>
                <a:extLst>
                  <a:ext uri="{0D108BD9-81ED-4DB2-BD59-A6C34878D82A}">
                    <a16:rowId xmlns:a16="http://schemas.microsoft.com/office/drawing/2014/main" val="10002"/>
                  </a:ext>
                </a:extLst>
              </a:tr>
              <a:tr h="1066800">
                <a:tc>
                  <a:txBody>
                    <a:bodyPr/>
                    <a:lstStyle/>
                    <a:p>
                      <a:r>
                        <a:rPr sz="1725">
                          <a:solidFill>
                            <a:srgbClr val="000000"/>
                          </a:solidFill>
                          <a:latin typeface="Quicksand"/>
                          <a:ea typeface="Quicksand"/>
                          <a:cs typeface="Quicksand"/>
                        </a:rPr>
                        <a:t>Tags and descriptions</a:t>
                      </a:r>
                    </a:p>
                  </a:txBody>
                  <a:tcPr marL="133350" marR="133350" marT="95250" marB="95250" anchor="ctr">
                    <a:solidFill>
                      <a:srgbClr val="FFFFFF"/>
                    </a:solidFill>
                  </a:tcPr>
                </a:tc>
                <a:tc>
                  <a:txBody>
                    <a:bodyPr/>
                    <a:lstStyle/>
                    <a:p>
                      <a:r>
                        <a:rPr sz="1725">
                          <a:solidFill>
                            <a:srgbClr val="000000"/>
                          </a:solidFill>
                          <a:latin typeface="Quicksand"/>
                          <a:ea typeface="Quicksand"/>
                          <a:cs typeface="Quicksand"/>
                        </a:rPr>
                        <a:t>Seats, toilets, parking and shelter</a:t>
                      </a:r>
                    </a:p>
                  </a:txBody>
                  <a:tcPr marL="133350" marR="133350" marT="95250" marB="95250" anchor="ctr">
                    <a:solidFill>
                      <a:srgbClr val="FFFFFF"/>
                    </a:solidFill>
                  </a:tcPr>
                </a:tc>
                <a:extLst>
                  <a:ext uri="{0D108BD9-81ED-4DB2-BD59-A6C34878D82A}">
                    <a16:rowId xmlns:a16="http://schemas.microsoft.com/office/drawing/2014/main" val="10003"/>
                  </a:ext>
                </a:extLst>
              </a:tr>
              <a:tr h="1066800">
                <a:tc>
                  <a:txBody>
                    <a:bodyPr/>
                    <a:lstStyle/>
                    <a:p>
                      <a:r>
                        <a:rPr sz="1725">
                          <a:solidFill>
                            <a:srgbClr val="000000"/>
                          </a:solidFill>
                          <a:latin typeface="Quicksand"/>
                          <a:ea typeface="Quicksand"/>
                          <a:cs typeface="Quicksand"/>
                        </a:rPr>
                        <a:t>Images and tourism information</a:t>
                      </a:r>
                    </a:p>
                  </a:txBody>
                  <a:tcPr marL="133350" marR="133350" marT="95250" marB="95250" anchor="ctr">
                    <a:solidFill>
                      <a:srgbClr val="E8F6FB"/>
                    </a:solidFill>
                  </a:tcPr>
                </a:tc>
                <a:tc>
                  <a:txBody>
                    <a:bodyPr/>
                    <a:lstStyle/>
                    <a:p>
                      <a:r>
                        <a:rPr sz="1725">
                          <a:solidFill>
                            <a:srgbClr val="000000"/>
                          </a:solidFill>
                          <a:latin typeface="Quicksand"/>
                          <a:ea typeface="Quicksand"/>
                          <a:cs typeface="Quicksand"/>
                        </a:rPr>
                        <a:t>Suitability reason, limitations and evidence links</a:t>
                      </a:r>
                    </a:p>
                  </a:txBody>
                  <a:tcPr marL="133350" marR="133350" marT="95250" marB="95250" anchor="ctr">
                    <a:solidFill>
                      <a:srgbClr val="E8F6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02972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5516A42C-60B4-4DDB-AC8D-0B8962A0904C}"/>
              </a:ext>
            </a:extLst>
          </p:cNvPr>
          <p:cNvSpPr>
            <a:spLocks noGrp="1"/>
          </p:cNvSpPr>
          <p:nvPr/>
        </p:nvSpPr>
        <p:spPr>
          <a:xfrm>
            <a:off x="15047036" y="6205389"/>
            <a:ext cx="6481928" cy="6481928"/>
          </a:xfrm>
          <a:custGeom>
            <a:avLst/>
            <a:gdLst/>
            <a:ahLst/>
            <a:cxnLst/>
            <a:rect l="l" t="t" r="r" b="b"/>
            <a:pathLst>
              <a:path w="6481928" h="6481928">
                <a:moveTo>
                  <a:pt x="0" y="0"/>
                </a:moveTo>
                <a:lnTo>
                  <a:pt x="6481928" y="0"/>
                </a:lnTo>
                <a:lnTo>
                  <a:pt x="6481928" y="6481928"/>
                </a:lnTo>
                <a:lnTo>
                  <a:pt x="0" y="64819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6B307539-81F9-4FED-A20A-DA0137209673}"/>
              </a:ext>
            </a:extLst>
          </p:cNvPr>
          <p:cNvSpPr>
            <a:spLocks noGrp="1"/>
          </p:cNvSpPr>
          <p:nvPr/>
        </p:nvSpPr>
        <p:spPr>
          <a:xfrm>
            <a:off x="3305139" y="1969117"/>
            <a:ext cx="6481928" cy="6481928"/>
          </a:xfrm>
          <a:custGeom>
            <a:avLst/>
            <a:gdLst/>
            <a:ahLst/>
            <a:cxnLst/>
            <a:rect l="l" t="t" r="r" b="b"/>
            <a:pathLst>
              <a:path w="6481928" h="6481928">
                <a:moveTo>
                  <a:pt x="0" y="0"/>
                </a:moveTo>
                <a:lnTo>
                  <a:pt x="6481928" y="0"/>
                </a:lnTo>
                <a:lnTo>
                  <a:pt x="6481928" y="6481928"/>
                </a:lnTo>
                <a:lnTo>
                  <a:pt x="0" y="64819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9" name="Freeform 9">
            <a:extLst>
              <a:ext uri="{FF2B5EF4-FFF2-40B4-BE49-F238E27FC236}">
                <a16:creationId xmlns:a16="http://schemas.microsoft.com/office/drawing/2014/main" id="{74D15EA6-A50B-4077-9166-577DEFCE28FA}"/>
              </a:ext>
            </a:extLst>
          </p:cNvPr>
          <p:cNvSpPr>
            <a:spLocks noGrp="1"/>
          </p:cNvSpPr>
          <p:nvPr/>
        </p:nvSpPr>
        <p:spPr>
          <a:xfrm>
            <a:off x="-2057400" y="709214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0" name="Freeform 10">
            <a:extLst>
              <a:ext uri="{FF2B5EF4-FFF2-40B4-BE49-F238E27FC236}">
                <a16:creationId xmlns:a16="http://schemas.microsoft.com/office/drawing/2014/main" id="{A895B1EF-7275-4542-BCDC-8A5D9E69A3C2}"/>
              </a:ext>
            </a:extLst>
          </p:cNvPr>
          <p:cNvSpPr>
            <a:spLocks noGrp="1"/>
          </p:cNvSpPr>
          <p:nvPr/>
        </p:nvSpPr>
        <p:spPr>
          <a:xfrm rot="5400000" flipH="1">
            <a:off x="12392071" y="8705253"/>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1" name="Freeform 11">
            <a:extLst>
              <a:ext uri="{FF2B5EF4-FFF2-40B4-BE49-F238E27FC236}">
                <a16:creationId xmlns:a16="http://schemas.microsoft.com/office/drawing/2014/main" id="{4B24B52A-C4ED-4E0B-AB8B-4E8FCAF429BB}"/>
              </a:ext>
            </a:extLst>
          </p:cNvPr>
          <p:cNvSpPr>
            <a:spLocks noGrp="1"/>
          </p:cNvSpPr>
          <p:nvPr/>
        </p:nvSpPr>
        <p:spPr>
          <a:xfrm rot="5400000" flipH="1">
            <a:off x="-2953364" y="3789531"/>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2" name="Freeform 12">
            <a:extLst>
              <a:ext uri="{FF2B5EF4-FFF2-40B4-BE49-F238E27FC236}">
                <a16:creationId xmlns:a16="http://schemas.microsoft.com/office/drawing/2014/main" id="{C0C6CA66-9813-4258-9470-31F4A3E69CAA}"/>
              </a:ext>
            </a:extLst>
          </p:cNvPr>
          <p:cNvSpPr>
            <a:spLocks noGrp="1"/>
          </p:cNvSpPr>
          <p:nvPr/>
        </p:nvSpPr>
        <p:spPr>
          <a:xfrm rot="5400000" flipV="1">
            <a:off x="15804219" y="-2012947"/>
            <a:ext cx="3982064" cy="3982064"/>
          </a:xfrm>
          <a:custGeom>
            <a:avLst/>
            <a:gdLst/>
            <a:ahLst/>
            <a:cxnLst/>
            <a:rect l="l" t="t" r="r" b="b"/>
            <a:pathLst>
              <a:path w="3982064" h="3982064">
                <a:moveTo>
                  <a:pt x="0" y="3982064"/>
                </a:moveTo>
                <a:lnTo>
                  <a:pt x="3982064" y="3982064"/>
                </a:lnTo>
                <a:lnTo>
                  <a:pt x="3982064" y="0"/>
                </a:lnTo>
                <a:lnTo>
                  <a:pt x="0" y="0"/>
                </a:lnTo>
                <a:lnTo>
                  <a:pt x="0" y="398206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3" name="Rectangle 12">
            <a:extLst>
              <a:ext uri="{FF2B5EF4-FFF2-40B4-BE49-F238E27FC236}">
                <a16:creationId xmlns:a16="http://schemas.microsoft.com/office/drawing/2014/main" id="{BECC6378-EE1D-42E2-802F-D3B44E9B8208}"/>
              </a:ext>
            </a:extLst>
          </p:cNvPr>
          <p:cNvSpPr>
            <a:spLocks noGrp="1"/>
          </p:cNvSpPr>
          <p:nvPr/>
        </p:nvSpPr>
        <p:spPr>
          <a:xfrm>
            <a:off x="876300" y="533400"/>
            <a:ext cx="16002000" cy="1000125"/>
          </a:xfrm>
          <a:prstGeom prst="rect">
            <a:avLst/>
          </a:prstGeom>
          <a:noFill/>
          <a:ln w="0">
            <a:noFill/>
          </a:ln>
        </p:spPr>
        <p:txBody>
          <a:bodyPr anchor="ctr">
            <a:normAutofit/>
          </a:bodyPr>
          <a:lstStyle/>
          <a:p>
            <a:pPr algn="l">
              <a:defRPr sz="4650" b="1">
                <a:solidFill>
                  <a:srgbClr val="000000"/>
                </a:solidFill>
                <a:latin typeface="Hero Bold"/>
                <a:ea typeface="Hero Bold"/>
                <a:cs typeface="Hero Bold"/>
              </a:defRPr>
            </a:pPr>
            <a:r>
              <a:rPr sz="4650" b="1">
                <a:solidFill>
                  <a:srgbClr val="000000"/>
                </a:solidFill>
                <a:latin typeface="Hero Bold"/>
                <a:ea typeface="Hero Bold"/>
                <a:cs typeface="Hero Bold"/>
              </a:rPr>
              <a:t>Key features</a:t>
            </a:r>
          </a:p>
        </p:txBody>
      </p:sp>
      <p:pic>
        <p:nvPicPr>
          <p:cNvPr id="29" name="Picture 28"/>
          <p:cNvPicPr>
            <a:picLocks noChangeAspect="1"/>
          </p:cNvPicPr>
          <p:nvPr/>
        </p:nvPicPr>
        <p:blipFill>
          <a:blip r:embed="rId5"/>
          <a:stretch/>
        </p:blipFill>
        <p:spPr>
          <a:xfrm>
            <a:off x="1000125" y="1818183"/>
            <a:ext cx="10287000" cy="6269633"/>
          </a:xfrm>
          <a:prstGeom prst="roundRect">
            <a:avLst>
              <a:gd name="adj" fmla="val 1818"/>
            </a:avLst>
          </a:prstGeom>
        </p:spPr>
      </p:pic>
      <p:sp>
        <p:nvSpPr>
          <p:cNvPr id="15" name="Rectangle: Rounded Corners 14">
            <a:extLst>
              <a:ext uri="{FF2B5EF4-FFF2-40B4-BE49-F238E27FC236}">
                <a16:creationId xmlns:a16="http://schemas.microsoft.com/office/drawing/2014/main" id="{20AA4684-CF52-4100-BB94-62134142C023}"/>
              </a:ext>
            </a:extLst>
          </p:cNvPr>
          <p:cNvSpPr>
            <a:spLocks noGrp="1"/>
          </p:cNvSpPr>
          <p:nvPr/>
        </p:nvSpPr>
        <p:spPr>
          <a:xfrm>
            <a:off x="11858625" y="2095500"/>
            <a:ext cx="3188411" cy="438150"/>
          </a:xfrm>
          <a:prstGeom prst="roundRect">
            <a:avLst/>
          </a:prstGeom>
          <a:solidFill>
            <a:schemeClr val="bg1"/>
          </a:solidFill>
          <a:ln w="0">
            <a:noFill/>
          </a:ln>
        </p:spPr>
        <p:txBody>
          <a:bodyPr anchor="ctr">
            <a:normAutofit lnSpcReduction="10000"/>
          </a:bodyPr>
          <a:lstStyle/>
          <a:p>
            <a:pPr algn="l">
              <a:defRPr sz="2175" b="1">
                <a:solidFill>
                  <a:srgbClr val="000000"/>
                </a:solidFill>
                <a:latin typeface="Hero Bold"/>
                <a:ea typeface="Hero Bold"/>
                <a:cs typeface="Hero Bold"/>
              </a:defRPr>
            </a:pPr>
            <a:r>
              <a:rPr sz="2175" b="1">
                <a:solidFill>
                  <a:srgbClr val="000000"/>
                </a:solidFill>
                <a:latin typeface="Hero Bold"/>
                <a:ea typeface="Hero Bold"/>
                <a:cs typeface="Hero Bold"/>
              </a:rPr>
              <a:t>Guided conversation</a:t>
            </a:r>
          </a:p>
        </p:txBody>
      </p:sp>
      <p:sp>
        <p:nvSpPr>
          <p:cNvPr id="16" name="Rectangle 15">
            <a:extLst>
              <a:ext uri="{FF2B5EF4-FFF2-40B4-BE49-F238E27FC236}">
                <a16:creationId xmlns:a16="http://schemas.microsoft.com/office/drawing/2014/main" id="{307A7929-F535-4B6A-A2E3-5AFBD88664AB}"/>
              </a:ext>
            </a:extLst>
          </p:cNvPr>
          <p:cNvSpPr>
            <a:spLocks noGrp="1"/>
          </p:cNvSpPr>
          <p:nvPr/>
        </p:nvSpPr>
        <p:spPr>
          <a:xfrm>
            <a:off x="11858625" y="2619375"/>
            <a:ext cx="5143500" cy="1238250"/>
          </a:xfrm>
          <a:prstGeom prst="rect">
            <a:avLst/>
          </a:prstGeom>
          <a:noFill/>
          <a:ln w="0">
            <a:noFill/>
          </a:ln>
        </p:spPr>
        <p:txBody>
          <a:bodyPr anchor="ctr">
            <a:normAutofit/>
          </a:bodyPr>
          <a:lstStyle/>
          <a:p>
            <a:pPr algn="l">
              <a:defRPr sz="1800" b="0">
                <a:solidFill>
                  <a:srgbClr val="30434B"/>
                </a:solidFill>
                <a:latin typeface="Quicksand"/>
                <a:ea typeface="Quicksand"/>
                <a:cs typeface="Quicksand"/>
              </a:defRPr>
            </a:pPr>
            <a:r>
              <a:rPr sz="1800" b="0">
                <a:solidFill>
                  <a:srgbClr val="30434B"/>
                </a:solidFill>
                <a:latin typeface="Quicksand"/>
                <a:ea typeface="Quicksand"/>
                <a:cs typeface="Quicksand"/>
              </a:rPr>
              <a:t>Maya collects preferences gradually, remembers changes and asks when important details are missing.</a:t>
            </a:r>
          </a:p>
        </p:txBody>
      </p:sp>
      <p:sp>
        <p:nvSpPr>
          <p:cNvPr id="17" name="Rectangle: Rounded Corners 16">
            <a:extLst>
              <a:ext uri="{FF2B5EF4-FFF2-40B4-BE49-F238E27FC236}">
                <a16:creationId xmlns:a16="http://schemas.microsoft.com/office/drawing/2014/main" id="{C456DB48-BDA7-4DF5-B066-4F84B06C5088}"/>
              </a:ext>
            </a:extLst>
          </p:cNvPr>
          <p:cNvSpPr>
            <a:spLocks noGrp="1"/>
          </p:cNvSpPr>
          <p:nvPr/>
        </p:nvSpPr>
        <p:spPr>
          <a:xfrm>
            <a:off x="11858625" y="4191000"/>
            <a:ext cx="3381989" cy="438150"/>
          </a:xfrm>
          <a:prstGeom prst="roundRect">
            <a:avLst/>
          </a:prstGeom>
          <a:solidFill>
            <a:schemeClr val="bg1"/>
          </a:solidFill>
          <a:ln w="0">
            <a:noFill/>
          </a:ln>
        </p:spPr>
        <p:txBody>
          <a:bodyPr anchor="ctr">
            <a:normAutofit lnSpcReduction="10000"/>
          </a:bodyPr>
          <a:lstStyle/>
          <a:p>
            <a:pPr algn="l">
              <a:defRPr sz="2175" b="1">
                <a:solidFill>
                  <a:srgbClr val="000000"/>
                </a:solidFill>
                <a:latin typeface="Hero Bold"/>
                <a:ea typeface="Hero Bold"/>
                <a:cs typeface="Hero Bold"/>
              </a:defRPr>
            </a:pPr>
            <a:r>
              <a:rPr sz="2175" b="1" dirty="0">
                <a:solidFill>
                  <a:srgbClr val="000000"/>
                </a:solidFill>
                <a:latin typeface="Hero Bold"/>
                <a:ea typeface="Hero Bold"/>
                <a:cs typeface="Hero Bold"/>
              </a:rPr>
              <a:t>Accessible interaction</a:t>
            </a:r>
          </a:p>
        </p:txBody>
      </p:sp>
      <p:sp>
        <p:nvSpPr>
          <p:cNvPr id="18" name="Rectangle 17">
            <a:extLst>
              <a:ext uri="{FF2B5EF4-FFF2-40B4-BE49-F238E27FC236}">
                <a16:creationId xmlns:a16="http://schemas.microsoft.com/office/drawing/2014/main" id="{86ADE0BA-9522-4379-8977-BEF9F0C12290}"/>
              </a:ext>
            </a:extLst>
          </p:cNvPr>
          <p:cNvSpPr>
            <a:spLocks noGrp="1"/>
          </p:cNvSpPr>
          <p:nvPr/>
        </p:nvSpPr>
        <p:spPr>
          <a:xfrm>
            <a:off x="11858625" y="4714875"/>
            <a:ext cx="5143500" cy="1238250"/>
          </a:xfrm>
          <a:prstGeom prst="rect">
            <a:avLst/>
          </a:prstGeom>
          <a:noFill/>
          <a:ln w="0">
            <a:noFill/>
          </a:ln>
        </p:spPr>
        <p:txBody>
          <a:bodyPr anchor="ctr">
            <a:normAutofit/>
          </a:bodyPr>
          <a:lstStyle/>
          <a:p>
            <a:pPr algn="l">
              <a:defRPr sz="1800" b="0">
                <a:solidFill>
                  <a:srgbClr val="30434B"/>
                </a:solidFill>
                <a:latin typeface="Quicksand"/>
                <a:ea typeface="Quicksand"/>
                <a:cs typeface="Quicksand"/>
              </a:defRPr>
            </a:pPr>
            <a:r>
              <a:rPr sz="1800" b="0">
                <a:solidFill>
                  <a:srgbClr val="30434B"/>
                </a:solidFill>
                <a:latin typeface="Quicksand"/>
                <a:ea typeface="Quicksand"/>
                <a:cs typeface="Quicksand"/>
              </a:rPr>
              <a:t>The interface provides larger text, high contrast, speech input, read-aloud audio and large controls.</a:t>
            </a:r>
          </a:p>
        </p:txBody>
      </p:sp>
      <p:sp>
        <p:nvSpPr>
          <p:cNvPr id="19" name="Rectangle: Rounded Corners 18">
            <a:extLst>
              <a:ext uri="{FF2B5EF4-FFF2-40B4-BE49-F238E27FC236}">
                <a16:creationId xmlns:a16="http://schemas.microsoft.com/office/drawing/2014/main" id="{2D7F7804-4157-422E-AE2D-1EC9AD90DB39}"/>
              </a:ext>
            </a:extLst>
          </p:cNvPr>
          <p:cNvSpPr>
            <a:spLocks noGrp="1"/>
          </p:cNvSpPr>
          <p:nvPr/>
        </p:nvSpPr>
        <p:spPr>
          <a:xfrm>
            <a:off x="11858625" y="6286500"/>
            <a:ext cx="3188411" cy="438150"/>
          </a:xfrm>
          <a:prstGeom prst="roundRect">
            <a:avLst/>
          </a:prstGeom>
          <a:solidFill>
            <a:schemeClr val="bg1"/>
          </a:solidFill>
          <a:ln w="0">
            <a:noFill/>
          </a:ln>
        </p:spPr>
        <p:txBody>
          <a:bodyPr anchor="ctr">
            <a:normAutofit lnSpcReduction="10000"/>
          </a:bodyPr>
          <a:lstStyle/>
          <a:p>
            <a:pPr algn="l">
              <a:defRPr sz="2175" b="1">
                <a:solidFill>
                  <a:srgbClr val="000000"/>
                </a:solidFill>
                <a:latin typeface="Hero Bold"/>
                <a:ea typeface="Hero Bold"/>
                <a:cs typeface="Hero Bold"/>
              </a:defRPr>
            </a:pPr>
            <a:r>
              <a:rPr sz="2175" b="1" dirty="0">
                <a:solidFill>
                  <a:srgbClr val="000000"/>
                </a:solidFill>
                <a:latin typeface="Hero Bold"/>
                <a:ea typeface="Hero Bold"/>
                <a:cs typeface="Hero Bold"/>
              </a:rPr>
              <a:t>Continued planning</a:t>
            </a:r>
          </a:p>
        </p:txBody>
      </p:sp>
      <p:sp>
        <p:nvSpPr>
          <p:cNvPr id="20" name="Rectangle 19">
            <a:extLst>
              <a:ext uri="{FF2B5EF4-FFF2-40B4-BE49-F238E27FC236}">
                <a16:creationId xmlns:a16="http://schemas.microsoft.com/office/drawing/2014/main" id="{D56A2F3E-22DC-41C9-A4A8-30306910AEDC}"/>
              </a:ext>
            </a:extLst>
          </p:cNvPr>
          <p:cNvSpPr>
            <a:spLocks noGrp="1"/>
          </p:cNvSpPr>
          <p:nvPr/>
        </p:nvSpPr>
        <p:spPr>
          <a:xfrm>
            <a:off x="11858625" y="6810375"/>
            <a:ext cx="5143500" cy="1000125"/>
          </a:xfrm>
          <a:prstGeom prst="rect">
            <a:avLst/>
          </a:prstGeom>
          <a:noFill/>
          <a:ln w="0">
            <a:noFill/>
          </a:ln>
        </p:spPr>
        <p:txBody>
          <a:bodyPr anchor="ctr">
            <a:normAutofit/>
          </a:bodyPr>
          <a:lstStyle/>
          <a:p>
            <a:pPr algn="l">
              <a:defRPr sz="1800" b="0">
                <a:solidFill>
                  <a:srgbClr val="30434B"/>
                </a:solidFill>
                <a:latin typeface="Quicksand"/>
                <a:ea typeface="Quicksand"/>
                <a:cs typeface="Quicksand"/>
              </a:defRPr>
            </a:pPr>
            <a:r>
              <a:rPr sz="1800" b="0">
                <a:solidFill>
                  <a:srgbClr val="30434B"/>
                </a:solidFill>
                <a:latin typeface="Quicksand"/>
                <a:ea typeface="Quicksand"/>
                <a:cs typeface="Quicksand"/>
              </a:rPr>
              <a:t>Users can save chats, request more options and clarify similar attraction names.</a:t>
            </a:r>
          </a:p>
        </p:txBody>
      </p:sp>
      <p:sp>
        <p:nvSpPr>
          <p:cNvPr id="21" name="Rectangle 20">
            <a:extLst>
              <a:ext uri="{FF2B5EF4-FFF2-40B4-BE49-F238E27FC236}">
                <a16:creationId xmlns:a16="http://schemas.microsoft.com/office/drawing/2014/main" id="{A6C76702-C1D3-416B-8BE7-95B11852AB31}"/>
              </a:ext>
            </a:extLst>
          </p:cNvPr>
          <p:cNvSpPr>
            <a:spLocks noGrp="1"/>
          </p:cNvSpPr>
          <p:nvPr/>
        </p:nvSpPr>
        <p:spPr>
          <a:xfrm>
            <a:off x="11858625" y="8286750"/>
            <a:ext cx="5143500" cy="666750"/>
          </a:xfrm>
          <a:prstGeom prst="rect">
            <a:avLst/>
          </a:prstGeom>
          <a:noFill/>
          <a:ln w="0">
            <a:noFill/>
          </a:ln>
        </p:spPr>
        <p:txBody>
          <a:bodyPr anchor="ctr">
            <a:normAutofit/>
          </a:bodyPr>
          <a:lstStyle/>
          <a:p>
            <a:pPr algn="l">
              <a:defRPr sz="1725" b="1">
                <a:solidFill>
                  <a:srgbClr val="117C89"/>
                </a:solidFill>
                <a:latin typeface="Hero Bold"/>
                <a:ea typeface="Hero Bold"/>
                <a:cs typeface="Hero Bold"/>
              </a:defRPr>
            </a:pPr>
            <a:r>
              <a:rPr sz="1725" b="1" dirty="0">
                <a:solidFill>
                  <a:srgbClr val="117C89"/>
                </a:solidFill>
                <a:latin typeface="Hero Bold"/>
                <a:ea typeface="Hero Bold"/>
                <a:cs typeface="Hero Bold"/>
              </a:rPr>
              <a:t>English, Malay and Simplified Chinese modes use controlled phrase support.</a:t>
            </a:r>
          </a:p>
        </p:txBody>
      </p:sp>
      <p:sp>
        <p:nvSpPr>
          <p:cNvPr id="4" name="Rectangle: Rounded Corners 3">
            <a:extLst>
              <a:ext uri="{FF2B5EF4-FFF2-40B4-BE49-F238E27FC236}">
                <a16:creationId xmlns:a16="http://schemas.microsoft.com/office/drawing/2014/main" id="{A7A4E8A9-57B7-5B41-466A-0B4C2CC45A05}"/>
              </a:ext>
            </a:extLst>
          </p:cNvPr>
          <p:cNvSpPr/>
          <p:nvPr/>
        </p:nvSpPr>
        <p:spPr>
          <a:xfrm>
            <a:off x="20089091" y="3089564"/>
            <a:ext cx="914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418980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BDAAEC65-466D-4517-9ED4-2E20E937A75E}"/>
              </a:ext>
            </a:extLst>
          </p:cNvPr>
          <p:cNvSpPr>
            <a:spLocks noGrp="1"/>
          </p:cNvSpPr>
          <p:nvPr/>
        </p:nvSpPr>
        <p:spPr>
          <a:xfrm>
            <a:off x="-1375066" y="-2007629"/>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5" name="Freeform 5">
            <a:extLst>
              <a:ext uri="{FF2B5EF4-FFF2-40B4-BE49-F238E27FC236}">
                <a16:creationId xmlns:a16="http://schemas.microsoft.com/office/drawing/2014/main" id="{91D8C874-63BB-48CB-B8AA-C2C0B82334EE}"/>
              </a:ext>
            </a:extLst>
          </p:cNvPr>
          <p:cNvSpPr>
            <a:spLocks noGrp="1"/>
          </p:cNvSpPr>
          <p:nvPr/>
        </p:nvSpPr>
        <p:spPr>
          <a:xfrm rot="5400000" flipH="1">
            <a:off x="16626737" y="5930618"/>
            <a:ext cx="3982064" cy="3982064"/>
          </a:xfrm>
          <a:custGeom>
            <a:avLst/>
            <a:gdLst/>
            <a:ahLst/>
            <a:cxnLst/>
            <a:rect l="l" t="t" r="r" b="b"/>
            <a:pathLst>
              <a:path w="3982064" h="3982064">
                <a:moveTo>
                  <a:pt x="3982064" y="0"/>
                </a:moveTo>
                <a:lnTo>
                  <a:pt x="0" y="0"/>
                </a:lnTo>
                <a:lnTo>
                  <a:pt x="0" y="3982064"/>
                </a:lnTo>
                <a:lnTo>
                  <a:pt x="3982064" y="3982064"/>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6" name="Freeform 6">
            <a:extLst>
              <a:ext uri="{FF2B5EF4-FFF2-40B4-BE49-F238E27FC236}">
                <a16:creationId xmlns:a16="http://schemas.microsoft.com/office/drawing/2014/main" id="{E33C2C90-DDE8-4306-A414-5E74FB572D1F}"/>
              </a:ext>
            </a:extLst>
          </p:cNvPr>
          <p:cNvSpPr>
            <a:spLocks noGrp="1"/>
          </p:cNvSpPr>
          <p:nvPr/>
        </p:nvSpPr>
        <p:spPr>
          <a:xfrm>
            <a:off x="16116008" y="3503854"/>
            <a:ext cx="3749776" cy="3749776"/>
          </a:xfrm>
          <a:custGeom>
            <a:avLst/>
            <a:gdLst/>
            <a:ahLst/>
            <a:cxnLst/>
            <a:rect l="l" t="t" r="r" b="b"/>
            <a:pathLst>
              <a:path w="3749776" h="3749776">
                <a:moveTo>
                  <a:pt x="0" y="0"/>
                </a:moveTo>
                <a:lnTo>
                  <a:pt x="3749775" y="0"/>
                </a:lnTo>
                <a:lnTo>
                  <a:pt x="3749775" y="3749776"/>
                </a:lnTo>
                <a:lnTo>
                  <a:pt x="0" y="37497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2" name="Freeform 12">
            <a:extLst>
              <a:ext uri="{FF2B5EF4-FFF2-40B4-BE49-F238E27FC236}">
                <a16:creationId xmlns:a16="http://schemas.microsoft.com/office/drawing/2014/main" id="{ABD0884E-9FF9-42FE-9F78-88DFA5D90160}"/>
              </a:ext>
            </a:extLst>
          </p:cNvPr>
          <p:cNvSpPr>
            <a:spLocks noGrp="1"/>
          </p:cNvSpPr>
          <p:nvPr/>
        </p:nvSpPr>
        <p:spPr>
          <a:xfrm>
            <a:off x="5668925" y="7921650"/>
            <a:ext cx="4535131" cy="4535131"/>
          </a:xfrm>
          <a:custGeom>
            <a:avLst/>
            <a:gdLst/>
            <a:ahLst/>
            <a:cxnLst/>
            <a:rect l="l" t="t" r="r" b="b"/>
            <a:pathLst>
              <a:path w="4535131" h="4535131">
                <a:moveTo>
                  <a:pt x="0" y="0"/>
                </a:moveTo>
                <a:lnTo>
                  <a:pt x="4535131" y="0"/>
                </a:lnTo>
                <a:lnTo>
                  <a:pt x="4535131" y="4535131"/>
                </a:lnTo>
                <a:lnTo>
                  <a:pt x="0" y="45351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3" name="Freeform 13">
            <a:extLst>
              <a:ext uri="{FF2B5EF4-FFF2-40B4-BE49-F238E27FC236}">
                <a16:creationId xmlns:a16="http://schemas.microsoft.com/office/drawing/2014/main" id="{4AABB646-CDCF-4580-9B94-88980A9CDA19}"/>
              </a:ext>
            </a:extLst>
          </p:cNvPr>
          <p:cNvSpPr>
            <a:spLocks noGrp="1"/>
          </p:cNvSpPr>
          <p:nvPr/>
        </p:nvSpPr>
        <p:spPr>
          <a:xfrm rot="5400000" flipH="1">
            <a:off x="2355143" y="8474717"/>
            <a:ext cx="3982064" cy="3982064"/>
          </a:xfrm>
          <a:custGeom>
            <a:avLst/>
            <a:gdLst/>
            <a:ahLst/>
            <a:cxnLst/>
            <a:rect l="l" t="t" r="r" b="b"/>
            <a:pathLst>
              <a:path w="3982064" h="3982064">
                <a:moveTo>
                  <a:pt x="3982063" y="0"/>
                </a:moveTo>
                <a:lnTo>
                  <a:pt x="0" y="0"/>
                </a:lnTo>
                <a:lnTo>
                  <a:pt x="0" y="3982064"/>
                </a:lnTo>
                <a:lnTo>
                  <a:pt x="3982063" y="3982064"/>
                </a:lnTo>
                <a:lnTo>
                  <a:pt x="398206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4" name="Freeform 14">
            <a:extLst>
              <a:ext uri="{FF2B5EF4-FFF2-40B4-BE49-F238E27FC236}">
                <a16:creationId xmlns:a16="http://schemas.microsoft.com/office/drawing/2014/main" id="{8BAB6089-A28C-4BD2-9676-EB139815A4D7}"/>
              </a:ext>
            </a:extLst>
          </p:cNvPr>
          <p:cNvSpPr>
            <a:spLocks noGrp="1"/>
          </p:cNvSpPr>
          <p:nvPr/>
        </p:nvSpPr>
        <p:spPr>
          <a:xfrm rot="5400000" flipV="1">
            <a:off x="3954426" y="-2601115"/>
            <a:ext cx="3982064" cy="3982064"/>
          </a:xfrm>
          <a:custGeom>
            <a:avLst/>
            <a:gdLst/>
            <a:ahLst/>
            <a:cxnLst/>
            <a:rect l="l" t="t" r="r" b="b"/>
            <a:pathLst>
              <a:path w="3982064" h="3982064">
                <a:moveTo>
                  <a:pt x="0" y="3982064"/>
                </a:moveTo>
                <a:lnTo>
                  <a:pt x="3982064" y="3982064"/>
                </a:lnTo>
                <a:lnTo>
                  <a:pt x="3982064" y="0"/>
                </a:lnTo>
                <a:lnTo>
                  <a:pt x="0" y="0"/>
                </a:lnTo>
                <a:lnTo>
                  <a:pt x="0" y="398206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5" name="Rectangle 14">
            <a:extLst>
              <a:ext uri="{FF2B5EF4-FFF2-40B4-BE49-F238E27FC236}">
                <a16:creationId xmlns:a16="http://schemas.microsoft.com/office/drawing/2014/main" id="{42E9886D-1A04-45B3-BC11-9B331FBC354D}"/>
              </a:ext>
            </a:extLst>
          </p:cNvPr>
          <p:cNvSpPr>
            <a:spLocks noGrp="1"/>
          </p:cNvSpPr>
          <p:nvPr/>
        </p:nvSpPr>
        <p:spPr>
          <a:xfrm>
            <a:off x="876300" y="533400"/>
            <a:ext cx="16002000" cy="1000125"/>
          </a:xfrm>
          <a:prstGeom prst="rect">
            <a:avLst/>
          </a:prstGeom>
          <a:noFill/>
          <a:ln w="0">
            <a:noFill/>
          </a:ln>
        </p:spPr>
        <p:txBody>
          <a:bodyPr anchor="ctr">
            <a:normAutofit/>
          </a:bodyPr>
          <a:lstStyle/>
          <a:p>
            <a:pPr algn="l">
              <a:defRPr sz="4650" b="1">
                <a:solidFill>
                  <a:srgbClr val="000000"/>
                </a:solidFill>
                <a:latin typeface="Hero Bold"/>
                <a:ea typeface="Hero Bold"/>
                <a:cs typeface="Hero Bold"/>
              </a:defRPr>
            </a:pPr>
            <a:r>
              <a:rPr sz="4650" b="1">
                <a:solidFill>
                  <a:srgbClr val="000000"/>
                </a:solidFill>
                <a:latin typeface="Hero Bold"/>
                <a:ea typeface="Hero Bold"/>
                <a:cs typeface="Hero Bold"/>
              </a:rPr>
              <a:t>Current limitations</a:t>
            </a:r>
          </a:p>
        </p:txBody>
      </p:sp>
      <p:sp>
        <p:nvSpPr>
          <p:cNvPr id="16" name="Rectangle: Rounded Corners 15">
            <a:extLst>
              <a:ext uri="{FF2B5EF4-FFF2-40B4-BE49-F238E27FC236}">
                <a16:creationId xmlns:a16="http://schemas.microsoft.com/office/drawing/2014/main" id="{C0917E77-9126-4497-BDA9-BD3D82FF3056}"/>
              </a:ext>
            </a:extLst>
          </p:cNvPr>
          <p:cNvSpPr>
            <a:spLocks noGrp="1"/>
          </p:cNvSpPr>
          <p:nvPr/>
        </p:nvSpPr>
        <p:spPr>
          <a:xfrm>
            <a:off x="1238250" y="2143125"/>
            <a:ext cx="857250" cy="666750"/>
          </a:xfrm>
          <a:prstGeom prst="roundRect">
            <a:avLst>
              <a:gd name="adj" fmla="val 11429"/>
            </a:avLst>
          </a:prstGeom>
          <a:solidFill>
            <a:srgbClr val="FFFFFF"/>
          </a:solidFill>
          <a:ln w="19050">
            <a:solidFill>
              <a:srgbClr val="1A1A1A"/>
            </a:solidFill>
          </a:ln>
        </p:spPr>
        <p:txBody>
          <a:bodyPr anchor="ctr">
            <a:normAutofit/>
          </a:bodyPr>
          <a:lstStyle/>
          <a:p>
            <a:pPr algn="ctr">
              <a:defRPr sz="2550" b="1">
                <a:solidFill>
                  <a:srgbClr val="117C89"/>
                </a:solidFill>
                <a:latin typeface="Hero Bold"/>
                <a:ea typeface="Hero Bold"/>
                <a:cs typeface="Hero Bold"/>
              </a:defRPr>
            </a:pPr>
            <a:r>
              <a:rPr sz="2550" b="1" dirty="0">
                <a:solidFill>
                  <a:srgbClr val="117C89"/>
                </a:solidFill>
                <a:latin typeface="Hero Bold"/>
                <a:ea typeface="Hero Bold"/>
                <a:cs typeface="Hero Bold"/>
              </a:rPr>
              <a:t>01</a:t>
            </a:r>
          </a:p>
        </p:txBody>
      </p:sp>
      <p:sp>
        <p:nvSpPr>
          <p:cNvPr id="17" name="Rectangle: Rounded Corners 16">
            <a:extLst>
              <a:ext uri="{FF2B5EF4-FFF2-40B4-BE49-F238E27FC236}">
                <a16:creationId xmlns:a16="http://schemas.microsoft.com/office/drawing/2014/main" id="{F39D47D6-EA21-43BB-AF92-90388DE00645}"/>
              </a:ext>
            </a:extLst>
          </p:cNvPr>
          <p:cNvSpPr>
            <a:spLocks noGrp="1"/>
          </p:cNvSpPr>
          <p:nvPr/>
        </p:nvSpPr>
        <p:spPr>
          <a:xfrm>
            <a:off x="2286000" y="2220398"/>
            <a:ext cx="4225636" cy="5143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dirty="0">
                <a:solidFill>
                  <a:srgbClr val="000000"/>
                </a:solidFill>
                <a:latin typeface="Hero Bold"/>
                <a:ea typeface="Hero Bold"/>
                <a:cs typeface="Hero Bold"/>
              </a:rPr>
              <a:t>Accessibility coverage</a:t>
            </a:r>
          </a:p>
        </p:txBody>
      </p:sp>
      <p:sp>
        <p:nvSpPr>
          <p:cNvPr id="18" name="Rectangle 17">
            <a:extLst>
              <a:ext uri="{FF2B5EF4-FFF2-40B4-BE49-F238E27FC236}">
                <a16:creationId xmlns:a16="http://schemas.microsoft.com/office/drawing/2014/main" id="{15804F98-50AF-44E1-B339-66CF40A93B68}"/>
              </a:ext>
            </a:extLst>
          </p:cNvPr>
          <p:cNvSpPr>
            <a:spLocks noGrp="1"/>
          </p:cNvSpPr>
          <p:nvPr/>
        </p:nvSpPr>
        <p:spPr>
          <a:xfrm>
            <a:off x="6611520" y="2074531"/>
            <a:ext cx="8850153" cy="809625"/>
          </a:xfrm>
          <a:prstGeom prst="rect">
            <a:avLst/>
          </a:prstGeom>
          <a:noFill/>
          <a:ln w="0">
            <a:noFill/>
          </a:ln>
        </p:spPr>
        <p:txBody>
          <a:bodyPr anchor="ctr">
            <a:noAutofit/>
          </a:bodyPr>
          <a:lstStyle/>
          <a:p>
            <a:pPr algn="l">
              <a:defRPr sz="2025" b="0">
                <a:solidFill>
                  <a:srgbClr val="30434B"/>
                </a:solidFill>
                <a:latin typeface="Quicksand"/>
                <a:ea typeface="Quicksand"/>
                <a:cs typeface="Quicksand"/>
              </a:defRPr>
            </a:pPr>
            <a:r>
              <a:rPr sz="2400" b="0" dirty="0">
                <a:solidFill>
                  <a:srgbClr val="30434B"/>
                </a:solidFill>
                <a:latin typeface="Quicksand"/>
                <a:ea typeface="Quicksand"/>
                <a:cs typeface="Quicksand"/>
              </a:rPr>
              <a:t>Only 66 attractions have reviewed accessibility information.</a:t>
            </a:r>
          </a:p>
        </p:txBody>
      </p:sp>
      <p:sp>
        <p:nvSpPr>
          <p:cNvPr id="19" name="Rectangle: Rounded Corners 18">
            <a:extLst>
              <a:ext uri="{FF2B5EF4-FFF2-40B4-BE49-F238E27FC236}">
                <a16:creationId xmlns:a16="http://schemas.microsoft.com/office/drawing/2014/main" id="{9534F6FA-7257-4C3D-B316-C8878560858C}"/>
              </a:ext>
            </a:extLst>
          </p:cNvPr>
          <p:cNvSpPr>
            <a:spLocks noGrp="1"/>
          </p:cNvSpPr>
          <p:nvPr/>
        </p:nvSpPr>
        <p:spPr>
          <a:xfrm>
            <a:off x="1238250" y="3810000"/>
            <a:ext cx="857250" cy="666750"/>
          </a:xfrm>
          <a:prstGeom prst="roundRect">
            <a:avLst>
              <a:gd name="adj" fmla="val 11429"/>
            </a:avLst>
          </a:prstGeom>
          <a:solidFill>
            <a:srgbClr val="FFFFFF"/>
          </a:solidFill>
          <a:ln w="19050">
            <a:solidFill>
              <a:srgbClr val="1A1A1A"/>
            </a:solidFill>
          </a:ln>
        </p:spPr>
        <p:txBody>
          <a:bodyPr anchor="ctr">
            <a:normAutofit/>
          </a:bodyPr>
          <a:lstStyle/>
          <a:p>
            <a:pPr algn="ctr">
              <a:defRPr sz="2550" b="1">
                <a:solidFill>
                  <a:srgbClr val="117C89"/>
                </a:solidFill>
                <a:latin typeface="Hero Bold"/>
                <a:ea typeface="Hero Bold"/>
                <a:cs typeface="Hero Bold"/>
              </a:defRPr>
            </a:pPr>
            <a:r>
              <a:rPr sz="2550" b="1">
                <a:solidFill>
                  <a:srgbClr val="117C89"/>
                </a:solidFill>
                <a:latin typeface="Hero Bold"/>
                <a:ea typeface="Hero Bold"/>
                <a:cs typeface="Hero Bold"/>
              </a:rPr>
              <a:t>02</a:t>
            </a:r>
          </a:p>
        </p:txBody>
      </p:sp>
      <p:sp>
        <p:nvSpPr>
          <p:cNvPr id="20" name="Rectangle: Rounded Corners 19">
            <a:extLst>
              <a:ext uri="{FF2B5EF4-FFF2-40B4-BE49-F238E27FC236}">
                <a16:creationId xmlns:a16="http://schemas.microsoft.com/office/drawing/2014/main" id="{32998120-967D-4B17-8ACA-1C13E1614BA9}"/>
              </a:ext>
            </a:extLst>
          </p:cNvPr>
          <p:cNvSpPr>
            <a:spLocks noGrp="1"/>
          </p:cNvSpPr>
          <p:nvPr/>
        </p:nvSpPr>
        <p:spPr>
          <a:xfrm>
            <a:off x="2286000" y="3913815"/>
            <a:ext cx="4225636" cy="5143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dirty="0">
                <a:solidFill>
                  <a:srgbClr val="000000"/>
                </a:solidFill>
                <a:latin typeface="Hero Bold"/>
                <a:ea typeface="Hero Bold"/>
                <a:cs typeface="Hero Bold"/>
              </a:rPr>
              <a:t>Multilingual input</a:t>
            </a:r>
          </a:p>
        </p:txBody>
      </p:sp>
      <p:sp>
        <p:nvSpPr>
          <p:cNvPr id="21" name="Rectangle 20">
            <a:extLst>
              <a:ext uri="{FF2B5EF4-FFF2-40B4-BE49-F238E27FC236}">
                <a16:creationId xmlns:a16="http://schemas.microsoft.com/office/drawing/2014/main" id="{1AEE913B-42DD-41CA-80E6-926738F0D440}"/>
              </a:ext>
            </a:extLst>
          </p:cNvPr>
          <p:cNvSpPr>
            <a:spLocks noGrp="1"/>
          </p:cNvSpPr>
          <p:nvPr/>
        </p:nvSpPr>
        <p:spPr>
          <a:xfrm>
            <a:off x="6611520" y="3870839"/>
            <a:ext cx="7797207" cy="545071"/>
          </a:xfrm>
          <a:prstGeom prst="rect">
            <a:avLst/>
          </a:prstGeom>
          <a:noFill/>
          <a:ln w="0">
            <a:noFill/>
          </a:ln>
        </p:spPr>
        <p:txBody>
          <a:bodyPr anchor="ctr">
            <a:noAutofit/>
          </a:bodyPr>
          <a:lstStyle/>
          <a:p>
            <a:pPr algn="l">
              <a:defRPr sz="2025" b="0">
                <a:solidFill>
                  <a:srgbClr val="30434B"/>
                </a:solidFill>
                <a:latin typeface="Quicksand"/>
                <a:ea typeface="Quicksand"/>
                <a:cs typeface="Quicksand"/>
              </a:defRPr>
            </a:pPr>
            <a:r>
              <a:rPr sz="2400" b="0" dirty="0">
                <a:solidFill>
                  <a:srgbClr val="30434B"/>
                </a:solidFill>
                <a:latin typeface="Quicksand"/>
                <a:ea typeface="Quicksand"/>
                <a:cs typeface="Quicksand"/>
              </a:rPr>
              <a:t>Malay and Chinese support uses controlled phrases.</a:t>
            </a:r>
          </a:p>
        </p:txBody>
      </p:sp>
      <p:sp>
        <p:nvSpPr>
          <p:cNvPr id="22" name="Rectangle: Rounded Corners 21">
            <a:extLst>
              <a:ext uri="{FF2B5EF4-FFF2-40B4-BE49-F238E27FC236}">
                <a16:creationId xmlns:a16="http://schemas.microsoft.com/office/drawing/2014/main" id="{568E99D5-FEE3-4FF2-BFF6-562272C629BE}"/>
              </a:ext>
            </a:extLst>
          </p:cNvPr>
          <p:cNvSpPr>
            <a:spLocks noGrp="1"/>
          </p:cNvSpPr>
          <p:nvPr/>
        </p:nvSpPr>
        <p:spPr>
          <a:xfrm>
            <a:off x="1238250" y="5476875"/>
            <a:ext cx="857250" cy="666750"/>
          </a:xfrm>
          <a:prstGeom prst="roundRect">
            <a:avLst>
              <a:gd name="adj" fmla="val 11429"/>
            </a:avLst>
          </a:prstGeom>
          <a:solidFill>
            <a:srgbClr val="FFFFFF"/>
          </a:solidFill>
          <a:ln w="19050">
            <a:solidFill>
              <a:srgbClr val="1A1A1A"/>
            </a:solidFill>
          </a:ln>
        </p:spPr>
        <p:txBody>
          <a:bodyPr anchor="ctr">
            <a:normAutofit/>
          </a:bodyPr>
          <a:lstStyle/>
          <a:p>
            <a:pPr algn="ctr">
              <a:defRPr sz="2550" b="1">
                <a:solidFill>
                  <a:srgbClr val="117C89"/>
                </a:solidFill>
                <a:latin typeface="Hero Bold"/>
                <a:ea typeface="Hero Bold"/>
                <a:cs typeface="Hero Bold"/>
              </a:defRPr>
            </a:pPr>
            <a:r>
              <a:rPr sz="2550" b="1">
                <a:solidFill>
                  <a:srgbClr val="117C89"/>
                </a:solidFill>
                <a:latin typeface="Hero Bold"/>
                <a:ea typeface="Hero Bold"/>
                <a:cs typeface="Hero Bold"/>
              </a:rPr>
              <a:t>03</a:t>
            </a:r>
          </a:p>
        </p:txBody>
      </p:sp>
      <p:sp>
        <p:nvSpPr>
          <p:cNvPr id="23" name="Rectangle: Rounded Corners 22">
            <a:extLst>
              <a:ext uri="{FF2B5EF4-FFF2-40B4-BE49-F238E27FC236}">
                <a16:creationId xmlns:a16="http://schemas.microsoft.com/office/drawing/2014/main" id="{9B054E3D-7BB4-4967-BECB-E6E49FB8F907}"/>
              </a:ext>
            </a:extLst>
          </p:cNvPr>
          <p:cNvSpPr>
            <a:spLocks noGrp="1"/>
          </p:cNvSpPr>
          <p:nvPr/>
        </p:nvSpPr>
        <p:spPr>
          <a:xfrm>
            <a:off x="2286000" y="5555760"/>
            <a:ext cx="4225636" cy="5143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dirty="0">
                <a:solidFill>
                  <a:srgbClr val="000000"/>
                </a:solidFill>
                <a:latin typeface="Hero Bold"/>
                <a:ea typeface="Hero Bold"/>
                <a:cs typeface="Hero Bold"/>
              </a:rPr>
              <a:t>Speech recognition</a:t>
            </a:r>
          </a:p>
        </p:txBody>
      </p:sp>
      <p:sp>
        <p:nvSpPr>
          <p:cNvPr id="24" name="Rectangle 23">
            <a:extLst>
              <a:ext uri="{FF2B5EF4-FFF2-40B4-BE49-F238E27FC236}">
                <a16:creationId xmlns:a16="http://schemas.microsoft.com/office/drawing/2014/main" id="{E8B8645C-FB3C-4942-A911-9B9AAC63EBCF}"/>
              </a:ext>
            </a:extLst>
          </p:cNvPr>
          <p:cNvSpPr>
            <a:spLocks noGrp="1"/>
          </p:cNvSpPr>
          <p:nvPr/>
        </p:nvSpPr>
        <p:spPr>
          <a:xfrm>
            <a:off x="6611520" y="5436930"/>
            <a:ext cx="10015217" cy="666750"/>
          </a:xfrm>
          <a:prstGeom prst="rect">
            <a:avLst/>
          </a:prstGeom>
          <a:noFill/>
          <a:ln w="0">
            <a:noFill/>
          </a:ln>
        </p:spPr>
        <p:txBody>
          <a:bodyPr anchor="ctr">
            <a:noAutofit/>
          </a:bodyPr>
          <a:lstStyle/>
          <a:p>
            <a:pPr algn="l">
              <a:defRPr sz="2025" b="0">
                <a:solidFill>
                  <a:srgbClr val="30434B"/>
                </a:solidFill>
                <a:latin typeface="Quicksand"/>
                <a:ea typeface="Quicksand"/>
                <a:cs typeface="Quicksand"/>
              </a:defRPr>
            </a:pPr>
            <a:r>
              <a:rPr sz="2400" b="0" dirty="0">
                <a:solidFill>
                  <a:srgbClr val="30434B"/>
                </a:solidFill>
                <a:latin typeface="Quicksand"/>
                <a:ea typeface="Quicksand"/>
                <a:cs typeface="Quicksand"/>
              </a:rPr>
              <a:t>Accuracy depends on the speaking conditions.</a:t>
            </a:r>
          </a:p>
        </p:txBody>
      </p:sp>
      <p:sp>
        <p:nvSpPr>
          <p:cNvPr id="25" name="Rectangle: Rounded Corners 24">
            <a:extLst>
              <a:ext uri="{FF2B5EF4-FFF2-40B4-BE49-F238E27FC236}">
                <a16:creationId xmlns:a16="http://schemas.microsoft.com/office/drawing/2014/main" id="{3D1BD0C9-DD35-4286-B966-A48DED89DF76}"/>
              </a:ext>
            </a:extLst>
          </p:cNvPr>
          <p:cNvSpPr>
            <a:spLocks noGrp="1"/>
          </p:cNvSpPr>
          <p:nvPr/>
        </p:nvSpPr>
        <p:spPr>
          <a:xfrm>
            <a:off x="1238250" y="7143750"/>
            <a:ext cx="857250" cy="666750"/>
          </a:xfrm>
          <a:prstGeom prst="roundRect">
            <a:avLst>
              <a:gd name="adj" fmla="val 11429"/>
            </a:avLst>
          </a:prstGeom>
          <a:solidFill>
            <a:srgbClr val="FFFFFF"/>
          </a:solidFill>
          <a:ln w="19050">
            <a:solidFill>
              <a:srgbClr val="1A1A1A"/>
            </a:solidFill>
          </a:ln>
        </p:spPr>
        <p:txBody>
          <a:bodyPr anchor="ctr">
            <a:normAutofit/>
          </a:bodyPr>
          <a:lstStyle/>
          <a:p>
            <a:pPr algn="ctr">
              <a:defRPr sz="2550" b="1">
                <a:solidFill>
                  <a:srgbClr val="117C89"/>
                </a:solidFill>
                <a:latin typeface="Hero Bold"/>
                <a:ea typeface="Hero Bold"/>
                <a:cs typeface="Hero Bold"/>
              </a:defRPr>
            </a:pPr>
            <a:r>
              <a:rPr sz="2550" b="1">
                <a:solidFill>
                  <a:srgbClr val="117C89"/>
                </a:solidFill>
                <a:latin typeface="Hero Bold"/>
                <a:ea typeface="Hero Bold"/>
                <a:cs typeface="Hero Bold"/>
              </a:rPr>
              <a:t>04</a:t>
            </a:r>
          </a:p>
        </p:txBody>
      </p:sp>
      <p:sp>
        <p:nvSpPr>
          <p:cNvPr id="26" name="Rectangle: Rounded Corners 25">
            <a:extLst>
              <a:ext uri="{FF2B5EF4-FFF2-40B4-BE49-F238E27FC236}">
                <a16:creationId xmlns:a16="http://schemas.microsoft.com/office/drawing/2014/main" id="{C4A86ECA-FD14-435F-AD33-88F12A193F8B}"/>
              </a:ext>
            </a:extLst>
          </p:cNvPr>
          <p:cNvSpPr>
            <a:spLocks noGrp="1"/>
          </p:cNvSpPr>
          <p:nvPr/>
        </p:nvSpPr>
        <p:spPr>
          <a:xfrm>
            <a:off x="2286000" y="7272337"/>
            <a:ext cx="4225636" cy="5143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dirty="0">
                <a:solidFill>
                  <a:srgbClr val="000000"/>
                </a:solidFill>
                <a:latin typeface="Hero Bold"/>
                <a:ea typeface="Hero Bold"/>
                <a:cs typeface="Hero Bold"/>
              </a:rPr>
              <a:t>User evaluation</a:t>
            </a:r>
          </a:p>
        </p:txBody>
      </p:sp>
      <p:sp>
        <p:nvSpPr>
          <p:cNvPr id="27" name="Rectangle 26">
            <a:extLst>
              <a:ext uri="{FF2B5EF4-FFF2-40B4-BE49-F238E27FC236}">
                <a16:creationId xmlns:a16="http://schemas.microsoft.com/office/drawing/2014/main" id="{7E7EEB41-6F4B-449C-B6C8-5A6409B3145D}"/>
              </a:ext>
            </a:extLst>
          </p:cNvPr>
          <p:cNvSpPr>
            <a:spLocks noGrp="1"/>
          </p:cNvSpPr>
          <p:nvPr/>
        </p:nvSpPr>
        <p:spPr>
          <a:xfrm>
            <a:off x="6511636" y="7252316"/>
            <a:ext cx="10015216" cy="554391"/>
          </a:xfrm>
          <a:prstGeom prst="rect">
            <a:avLst/>
          </a:prstGeom>
          <a:noFill/>
          <a:ln w="0">
            <a:noFill/>
          </a:ln>
        </p:spPr>
        <p:txBody>
          <a:bodyPr anchor="ctr">
            <a:noAutofit/>
          </a:bodyPr>
          <a:lstStyle/>
          <a:p>
            <a:pPr algn="l">
              <a:defRPr sz="2025" b="0">
                <a:solidFill>
                  <a:srgbClr val="30434B"/>
                </a:solidFill>
                <a:latin typeface="Quicksand"/>
                <a:ea typeface="Quicksand"/>
                <a:cs typeface="Quicksand"/>
              </a:defRPr>
            </a:pPr>
            <a:r>
              <a:rPr sz="2400" b="0" dirty="0">
                <a:solidFill>
                  <a:srgbClr val="30434B"/>
                </a:solidFill>
                <a:latin typeface="Quicksand"/>
                <a:ea typeface="Quicksand"/>
                <a:cs typeface="Quicksand"/>
              </a:rPr>
              <a:t>Formal testing with elderly participants has not yet been completed.</a:t>
            </a:r>
          </a:p>
        </p:txBody>
      </p:sp>
      <p:sp>
        <p:nvSpPr>
          <p:cNvPr id="28" name="Rectangle: Rounded Corners 27">
            <a:extLst>
              <a:ext uri="{FF2B5EF4-FFF2-40B4-BE49-F238E27FC236}">
                <a16:creationId xmlns:a16="http://schemas.microsoft.com/office/drawing/2014/main" id="{9BD190DB-9121-4823-B8CE-BE9119882940}"/>
              </a:ext>
            </a:extLst>
          </p:cNvPr>
          <p:cNvSpPr>
            <a:spLocks noGrp="1"/>
          </p:cNvSpPr>
          <p:nvPr/>
        </p:nvSpPr>
        <p:spPr>
          <a:xfrm>
            <a:off x="2286000" y="8667750"/>
            <a:ext cx="13716000" cy="723900"/>
          </a:xfrm>
          <a:prstGeom prst="roundRect">
            <a:avLst>
              <a:gd name="adj" fmla="val 10526"/>
            </a:avLst>
          </a:prstGeom>
          <a:solidFill>
            <a:srgbClr val="FFFFFF"/>
          </a:solidFill>
          <a:ln w="19050">
            <a:solidFill>
              <a:srgbClr val="1A1A1A"/>
            </a:solidFill>
          </a:ln>
        </p:spPr>
        <p:txBody>
          <a:bodyPr anchor="ctr">
            <a:normAutofit/>
          </a:bodyPr>
          <a:lstStyle/>
          <a:p>
            <a:pPr algn="ctr">
              <a:defRPr sz="2250" b="1">
                <a:solidFill>
                  <a:srgbClr val="000000"/>
                </a:solidFill>
                <a:latin typeface="Hero Bold"/>
                <a:ea typeface="Hero Bold"/>
                <a:cs typeface="Hero Bold"/>
              </a:defRPr>
            </a:pPr>
            <a:r>
              <a:rPr sz="2250" b="1" dirty="0">
                <a:solidFill>
                  <a:srgbClr val="000000"/>
                </a:solidFill>
                <a:latin typeface="Hero Bold"/>
                <a:ea typeface="Hero Bold"/>
                <a:cs typeface="Hero Bold"/>
              </a:rPr>
              <a:t>The system recommends attractions. It does not provide bookings or medical assessments.</a:t>
            </a:r>
          </a:p>
        </p:txBody>
      </p:sp>
    </p:spTree>
    <p:extLst>
      <p:ext uri="{BB962C8B-B14F-4D97-AF65-F5344CB8AC3E}">
        <p14:creationId xmlns:p14="http://schemas.microsoft.com/office/powerpoint/2010/main" val="1593715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BC7F88C4-049D-1267-F8C4-61A8932ECFC6}"/>
              </a:ext>
            </a:extLst>
          </p:cNvPr>
          <p:cNvSpPr/>
          <p:nvPr/>
        </p:nvSpPr>
        <p:spPr>
          <a:xfrm>
            <a:off x="10800222" y="5918263"/>
            <a:ext cx="5554638" cy="132284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Rounded Corners 9">
            <a:extLst>
              <a:ext uri="{FF2B5EF4-FFF2-40B4-BE49-F238E27FC236}">
                <a16:creationId xmlns:a16="http://schemas.microsoft.com/office/drawing/2014/main" id="{02FCF3F9-1E83-DFC3-626C-46137103412B}"/>
              </a:ext>
            </a:extLst>
          </p:cNvPr>
          <p:cNvSpPr/>
          <p:nvPr/>
        </p:nvSpPr>
        <p:spPr>
          <a:xfrm>
            <a:off x="2306472" y="5918263"/>
            <a:ext cx="5554638" cy="132284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Rectangle: Rounded Corners 7">
            <a:extLst>
              <a:ext uri="{FF2B5EF4-FFF2-40B4-BE49-F238E27FC236}">
                <a16:creationId xmlns:a16="http://schemas.microsoft.com/office/drawing/2014/main" id="{06550AAC-2852-5F79-F369-E71F0AA9F542}"/>
              </a:ext>
            </a:extLst>
          </p:cNvPr>
          <p:cNvSpPr/>
          <p:nvPr/>
        </p:nvSpPr>
        <p:spPr>
          <a:xfrm>
            <a:off x="10800222" y="2839485"/>
            <a:ext cx="5554638" cy="132284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Rounded Corners 3">
            <a:extLst>
              <a:ext uri="{FF2B5EF4-FFF2-40B4-BE49-F238E27FC236}">
                <a16:creationId xmlns:a16="http://schemas.microsoft.com/office/drawing/2014/main" id="{92EE8548-ACAE-52C8-894A-0AD2DA0A0C19}"/>
              </a:ext>
            </a:extLst>
          </p:cNvPr>
          <p:cNvSpPr/>
          <p:nvPr/>
        </p:nvSpPr>
        <p:spPr>
          <a:xfrm>
            <a:off x="2306472" y="2842755"/>
            <a:ext cx="5554638" cy="132284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Freeform 2">
            <a:extLst>
              <a:ext uri="{FF2B5EF4-FFF2-40B4-BE49-F238E27FC236}">
                <a16:creationId xmlns:a16="http://schemas.microsoft.com/office/drawing/2014/main" id="{97767702-AADD-46AE-AE93-6EB3A99D5E7D}"/>
              </a:ext>
            </a:extLst>
          </p:cNvPr>
          <p:cNvSpPr>
            <a:spLocks noGrp="1"/>
          </p:cNvSpPr>
          <p:nvPr/>
        </p:nvSpPr>
        <p:spPr>
          <a:xfrm>
            <a:off x="7470286" y="7717381"/>
            <a:ext cx="5638432" cy="5638432"/>
          </a:xfrm>
          <a:custGeom>
            <a:avLst/>
            <a:gdLst/>
            <a:ahLst/>
            <a:cxnLst/>
            <a:rect l="l" t="t" r="r" b="b"/>
            <a:pathLst>
              <a:path w="5638432" h="5638432">
                <a:moveTo>
                  <a:pt x="0" y="0"/>
                </a:moveTo>
                <a:lnTo>
                  <a:pt x="5638432" y="0"/>
                </a:lnTo>
                <a:lnTo>
                  <a:pt x="5638432" y="5638433"/>
                </a:lnTo>
                <a:lnTo>
                  <a:pt x="0" y="56384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38A37678-283E-4B07-B86B-470A64683796}"/>
              </a:ext>
            </a:extLst>
          </p:cNvPr>
          <p:cNvSpPr>
            <a:spLocks noGrp="1"/>
          </p:cNvSpPr>
          <p:nvPr/>
        </p:nvSpPr>
        <p:spPr>
          <a:xfrm rot="5400000">
            <a:off x="7957467" y="-2842756"/>
            <a:ext cx="5685511" cy="5685511"/>
          </a:xfrm>
          <a:custGeom>
            <a:avLst/>
            <a:gdLst/>
            <a:ahLst/>
            <a:cxnLst/>
            <a:rect l="l" t="t" r="r" b="b"/>
            <a:pathLst>
              <a:path w="5685511" h="5685511">
                <a:moveTo>
                  <a:pt x="0" y="0"/>
                </a:moveTo>
                <a:lnTo>
                  <a:pt x="5685511" y="0"/>
                </a:lnTo>
                <a:lnTo>
                  <a:pt x="5685511" y="5685512"/>
                </a:lnTo>
                <a:lnTo>
                  <a:pt x="0" y="56855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1" name="Freeform 11">
            <a:extLst>
              <a:ext uri="{FF2B5EF4-FFF2-40B4-BE49-F238E27FC236}">
                <a16:creationId xmlns:a16="http://schemas.microsoft.com/office/drawing/2014/main" id="{0507FFB9-2C44-4D64-88F2-752392ACB6E4}"/>
              </a:ext>
            </a:extLst>
          </p:cNvPr>
          <p:cNvSpPr>
            <a:spLocks noGrp="1"/>
          </p:cNvSpPr>
          <p:nvPr/>
        </p:nvSpPr>
        <p:spPr>
          <a:xfrm>
            <a:off x="-3221306" y="-2127777"/>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2" name="Freeform 12">
            <a:extLst>
              <a:ext uri="{FF2B5EF4-FFF2-40B4-BE49-F238E27FC236}">
                <a16:creationId xmlns:a16="http://schemas.microsoft.com/office/drawing/2014/main" id="{801288A5-1F56-4882-90CE-7E8405F9EDC8}"/>
              </a:ext>
            </a:extLst>
          </p:cNvPr>
          <p:cNvSpPr>
            <a:spLocks noGrp="1"/>
          </p:cNvSpPr>
          <p:nvPr/>
        </p:nvSpPr>
        <p:spPr>
          <a:xfrm>
            <a:off x="12338781" y="-3131918"/>
            <a:ext cx="4634683" cy="4634683"/>
          </a:xfrm>
          <a:custGeom>
            <a:avLst/>
            <a:gdLst/>
            <a:ahLst/>
            <a:cxnLst/>
            <a:rect l="l" t="t" r="r" b="b"/>
            <a:pathLst>
              <a:path w="4634683" h="4634683">
                <a:moveTo>
                  <a:pt x="0" y="0"/>
                </a:moveTo>
                <a:lnTo>
                  <a:pt x="4634683" y="0"/>
                </a:lnTo>
                <a:lnTo>
                  <a:pt x="4634683" y="4634683"/>
                </a:lnTo>
                <a:lnTo>
                  <a:pt x="0" y="46346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3" name="Freeform 13">
            <a:extLst>
              <a:ext uri="{FF2B5EF4-FFF2-40B4-BE49-F238E27FC236}">
                <a16:creationId xmlns:a16="http://schemas.microsoft.com/office/drawing/2014/main" id="{2BB4728C-DD1A-4CBE-B004-6000B2BF42F0}"/>
              </a:ext>
            </a:extLst>
          </p:cNvPr>
          <p:cNvSpPr>
            <a:spLocks noGrp="1"/>
          </p:cNvSpPr>
          <p:nvPr/>
        </p:nvSpPr>
        <p:spPr>
          <a:xfrm rot="5400000" flipH="1">
            <a:off x="4444645" y="8545566"/>
            <a:ext cx="3982064" cy="3982064"/>
          </a:xfrm>
          <a:custGeom>
            <a:avLst/>
            <a:gdLst/>
            <a:ahLst/>
            <a:cxnLst/>
            <a:rect l="l" t="t" r="r" b="b"/>
            <a:pathLst>
              <a:path w="3982064" h="3982064">
                <a:moveTo>
                  <a:pt x="3982064" y="0"/>
                </a:moveTo>
                <a:lnTo>
                  <a:pt x="0" y="0"/>
                </a:lnTo>
                <a:lnTo>
                  <a:pt x="0" y="3982063"/>
                </a:lnTo>
                <a:lnTo>
                  <a:pt x="3982064" y="3982063"/>
                </a:lnTo>
                <a:lnTo>
                  <a:pt x="398206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4" name="Freeform 14">
            <a:extLst>
              <a:ext uri="{FF2B5EF4-FFF2-40B4-BE49-F238E27FC236}">
                <a16:creationId xmlns:a16="http://schemas.microsoft.com/office/drawing/2014/main" id="{9DF66BA4-EB82-44A3-A35C-A4F202B891A8}"/>
              </a:ext>
            </a:extLst>
          </p:cNvPr>
          <p:cNvSpPr>
            <a:spLocks noGrp="1"/>
          </p:cNvSpPr>
          <p:nvPr/>
        </p:nvSpPr>
        <p:spPr>
          <a:xfrm rot="5400000">
            <a:off x="-2843792" y="2897459"/>
            <a:ext cx="3982064" cy="3982064"/>
          </a:xfrm>
          <a:custGeom>
            <a:avLst/>
            <a:gdLst/>
            <a:ahLst/>
            <a:cxnLst/>
            <a:rect l="l" t="t" r="r" b="b"/>
            <a:pathLst>
              <a:path w="3982064" h="3982064">
                <a:moveTo>
                  <a:pt x="0" y="0"/>
                </a:moveTo>
                <a:lnTo>
                  <a:pt x="3982064" y="0"/>
                </a:lnTo>
                <a:lnTo>
                  <a:pt x="3982064" y="3982064"/>
                </a:lnTo>
                <a:lnTo>
                  <a:pt x="0" y="39820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5" name="Rectangle 14">
            <a:extLst>
              <a:ext uri="{FF2B5EF4-FFF2-40B4-BE49-F238E27FC236}">
                <a16:creationId xmlns:a16="http://schemas.microsoft.com/office/drawing/2014/main" id="{70B68CD9-B2D2-4AD9-83C4-03DCCBAFAA04}"/>
              </a:ext>
            </a:extLst>
          </p:cNvPr>
          <p:cNvSpPr>
            <a:spLocks noGrp="1"/>
          </p:cNvSpPr>
          <p:nvPr/>
        </p:nvSpPr>
        <p:spPr>
          <a:xfrm>
            <a:off x="2928425" y="502640"/>
            <a:ext cx="4541861" cy="1000125"/>
          </a:xfrm>
          <a:prstGeom prst="rect">
            <a:avLst/>
          </a:prstGeom>
          <a:noFill/>
          <a:ln w="0">
            <a:noFill/>
          </a:ln>
        </p:spPr>
        <p:txBody>
          <a:bodyPr anchor="ctr">
            <a:normAutofit/>
          </a:bodyPr>
          <a:lstStyle/>
          <a:p>
            <a:pPr algn="l">
              <a:defRPr sz="4650" b="1">
                <a:solidFill>
                  <a:srgbClr val="000000"/>
                </a:solidFill>
                <a:latin typeface="Hero Bold"/>
                <a:ea typeface="Hero Bold"/>
                <a:cs typeface="Hero Bold"/>
              </a:defRPr>
            </a:pPr>
            <a:r>
              <a:rPr sz="4650" b="1" dirty="0">
                <a:solidFill>
                  <a:srgbClr val="000000"/>
                </a:solidFill>
                <a:latin typeface="Hero Bold"/>
                <a:ea typeface="Hero Bold"/>
                <a:cs typeface="Hero Bold"/>
              </a:rPr>
              <a:t>FYP2 </a:t>
            </a:r>
            <a:r>
              <a:rPr lang="en-MY" sz="4650" b="1" dirty="0">
                <a:solidFill>
                  <a:srgbClr val="000000"/>
                </a:solidFill>
                <a:latin typeface="Hero Bold"/>
                <a:ea typeface="Hero Bold"/>
                <a:cs typeface="Hero Bold"/>
              </a:rPr>
              <a:t>P</a:t>
            </a:r>
            <a:r>
              <a:rPr sz="4650" b="1" dirty="0">
                <a:solidFill>
                  <a:srgbClr val="000000"/>
                </a:solidFill>
                <a:latin typeface="Hero Bold"/>
                <a:ea typeface="Hero Bold"/>
                <a:cs typeface="Hero Bold"/>
              </a:rPr>
              <a:t>lan</a:t>
            </a:r>
          </a:p>
        </p:txBody>
      </p:sp>
      <p:sp>
        <p:nvSpPr>
          <p:cNvPr id="17" name="Rectangle 16">
            <a:extLst>
              <a:ext uri="{FF2B5EF4-FFF2-40B4-BE49-F238E27FC236}">
                <a16:creationId xmlns:a16="http://schemas.microsoft.com/office/drawing/2014/main" id="{980806E8-8A7C-4A47-96DD-E8B9636C2C66}"/>
              </a:ext>
            </a:extLst>
          </p:cNvPr>
          <p:cNvSpPr>
            <a:spLocks noGrp="1"/>
          </p:cNvSpPr>
          <p:nvPr/>
        </p:nvSpPr>
        <p:spPr>
          <a:xfrm>
            <a:off x="2928425" y="1374998"/>
            <a:ext cx="2857500" cy="476250"/>
          </a:xfrm>
          <a:prstGeom prst="rect">
            <a:avLst/>
          </a:prstGeom>
          <a:noFill/>
          <a:ln w="0">
            <a:noFill/>
          </a:ln>
        </p:spPr>
        <p:txBody>
          <a:bodyPr anchor="ctr">
            <a:noAutofit/>
          </a:bodyPr>
          <a:lstStyle/>
          <a:p>
            <a:pPr algn="l">
              <a:defRPr sz="2325" b="1">
                <a:solidFill>
                  <a:srgbClr val="000000"/>
                </a:solidFill>
                <a:latin typeface="Hero Bold"/>
                <a:ea typeface="Hero Bold"/>
                <a:cs typeface="Hero Bold"/>
              </a:defRPr>
            </a:pPr>
            <a:r>
              <a:rPr lang="en-MY" sz="2800" b="1" dirty="0">
                <a:solidFill>
                  <a:srgbClr val="000000"/>
                </a:solidFill>
                <a:latin typeface="Hero Bold"/>
                <a:ea typeface="Hero Bold"/>
                <a:cs typeface="Hero Bold"/>
              </a:rPr>
              <a:t>Priorities</a:t>
            </a:r>
            <a:endParaRPr sz="2800" b="1" dirty="0">
              <a:solidFill>
                <a:srgbClr val="000000"/>
              </a:solidFill>
              <a:latin typeface="Hero Bold"/>
              <a:ea typeface="Hero Bold"/>
              <a:cs typeface="Hero Bold"/>
            </a:endParaRPr>
          </a:p>
        </p:txBody>
      </p:sp>
      <p:sp>
        <p:nvSpPr>
          <p:cNvPr id="19" name="Rectangle 18">
            <a:extLst>
              <a:ext uri="{FF2B5EF4-FFF2-40B4-BE49-F238E27FC236}">
                <a16:creationId xmlns:a16="http://schemas.microsoft.com/office/drawing/2014/main" id="{0ED8B2EB-AAE4-4C7F-83C1-27D6B05EF434}"/>
              </a:ext>
            </a:extLst>
          </p:cNvPr>
          <p:cNvSpPr>
            <a:spLocks noGrp="1"/>
          </p:cNvSpPr>
          <p:nvPr/>
        </p:nvSpPr>
        <p:spPr>
          <a:xfrm>
            <a:off x="3022928" y="3180325"/>
            <a:ext cx="5044933" cy="647700"/>
          </a:xfrm>
          <a:prstGeom prst="rect">
            <a:avLst/>
          </a:prstGeom>
          <a:noFill/>
          <a:ln w="0">
            <a:noFill/>
          </a:ln>
        </p:spPr>
        <p:txBody>
          <a:bodyPr anchor="ctr">
            <a:noAutofit/>
          </a:bodyPr>
          <a:lstStyle/>
          <a:p>
            <a:pPr algn="l">
              <a:defRPr sz="1800" b="1">
                <a:solidFill>
                  <a:srgbClr val="000000"/>
                </a:solidFill>
                <a:latin typeface="Hero Bold"/>
                <a:ea typeface="Hero Bold"/>
                <a:cs typeface="Hero Bold"/>
              </a:defRPr>
            </a:pPr>
            <a:r>
              <a:rPr sz="2000" b="1" dirty="0">
                <a:solidFill>
                  <a:srgbClr val="000000"/>
                </a:solidFill>
                <a:latin typeface="Hero Bold"/>
                <a:ea typeface="Hero Bold"/>
                <a:cs typeface="Hero Bold"/>
              </a:rPr>
              <a:t>Expand and review accessibility evidence</a:t>
            </a:r>
          </a:p>
        </p:txBody>
      </p:sp>
      <p:sp>
        <p:nvSpPr>
          <p:cNvPr id="20" name="Rectangle 19">
            <a:extLst>
              <a:ext uri="{FF2B5EF4-FFF2-40B4-BE49-F238E27FC236}">
                <a16:creationId xmlns:a16="http://schemas.microsoft.com/office/drawing/2014/main" id="{D2BDCA5F-3BB5-4AEE-BB23-BC50FB68EE0E}"/>
              </a:ext>
            </a:extLst>
          </p:cNvPr>
          <p:cNvSpPr>
            <a:spLocks noGrp="1"/>
          </p:cNvSpPr>
          <p:nvPr/>
        </p:nvSpPr>
        <p:spPr>
          <a:xfrm>
            <a:off x="10910616" y="3319931"/>
            <a:ext cx="571500" cy="361950"/>
          </a:xfrm>
          <a:prstGeom prst="rect">
            <a:avLst/>
          </a:prstGeom>
          <a:noFill/>
          <a:ln w="0">
            <a:noFill/>
          </a:ln>
        </p:spPr>
        <p:txBody>
          <a:bodyPr anchor="ctr">
            <a:noAutofit/>
          </a:bodyPr>
          <a:lstStyle/>
          <a:p>
            <a:pPr algn="l">
              <a:defRPr sz="1650" b="1">
                <a:solidFill>
                  <a:srgbClr val="117C89"/>
                </a:solidFill>
                <a:latin typeface="Hero Bold"/>
                <a:ea typeface="Hero Bold"/>
                <a:cs typeface="Hero Bold"/>
              </a:defRPr>
            </a:pPr>
            <a:r>
              <a:rPr sz="2400" b="1" dirty="0">
                <a:solidFill>
                  <a:srgbClr val="117C89"/>
                </a:solidFill>
                <a:latin typeface="Hero Bold"/>
                <a:ea typeface="Hero Bold"/>
                <a:cs typeface="Hero Bold"/>
              </a:rPr>
              <a:t>02</a:t>
            </a:r>
          </a:p>
        </p:txBody>
      </p:sp>
      <p:sp>
        <p:nvSpPr>
          <p:cNvPr id="21" name="Rectangle 20">
            <a:extLst>
              <a:ext uri="{FF2B5EF4-FFF2-40B4-BE49-F238E27FC236}">
                <a16:creationId xmlns:a16="http://schemas.microsoft.com/office/drawing/2014/main" id="{6EEA0CED-E4D8-4B1F-8BDA-28786FB184AB}"/>
              </a:ext>
            </a:extLst>
          </p:cNvPr>
          <p:cNvSpPr>
            <a:spLocks noGrp="1"/>
          </p:cNvSpPr>
          <p:nvPr/>
        </p:nvSpPr>
        <p:spPr>
          <a:xfrm>
            <a:off x="11482116" y="3177056"/>
            <a:ext cx="4603011" cy="647700"/>
          </a:xfrm>
          <a:prstGeom prst="rect">
            <a:avLst/>
          </a:prstGeom>
          <a:noFill/>
          <a:ln w="0">
            <a:noFill/>
          </a:ln>
        </p:spPr>
        <p:txBody>
          <a:bodyPr anchor="ctr">
            <a:noAutofit/>
          </a:bodyPr>
          <a:lstStyle/>
          <a:p>
            <a:pPr algn="l">
              <a:defRPr sz="1800" b="1">
                <a:solidFill>
                  <a:srgbClr val="000000"/>
                </a:solidFill>
                <a:latin typeface="Hero Bold"/>
                <a:ea typeface="Hero Bold"/>
                <a:cs typeface="Hero Bold"/>
              </a:defRPr>
            </a:pPr>
            <a:r>
              <a:rPr sz="2000" b="1" dirty="0">
                <a:solidFill>
                  <a:srgbClr val="000000"/>
                </a:solidFill>
                <a:latin typeface="Hero Bold"/>
                <a:ea typeface="Hero Bold"/>
                <a:cs typeface="Hero Bold"/>
              </a:rPr>
              <a:t>Test the system with elderly users using tasks, observations and SUS</a:t>
            </a:r>
          </a:p>
        </p:txBody>
      </p:sp>
      <p:sp>
        <p:nvSpPr>
          <p:cNvPr id="22" name="Rectangle 21">
            <a:extLst>
              <a:ext uri="{FF2B5EF4-FFF2-40B4-BE49-F238E27FC236}">
                <a16:creationId xmlns:a16="http://schemas.microsoft.com/office/drawing/2014/main" id="{75BFB7F7-6883-4829-8953-C3041EFD3D8C}"/>
              </a:ext>
            </a:extLst>
          </p:cNvPr>
          <p:cNvSpPr>
            <a:spLocks noGrp="1"/>
          </p:cNvSpPr>
          <p:nvPr/>
        </p:nvSpPr>
        <p:spPr>
          <a:xfrm>
            <a:off x="2378950" y="6398709"/>
            <a:ext cx="571500" cy="361950"/>
          </a:xfrm>
          <a:prstGeom prst="rect">
            <a:avLst/>
          </a:prstGeom>
          <a:noFill/>
          <a:ln w="0">
            <a:noFill/>
          </a:ln>
        </p:spPr>
        <p:txBody>
          <a:bodyPr anchor="ctr">
            <a:noAutofit/>
          </a:bodyPr>
          <a:lstStyle/>
          <a:p>
            <a:pPr algn="l">
              <a:defRPr sz="1650" b="1">
                <a:solidFill>
                  <a:srgbClr val="117C89"/>
                </a:solidFill>
                <a:latin typeface="Hero Bold"/>
                <a:ea typeface="Hero Bold"/>
                <a:cs typeface="Hero Bold"/>
              </a:defRPr>
            </a:pPr>
            <a:r>
              <a:rPr sz="2400" b="1" dirty="0">
                <a:solidFill>
                  <a:srgbClr val="117C89"/>
                </a:solidFill>
                <a:latin typeface="Hero Bold"/>
                <a:ea typeface="Hero Bold"/>
                <a:cs typeface="Hero Bold"/>
              </a:rPr>
              <a:t>03</a:t>
            </a:r>
          </a:p>
        </p:txBody>
      </p:sp>
      <p:sp>
        <p:nvSpPr>
          <p:cNvPr id="23" name="Rectangle 22">
            <a:extLst>
              <a:ext uri="{FF2B5EF4-FFF2-40B4-BE49-F238E27FC236}">
                <a16:creationId xmlns:a16="http://schemas.microsoft.com/office/drawing/2014/main" id="{F256D6E8-3A98-4D29-B7B1-F83606A7E563}"/>
              </a:ext>
            </a:extLst>
          </p:cNvPr>
          <p:cNvSpPr>
            <a:spLocks noGrp="1"/>
          </p:cNvSpPr>
          <p:nvPr/>
        </p:nvSpPr>
        <p:spPr>
          <a:xfrm>
            <a:off x="3022928" y="6276275"/>
            <a:ext cx="4610927" cy="647700"/>
          </a:xfrm>
          <a:prstGeom prst="rect">
            <a:avLst/>
          </a:prstGeom>
          <a:noFill/>
          <a:ln w="0">
            <a:noFill/>
          </a:ln>
        </p:spPr>
        <p:txBody>
          <a:bodyPr anchor="ctr">
            <a:noAutofit/>
          </a:bodyPr>
          <a:lstStyle/>
          <a:p>
            <a:pPr algn="l">
              <a:defRPr sz="1800" b="1">
                <a:solidFill>
                  <a:srgbClr val="000000"/>
                </a:solidFill>
                <a:latin typeface="Hero Bold"/>
                <a:ea typeface="Hero Bold"/>
                <a:cs typeface="Hero Bold"/>
              </a:defRPr>
            </a:pPr>
            <a:r>
              <a:rPr sz="2000" b="1" dirty="0">
                <a:solidFill>
                  <a:srgbClr val="000000"/>
                </a:solidFill>
                <a:latin typeface="Hero Bold"/>
                <a:ea typeface="Hero Bold"/>
                <a:cs typeface="Hero Bold"/>
              </a:rPr>
              <a:t>Improve the interface, dialogue and language support based on findings</a:t>
            </a:r>
          </a:p>
        </p:txBody>
      </p:sp>
      <p:sp>
        <p:nvSpPr>
          <p:cNvPr id="24" name="Rectangle 23">
            <a:extLst>
              <a:ext uri="{FF2B5EF4-FFF2-40B4-BE49-F238E27FC236}">
                <a16:creationId xmlns:a16="http://schemas.microsoft.com/office/drawing/2014/main" id="{F38C1481-ED81-4A9F-8A08-EDA576B546C6}"/>
              </a:ext>
            </a:extLst>
          </p:cNvPr>
          <p:cNvSpPr>
            <a:spLocks noGrp="1"/>
          </p:cNvSpPr>
          <p:nvPr/>
        </p:nvSpPr>
        <p:spPr>
          <a:xfrm>
            <a:off x="10954073" y="6394539"/>
            <a:ext cx="571500" cy="361950"/>
          </a:xfrm>
          <a:prstGeom prst="rect">
            <a:avLst/>
          </a:prstGeom>
          <a:noFill/>
          <a:ln w="0">
            <a:noFill/>
          </a:ln>
        </p:spPr>
        <p:txBody>
          <a:bodyPr anchor="ctr">
            <a:noAutofit/>
          </a:bodyPr>
          <a:lstStyle/>
          <a:p>
            <a:pPr algn="l">
              <a:defRPr sz="1650" b="1">
                <a:solidFill>
                  <a:srgbClr val="117C89"/>
                </a:solidFill>
                <a:latin typeface="Hero Bold"/>
                <a:ea typeface="Hero Bold"/>
                <a:cs typeface="Hero Bold"/>
              </a:defRPr>
            </a:pPr>
            <a:r>
              <a:rPr sz="2400" b="1" dirty="0">
                <a:solidFill>
                  <a:srgbClr val="117C89"/>
                </a:solidFill>
                <a:latin typeface="Hero Bold"/>
                <a:ea typeface="Hero Bold"/>
                <a:cs typeface="Hero Bold"/>
              </a:rPr>
              <a:t>04</a:t>
            </a:r>
          </a:p>
        </p:txBody>
      </p:sp>
      <p:sp>
        <p:nvSpPr>
          <p:cNvPr id="25" name="Rectangle 24">
            <a:extLst>
              <a:ext uri="{FF2B5EF4-FFF2-40B4-BE49-F238E27FC236}">
                <a16:creationId xmlns:a16="http://schemas.microsoft.com/office/drawing/2014/main" id="{C1BE97C9-2521-43AD-A6AE-A0B624DBB48F}"/>
              </a:ext>
            </a:extLst>
          </p:cNvPr>
          <p:cNvSpPr>
            <a:spLocks noGrp="1"/>
          </p:cNvSpPr>
          <p:nvPr/>
        </p:nvSpPr>
        <p:spPr>
          <a:xfrm>
            <a:off x="11482116" y="6276275"/>
            <a:ext cx="4872744" cy="647700"/>
          </a:xfrm>
          <a:prstGeom prst="rect">
            <a:avLst/>
          </a:prstGeom>
          <a:noFill/>
          <a:ln w="0">
            <a:noFill/>
          </a:ln>
        </p:spPr>
        <p:txBody>
          <a:bodyPr anchor="ctr">
            <a:noAutofit/>
          </a:bodyPr>
          <a:lstStyle/>
          <a:p>
            <a:pPr algn="l">
              <a:defRPr sz="1800" b="1">
                <a:solidFill>
                  <a:srgbClr val="000000"/>
                </a:solidFill>
                <a:latin typeface="Hero Bold"/>
                <a:ea typeface="Hero Bold"/>
                <a:cs typeface="Hero Bold"/>
              </a:defRPr>
            </a:pPr>
            <a:r>
              <a:rPr sz="2000" b="1" dirty="0">
                <a:solidFill>
                  <a:srgbClr val="000000"/>
                </a:solidFill>
                <a:latin typeface="Hero Bold"/>
                <a:ea typeface="Hero Bold"/>
                <a:cs typeface="Hero Bold"/>
              </a:rPr>
              <a:t>Complete the final evaluation and consider a mobile prototype after the workflow is stable</a:t>
            </a:r>
          </a:p>
        </p:txBody>
      </p:sp>
      <p:sp>
        <p:nvSpPr>
          <p:cNvPr id="18" name="Rectangle 17">
            <a:extLst>
              <a:ext uri="{FF2B5EF4-FFF2-40B4-BE49-F238E27FC236}">
                <a16:creationId xmlns:a16="http://schemas.microsoft.com/office/drawing/2014/main" id="{FBB69270-860F-4E2B-8D35-9D2914BF8099}"/>
              </a:ext>
            </a:extLst>
          </p:cNvPr>
          <p:cNvSpPr>
            <a:spLocks noGrp="1"/>
          </p:cNvSpPr>
          <p:nvPr/>
        </p:nvSpPr>
        <p:spPr>
          <a:xfrm>
            <a:off x="2400975" y="3319931"/>
            <a:ext cx="527450" cy="368489"/>
          </a:xfrm>
          <a:prstGeom prst="rect">
            <a:avLst/>
          </a:prstGeom>
          <a:noFill/>
          <a:ln w="0">
            <a:noFill/>
          </a:ln>
        </p:spPr>
        <p:txBody>
          <a:bodyPr anchor="ctr">
            <a:noAutofit/>
          </a:bodyPr>
          <a:lstStyle/>
          <a:p>
            <a:pPr algn="l">
              <a:defRPr sz="1650" b="1">
                <a:solidFill>
                  <a:srgbClr val="117C89"/>
                </a:solidFill>
                <a:latin typeface="Hero Bold"/>
                <a:ea typeface="Hero Bold"/>
                <a:cs typeface="Hero Bold"/>
              </a:defRPr>
            </a:pPr>
            <a:r>
              <a:rPr sz="2400" b="1" dirty="0">
                <a:latin typeface="Hero Bold"/>
                <a:ea typeface="Hero Bold"/>
                <a:cs typeface="Hero Bold"/>
              </a:rPr>
              <a:t>01</a:t>
            </a:r>
          </a:p>
        </p:txBody>
      </p:sp>
    </p:spTree>
    <p:extLst>
      <p:ext uri="{BB962C8B-B14F-4D97-AF65-F5344CB8AC3E}">
        <p14:creationId xmlns:p14="http://schemas.microsoft.com/office/powerpoint/2010/main" val="830563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14" name="Freeform 14">
            <a:extLst>
              <a:ext uri="{FF2B5EF4-FFF2-40B4-BE49-F238E27FC236}">
                <a16:creationId xmlns:a16="http://schemas.microsoft.com/office/drawing/2014/main" id="{CC9187C1-0C14-45F9-8B73-21B9DB4B0629}"/>
              </a:ext>
            </a:extLst>
          </p:cNvPr>
          <p:cNvSpPr>
            <a:spLocks noGrp="1"/>
          </p:cNvSpPr>
          <p:nvPr/>
        </p:nvSpPr>
        <p:spPr>
          <a:xfrm>
            <a:off x="14595295" y="7936897"/>
            <a:ext cx="6072658" cy="6072658"/>
          </a:xfrm>
          <a:custGeom>
            <a:avLst/>
            <a:gdLst/>
            <a:ahLst/>
            <a:cxnLst/>
            <a:rect l="l" t="t" r="r" b="b"/>
            <a:pathLst>
              <a:path w="6072658" h="6072658">
                <a:moveTo>
                  <a:pt x="0" y="0"/>
                </a:moveTo>
                <a:lnTo>
                  <a:pt x="6072659" y="0"/>
                </a:lnTo>
                <a:lnTo>
                  <a:pt x="6072659"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0" name="Freeform 10">
            <a:extLst>
              <a:ext uri="{FF2B5EF4-FFF2-40B4-BE49-F238E27FC236}">
                <a16:creationId xmlns:a16="http://schemas.microsoft.com/office/drawing/2014/main" id="{39A4F0D6-D4D7-4092-9A4B-CCD7BEA7FB7C}"/>
              </a:ext>
            </a:extLst>
          </p:cNvPr>
          <p:cNvSpPr>
            <a:spLocks noGrp="1"/>
          </p:cNvSpPr>
          <p:nvPr/>
        </p:nvSpPr>
        <p:spPr>
          <a:xfrm>
            <a:off x="-3523028" y="2011781"/>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5" name="Freeform 5">
            <a:extLst>
              <a:ext uri="{FF2B5EF4-FFF2-40B4-BE49-F238E27FC236}">
                <a16:creationId xmlns:a16="http://schemas.microsoft.com/office/drawing/2014/main" id="{351202FE-C2CB-4140-8602-12ED3BABA0FE}"/>
              </a:ext>
            </a:extLst>
          </p:cNvPr>
          <p:cNvSpPr>
            <a:spLocks noGrp="1"/>
          </p:cNvSpPr>
          <p:nvPr/>
        </p:nvSpPr>
        <p:spPr>
          <a:xfrm rot="5400000">
            <a:off x="4784659" y="-3108228"/>
            <a:ext cx="5685511" cy="5685511"/>
          </a:xfrm>
          <a:custGeom>
            <a:avLst/>
            <a:gdLst/>
            <a:ahLst/>
            <a:cxnLst/>
            <a:rect l="l" t="t" r="r" b="b"/>
            <a:pathLst>
              <a:path w="5685511" h="5685511">
                <a:moveTo>
                  <a:pt x="0" y="0"/>
                </a:moveTo>
                <a:lnTo>
                  <a:pt x="5685511" y="0"/>
                </a:lnTo>
                <a:lnTo>
                  <a:pt x="5685511" y="5685511"/>
                </a:lnTo>
                <a:lnTo>
                  <a:pt x="0" y="56855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6" name="Freeform 6">
            <a:extLst>
              <a:ext uri="{FF2B5EF4-FFF2-40B4-BE49-F238E27FC236}">
                <a16:creationId xmlns:a16="http://schemas.microsoft.com/office/drawing/2014/main" id="{10B0F75D-3AF6-4EFC-BF25-8A12E04C79CF}"/>
              </a:ext>
            </a:extLst>
          </p:cNvPr>
          <p:cNvSpPr>
            <a:spLocks noGrp="1"/>
          </p:cNvSpPr>
          <p:nvPr/>
        </p:nvSpPr>
        <p:spPr>
          <a:xfrm>
            <a:off x="8522637" y="-2807044"/>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9" name="Freeform 9">
            <a:extLst>
              <a:ext uri="{FF2B5EF4-FFF2-40B4-BE49-F238E27FC236}">
                <a16:creationId xmlns:a16="http://schemas.microsoft.com/office/drawing/2014/main" id="{0A23BCD7-C725-4074-B96F-A8357F334785}"/>
              </a:ext>
            </a:extLst>
          </p:cNvPr>
          <p:cNvSpPr>
            <a:spLocks noGrp="1"/>
          </p:cNvSpPr>
          <p:nvPr/>
        </p:nvSpPr>
        <p:spPr>
          <a:xfrm rot="5400000" flipH="1" flipV="1">
            <a:off x="-2118237" y="7069290"/>
            <a:ext cx="3263076" cy="3263076"/>
          </a:xfrm>
          <a:custGeom>
            <a:avLst/>
            <a:gdLst/>
            <a:ahLst/>
            <a:cxnLst/>
            <a:rect l="l" t="t" r="r" b="b"/>
            <a:pathLst>
              <a:path w="3263076" h="3263076">
                <a:moveTo>
                  <a:pt x="3263076" y="3263076"/>
                </a:moveTo>
                <a:lnTo>
                  <a:pt x="0" y="3263076"/>
                </a:lnTo>
                <a:lnTo>
                  <a:pt x="0" y="0"/>
                </a:lnTo>
                <a:lnTo>
                  <a:pt x="3263076" y="0"/>
                </a:lnTo>
                <a:lnTo>
                  <a:pt x="3263076" y="326307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3" name="Freeform 13">
            <a:extLst>
              <a:ext uri="{FF2B5EF4-FFF2-40B4-BE49-F238E27FC236}">
                <a16:creationId xmlns:a16="http://schemas.microsoft.com/office/drawing/2014/main" id="{23918C02-423D-49D1-87CF-2596EF4D4487}"/>
              </a:ext>
            </a:extLst>
          </p:cNvPr>
          <p:cNvSpPr>
            <a:spLocks noGrp="1"/>
          </p:cNvSpPr>
          <p:nvPr/>
        </p:nvSpPr>
        <p:spPr>
          <a:xfrm rot="5400000" flipH="1" flipV="1">
            <a:off x="16175386" y="4673821"/>
            <a:ext cx="3263076" cy="3263076"/>
          </a:xfrm>
          <a:custGeom>
            <a:avLst/>
            <a:gdLst/>
            <a:ahLst/>
            <a:cxnLst/>
            <a:rect l="l" t="t" r="r" b="b"/>
            <a:pathLst>
              <a:path w="3263076" h="3263076">
                <a:moveTo>
                  <a:pt x="3263077" y="3263076"/>
                </a:moveTo>
                <a:lnTo>
                  <a:pt x="0" y="3263076"/>
                </a:lnTo>
                <a:lnTo>
                  <a:pt x="0" y="0"/>
                </a:lnTo>
                <a:lnTo>
                  <a:pt x="3263077" y="0"/>
                </a:lnTo>
                <a:lnTo>
                  <a:pt x="3263077" y="326307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5" name="Rectangle 14">
            <a:extLst>
              <a:ext uri="{FF2B5EF4-FFF2-40B4-BE49-F238E27FC236}">
                <a16:creationId xmlns:a16="http://schemas.microsoft.com/office/drawing/2014/main" id="{068A0908-E018-47B7-BE81-AAD0BFED8562}"/>
              </a:ext>
            </a:extLst>
          </p:cNvPr>
          <p:cNvSpPr>
            <a:spLocks noGrp="1"/>
          </p:cNvSpPr>
          <p:nvPr/>
        </p:nvSpPr>
        <p:spPr>
          <a:xfrm>
            <a:off x="876300" y="533400"/>
            <a:ext cx="16002000" cy="1000125"/>
          </a:xfrm>
          <a:prstGeom prst="rect">
            <a:avLst/>
          </a:prstGeom>
          <a:noFill/>
          <a:ln w="0">
            <a:noFill/>
          </a:ln>
        </p:spPr>
        <p:txBody>
          <a:bodyPr anchor="ctr">
            <a:normAutofit/>
          </a:bodyPr>
          <a:lstStyle/>
          <a:p>
            <a:pPr algn="l">
              <a:defRPr sz="4650" b="1">
                <a:solidFill>
                  <a:srgbClr val="000000"/>
                </a:solidFill>
                <a:latin typeface="Hero Bold"/>
                <a:ea typeface="Hero Bold"/>
                <a:cs typeface="Hero Bold"/>
              </a:defRPr>
            </a:pPr>
            <a:r>
              <a:rPr sz="4650" b="1">
                <a:solidFill>
                  <a:srgbClr val="000000"/>
                </a:solidFill>
                <a:latin typeface="Hero Bold"/>
                <a:ea typeface="Hero Bold"/>
                <a:cs typeface="Hero Bold"/>
              </a:rPr>
              <a:t>Conclusion</a:t>
            </a:r>
          </a:p>
        </p:txBody>
      </p:sp>
      <p:sp>
        <p:nvSpPr>
          <p:cNvPr id="16" name="Rectangle 15">
            <a:extLst>
              <a:ext uri="{FF2B5EF4-FFF2-40B4-BE49-F238E27FC236}">
                <a16:creationId xmlns:a16="http://schemas.microsoft.com/office/drawing/2014/main" id="{8CC3C327-61CB-4CDE-98B8-30E505FD6BCE}"/>
              </a:ext>
            </a:extLst>
          </p:cNvPr>
          <p:cNvSpPr>
            <a:spLocks noGrp="1"/>
          </p:cNvSpPr>
          <p:nvPr/>
        </p:nvSpPr>
        <p:spPr>
          <a:xfrm>
            <a:off x="1428750" y="2476500"/>
            <a:ext cx="5905500" cy="1143000"/>
          </a:xfrm>
          <a:prstGeom prst="rect">
            <a:avLst/>
          </a:prstGeom>
          <a:noFill/>
          <a:ln w="0">
            <a:noFill/>
          </a:ln>
        </p:spPr>
        <p:txBody>
          <a:bodyPr anchor="ctr">
            <a:normAutofit/>
          </a:bodyPr>
          <a:lstStyle/>
          <a:p>
            <a:pPr algn="l">
              <a:defRPr sz="5850" b="1">
                <a:solidFill>
                  <a:srgbClr val="117C89"/>
                </a:solidFill>
                <a:latin typeface="Hero Bold"/>
                <a:ea typeface="Hero Bold"/>
                <a:cs typeface="Hero Bold"/>
              </a:defRPr>
            </a:pPr>
            <a:r>
              <a:rPr sz="5850" b="1">
                <a:solidFill>
                  <a:srgbClr val="117C89"/>
                </a:solidFill>
                <a:latin typeface="Hero Bold"/>
                <a:ea typeface="Hero Bold"/>
                <a:cs typeface="Hero Bold"/>
              </a:rPr>
              <a:t>JomVoyage</a:t>
            </a:r>
          </a:p>
        </p:txBody>
      </p:sp>
      <p:sp>
        <p:nvSpPr>
          <p:cNvPr id="17" name="Rectangle 16">
            <a:extLst>
              <a:ext uri="{FF2B5EF4-FFF2-40B4-BE49-F238E27FC236}">
                <a16:creationId xmlns:a16="http://schemas.microsoft.com/office/drawing/2014/main" id="{9A7CBC78-EE51-4390-B530-2AA2296EEA7E}"/>
              </a:ext>
            </a:extLst>
          </p:cNvPr>
          <p:cNvSpPr>
            <a:spLocks noGrp="1"/>
          </p:cNvSpPr>
          <p:nvPr/>
        </p:nvSpPr>
        <p:spPr>
          <a:xfrm>
            <a:off x="1428750" y="3762375"/>
            <a:ext cx="6191250" cy="2190750"/>
          </a:xfrm>
          <a:prstGeom prst="rect">
            <a:avLst/>
          </a:prstGeom>
          <a:noFill/>
          <a:ln w="0">
            <a:noFill/>
          </a:ln>
        </p:spPr>
        <p:txBody>
          <a:bodyPr anchor="ctr">
            <a:normAutofit/>
          </a:bodyPr>
          <a:lstStyle/>
          <a:p>
            <a:pPr algn="l">
              <a:defRPr sz="2850" b="1">
                <a:solidFill>
                  <a:srgbClr val="000000"/>
                </a:solidFill>
                <a:latin typeface="Hero Bold"/>
                <a:ea typeface="Hero Bold"/>
                <a:cs typeface="Hero Bold"/>
              </a:defRPr>
            </a:pPr>
            <a:r>
              <a:rPr sz="2850" b="1">
                <a:solidFill>
                  <a:srgbClr val="000000"/>
                </a:solidFill>
                <a:latin typeface="Hero Bold"/>
                <a:ea typeface="Hero Bold"/>
                <a:cs typeface="Hero Bold"/>
              </a:rPr>
              <a:t>A local and explainable travel recommendation chatbot for elderly-oriented trip discovery in Malaysia</a:t>
            </a:r>
          </a:p>
        </p:txBody>
      </p:sp>
      <p:sp>
        <p:nvSpPr>
          <p:cNvPr id="18" name="Rectangle: Rounded Corners 17">
            <a:extLst>
              <a:ext uri="{FF2B5EF4-FFF2-40B4-BE49-F238E27FC236}">
                <a16:creationId xmlns:a16="http://schemas.microsoft.com/office/drawing/2014/main" id="{F1998955-1FD8-4711-AEFC-69D4B4A0E34C}"/>
              </a:ext>
            </a:extLst>
          </p:cNvPr>
          <p:cNvSpPr>
            <a:spLocks noGrp="1"/>
          </p:cNvSpPr>
          <p:nvPr/>
        </p:nvSpPr>
        <p:spPr>
          <a:xfrm>
            <a:off x="8953500" y="2428875"/>
            <a:ext cx="3958936" cy="4381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dirty="0">
                <a:solidFill>
                  <a:srgbClr val="000000"/>
                </a:solidFill>
                <a:latin typeface="Hero Bold"/>
                <a:ea typeface="Hero Bold"/>
                <a:cs typeface="Hero Bold"/>
              </a:rPr>
              <a:t>Guided conversation</a:t>
            </a:r>
          </a:p>
        </p:txBody>
      </p:sp>
      <p:sp>
        <p:nvSpPr>
          <p:cNvPr id="19" name="Rectangle 18">
            <a:extLst>
              <a:ext uri="{FF2B5EF4-FFF2-40B4-BE49-F238E27FC236}">
                <a16:creationId xmlns:a16="http://schemas.microsoft.com/office/drawing/2014/main" id="{430D8EA6-1483-473B-B63B-F7AA57189A79}"/>
              </a:ext>
            </a:extLst>
          </p:cNvPr>
          <p:cNvSpPr>
            <a:spLocks noGrp="1"/>
          </p:cNvSpPr>
          <p:nvPr/>
        </p:nvSpPr>
        <p:spPr>
          <a:xfrm>
            <a:off x="8953500" y="3000375"/>
            <a:ext cx="6858000" cy="1047750"/>
          </a:xfrm>
          <a:prstGeom prst="rect">
            <a:avLst/>
          </a:prstGeom>
          <a:noFill/>
          <a:ln w="0">
            <a:noFill/>
          </a:ln>
        </p:spPr>
        <p:txBody>
          <a:bodyPr anchor="ctr">
            <a:normAutofit/>
          </a:bodyPr>
          <a:lstStyle/>
          <a:p>
            <a:pPr algn="l">
              <a:defRPr sz="1950" b="0">
                <a:solidFill>
                  <a:srgbClr val="30434B"/>
                </a:solidFill>
                <a:latin typeface="Quicksand"/>
                <a:ea typeface="Quicksand"/>
                <a:cs typeface="Quicksand"/>
              </a:defRPr>
            </a:pPr>
            <a:r>
              <a:rPr sz="2400" b="0" dirty="0">
                <a:solidFill>
                  <a:srgbClr val="30434B"/>
                </a:solidFill>
                <a:latin typeface="Quicksand"/>
                <a:ea typeface="Quicksand"/>
                <a:cs typeface="Quicksand"/>
              </a:rPr>
              <a:t>The chatbot reduces the effort needed to express and change travel preferences.</a:t>
            </a:r>
          </a:p>
        </p:txBody>
      </p:sp>
      <p:sp>
        <p:nvSpPr>
          <p:cNvPr id="20" name="Rectangle: Rounded Corners 19">
            <a:extLst>
              <a:ext uri="{FF2B5EF4-FFF2-40B4-BE49-F238E27FC236}">
                <a16:creationId xmlns:a16="http://schemas.microsoft.com/office/drawing/2014/main" id="{8163B1F6-C384-485F-8604-255A9318B84E}"/>
              </a:ext>
            </a:extLst>
          </p:cNvPr>
          <p:cNvSpPr>
            <a:spLocks noGrp="1"/>
          </p:cNvSpPr>
          <p:nvPr/>
        </p:nvSpPr>
        <p:spPr>
          <a:xfrm>
            <a:off x="8953500" y="4619625"/>
            <a:ext cx="4928755" cy="4381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dirty="0">
                <a:solidFill>
                  <a:srgbClr val="000000"/>
                </a:solidFill>
                <a:latin typeface="Hero Bold"/>
                <a:ea typeface="Hero Bold"/>
                <a:cs typeface="Hero Bold"/>
              </a:rPr>
              <a:t>Evidence-based retrieval</a:t>
            </a:r>
          </a:p>
        </p:txBody>
      </p:sp>
      <p:sp>
        <p:nvSpPr>
          <p:cNvPr id="21" name="Rectangle 20">
            <a:extLst>
              <a:ext uri="{FF2B5EF4-FFF2-40B4-BE49-F238E27FC236}">
                <a16:creationId xmlns:a16="http://schemas.microsoft.com/office/drawing/2014/main" id="{43786499-9568-43A9-A2A8-53901AF9D31C}"/>
              </a:ext>
            </a:extLst>
          </p:cNvPr>
          <p:cNvSpPr>
            <a:spLocks noGrp="1"/>
          </p:cNvSpPr>
          <p:nvPr/>
        </p:nvSpPr>
        <p:spPr>
          <a:xfrm>
            <a:off x="8877300" y="5233364"/>
            <a:ext cx="6858000" cy="1047750"/>
          </a:xfrm>
          <a:prstGeom prst="rect">
            <a:avLst/>
          </a:prstGeom>
          <a:noFill/>
          <a:ln w="0">
            <a:noFill/>
          </a:ln>
        </p:spPr>
        <p:txBody>
          <a:bodyPr anchor="ctr">
            <a:normAutofit/>
          </a:bodyPr>
          <a:lstStyle/>
          <a:p>
            <a:pPr algn="l">
              <a:defRPr sz="1950" b="0">
                <a:solidFill>
                  <a:srgbClr val="30434B"/>
                </a:solidFill>
                <a:latin typeface="Quicksand"/>
                <a:ea typeface="Quicksand"/>
                <a:cs typeface="Quicksand"/>
              </a:defRPr>
            </a:pPr>
            <a:r>
              <a:rPr sz="2400" b="0" dirty="0">
                <a:solidFill>
                  <a:srgbClr val="30434B"/>
                </a:solidFill>
                <a:latin typeface="Quicksand"/>
                <a:ea typeface="Quicksand"/>
                <a:cs typeface="Quicksand"/>
              </a:rPr>
              <a:t>Attraction and accessibility statements remain tied to stored records and visible limitations.</a:t>
            </a:r>
          </a:p>
        </p:txBody>
      </p:sp>
      <p:sp>
        <p:nvSpPr>
          <p:cNvPr id="22" name="Rectangle: Rounded Corners 21">
            <a:extLst>
              <a:ext uri="{FF2B5EF4-FFF2-40B4-BE49-F238E27FC236}">
                <a16:creationId xmlns:a16="http://schemas.microsoft.com/office/drawing/2014/main" id="{26426DAB-3D56-46FF-932B-03AB3D69E3B0}"/>
              </a:ext>
            </a:extLst>
          </p:cNvPr>
          <p:cNvSpPr>
            <a:spLocks noGrp="1"/>
          </p:cNvSpPr>
          <p:nvPr/>
        </p:nvSpPr>
        <p:spPr>
          <a:xfrm>
            <a:off x="8953500" y="6907242"/>
            <a:ext cx="2462645" cy="438150"/>
          </a:xfrm>
          <a:prstGeom prst="roundRect">
            <a:avLst/>
          </a:prstGeom>
          <a:solidFill>
            <a:schemeClr val="bg1"/>
          </a:solidFill>
          <a:ln w="0">
            <a:noFill/>
          </a:ln>
        </p:spPr>
        <p:txBody>
          <a:bodyPr anchor="ctr">
            <a:noAutofit/>
          </a:bodyPr>
          <a:lstStyle/>
          <a:p>
            <a:pPr algn="l">
              <a:defRPr sz="2325" b="1">
                <a:solidFill>
                  <a:srgbClr val="000000"/>
                </a:solidFill>
                <a:latin typeface="Hero Bold"/>
                <a:ea typeface="Hero Bold"/>
                <a:cs typeface="Hero Bold"/>
              </a:defRPr>
            </a:pPr>
            <a:r>
              <a:rPr sz="2800" b="1">
                <a:solidFill>
                  <a:srgbClr val="000000"/>
                </a:solidFill>
                <a:latin typeface="Hero Bold"/>
                <a:ea typeface="Hero Bold"/>
                <a:cs typeface="Hero Bold"/>
              </a:rPr>
              <a:t>Next priority</a:t>
            </a:r>
          </a:p>
        </p:txBody>
      </p:sp>
      <p:sp>
        <p:nvSpPr>
          <p:cNvPr id="23" name="Rectangle 22">
            <a:extLst>
              <a:ext uri="{FF2B5EF4-FFF2-40B4-BE49-F238E27FC236}">
                <a16:creationId xmlns:a16="http://schemas.microsoft.com/office/drawing/2014/main" id="{830B240D-4D14-4E50-ACC3-656B67DF522F}"/>
              </a:ext>
            </a:extLst>
          </p:cNvPr>
          <p:cNvSpPr>
            <a:spLocks noGrp="1"/>
          </p:cNvSpPr>
          <p:nvPr/>
        </p:nvSpPr>
        <p:spPr>
          <a:xfrm>
            <a:off x="8877300" y="7466353"/>
            <a:ext cx="6858000" cy="1047750"/>
          </a:xfrm>
          <a:prstGeom prst="rect">
            <a:avLst/>
          </a:prstGeom>
          <a:noFill/>
          <a:ln w="0">
            <a:noFill/>
          </a:ln>
        </p:spPr>
        <p:txBody>
          <a:bodyPr anchor="ctr">
            <a:normAutofit/>
          </a:bodyPr>
          <a:lstStyle/>
          <a:p>
            <a:pPr algn="l">
              <a:defRPr sz="1950" b="0">
                <a:solidFill>
                  <a:srgbClr val="30434B"/>
                </a:solidFill>
                <a:latin typeface="Quicksand"/>
                <a:ea typeface="Quicksand"/>
                <a:cs typeface="Quicksand"/>
              </a:defRPr>
            </a:pPr>
            <a:r>
              <a:rPr sz="2400" b="0" dirty="0">
                <a:solidFill>
                  <a:srgbClr val="30434B"/>
                </a:solidFill>
                <a:latin typeface="Quicksand"/>
                <a:ea typeface="Quicksand"/>
                <a:cs typeface="Quicksand"/>
              </a:rPr>
              <a:t>FYP2 will evaluate the prototype with elderly users and improve it using their feedback.</a:t>
            </a:r>
          </a:p>
        </p:txBody>
      </p:sp>
    </p:spTree>
    <p:extLst>
      <p:ext uri="{BB962C8B-B14F-4D97-AF65-F5344CB8AC3E}">
        <p14:creationId xmlns:p14="http://schemas.microsoft.com/office/powerpoint/2010/main" val="941573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5693AC65-B132-4CFD-BD7D-806248424D82}"/>
              </a:ext>
            </a:extLst>
          </p:cNvPr>
          <p:cNvSpPr>
            <a:spLocks noGrp="1"/>
          </p:cNvSpPr>
          <p:nvPr/>
        </p:nvSpPr>
        <p:spPr>
          <a:xfrm>
            <a:off x="6609164" y="-3191982"/>
            <a:ext cx="6072658" cy="6072658"/>
          </a:xfrm>
          <a:custGeom>
            <a:avLst/>
            <a:gdLst/>
            <a:ahLst/>
            <a:cxnLst/>
            <a:rect l="l" t="t" r="r" b="b"/>
            <a:pathLst>
              <a:path w="6072658" h="6072658">
                <a:moveTo>
                  <a:pt x="0" y="0"/>
                </a:moveTo>
                <a:lnTo>
                  <a:pt x="6072658" y="0"/>
                </a:lnTo>
                <a:lnTo>
                  <a:pt x="6072658" y="6072658"/>
                </a:lnTo>
                <a:lnTo>
                  <a:pt x="0" y="6072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 name="Freeform 3">
            <a:extLst>
              <a:ext uri="{FF2B5EF4-FFF2-40B4-BE49-F238E27FC236}">
                <a16:creationId xmlns:a16="http://schemas.microsoft.com/office/drawing/2014/main" id="{516E6367-14CB-47E3-AB43-4977C6650AD5}"/>
              </a:ext>
            </a:extLst>
          </p:cNvPr>
          <p:cNvSpPr>
            <a:spLocks noGrp="1"/>
          </p:cNvSpPr>
          <p:nvPr/>
        </p:nvSpPr>
        <p:spPr>
          <a:xfrm>
            <a:off x="-1404168" y="7648446"/>
            <a:ext cx="4590438" cy="4590438"/>
          </a:xfrm>
          <a:custGeom>
            <a:avLst/>
            <a:gdLst/>
            <a:ahLst/>
            <a:cxnLst/>
            <a:rect l="l" t="t" r="r" b="b"/>
            <a:pathLst>
              <a:path w="4590438" h="4590438">
                <a:moveTo>
                  <a:pt x="0" y="0"/>
                </a:moveTo>
                <a:lnTo>
                  <a:pt x="4590438" y="0"/>
                </a:lnTo>
                <a:lnTo>
                  <a:pt x="4590438" y="4590437"/>
                </a:lnTo>
                <a:lnTo>
                  <a:pt x="0" y="459043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4" name="Freeform 4">
            <a:extLst>
              <a:ext uri="{FF2B5EF4-FFF2-40B4-BE49-F238E27FC236}">
                <a16:creationId xmlns:a16="http://schemas.microsoft.com/office/drawing/2014/main" id="{32B6F3D3-26B9-4FED-A519-58654499F6DA}"/>
              </a:ext>
            </a:extLst>
          </p:cNvPr>
          <p:cNvSpPr>
            <a:spLocks noGrp="1"/>
          </p:cNvSpPr>
          <p:nvPr/>
        </p:nvSpPr>
        <p:spPr>
          <a:xfrm rot="5400000" flipV="1">
            <a:off x="-1654978" y="-1988754"/>
            <a:ext cx="4369211" cy="4369211"/>
          </a:xfrm>
          <a:custGeom>
            <a:avLst/>
            <a:gdLst/>
            <a:ahLst/>
            <a:cxnLst/>
            <a:rect l="l" t="t" r="r" b="b"/>
            <a:pathLst>
              <a:path w="4369211" h="4369211">
                <a:moveTo>
                  <a:pt x="0" y="4369211"/>
                </a:moveTo>
                <a:lnTo>
                  <a:pt x="4369211" y="4369211"/>
                </a:lnTo>
                <a:lnTo>
                  <a:pt x="4369211" y="0"/>
                </a:lnTo>
                <a:lnTo>
                  <a:pt x="0" y="0"/>
                </a:lnTo>
                <a:lnTo>
                  <a:pt x="0" y="4369211"/>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0" name="Freeform 10">
            <a:extLst>
              <a:ext uri="{FF2B5EF4-FFF2-40B4-BE49-F238E27FC236}">
                <a16:creationId xmlns:a16="http://schemas.microsoft.com/office/drawing/2014/main" id="{AF7D49FE-92A5-46DF-BE89-979151B5EF7C}"/>
              </a:ext>
            </a:extLst>
          </p:cNvPr>
          <p:cNvSpPr>
            <a:spLocks noGrp="1"/>
          </p:cNvSpPr>
          <p:nvPr/>
        </p:nvSpPr>
        <p:spPr>
          <a:xfrm rot="5400000" flipH="1" flipV="1">
            <a:off x="14831345" y="7915146"/>
            <a:ext cx="4369211" cy="4369211"/>
          </a:xfrm>
          <a:custGeom>
            <a:avLst/>
            <a:gdLst/>
            <a:ahLst/>
            <a:cxnLst/>
            <a:rect l="l" t="t" r="r" b="b"/>
            <a:pathLst>
              <a:path w="4369211" h="4369211">
                <a:moveTo>
                  <a:pt x="4369211" y="4369211"/>
                </a:moveTo>
                <a:lnTo>
                  <a:pt x="0" y="4369211"/>
                </a:lnTo>
                <a:lnTo>
                  <a:pt x="0" y="0"/>
                </a:lnTo>
                <a:lnTo>
                  <a:pt x="4369211" y="0"/>
                </a:lnTo>
                <a:lnTo>
                  <a:pt x="4369211" y="4369211"/>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1" name="Freeform 11">
            <a:extLst>
              <a:ext uri="{FF2B5EF4-FFF2-40B4-BE49-F238E27FC236}">
                <a16:creationId xmlns:a16="http://schemas.microsoft.com/office/drawing/2014/main" id="{D5FA2D43-15B9-4CAE-9627-F62621F4180B}"/>
              </a:ext>
            </a:extLst>
          </p:cNvPr>
          <p:cNvSpPr>
            <a:spLocks noGrp="1"/>
          </p:cNvSpPr>
          <p:nvPr/>
        </p:nvSpPr>
        <p:spPr>
          <a:xfrm>
            <a:off x="16340690" y="4238708"/>
            <a:ext cx="4590438" cy="4590438"/>
          </a:xfrm>
          <a:custGeom>
            <a:avLst/>
            <a:gdLst/>
            <a:ahLst/>
            <a:cxnLst/>
            <a:rect l="l" t="t" r="r" b="b"/>
            <a:pathLst>
              <a:path w="4590438" h="4590438">
                <a:moveTo>
                  <a:pt x="0" y="0"/>
                </a:moveTo>
                <a:lnTo>
                  <a:pt x="4590437" y="0"/>
                </a:lnTo>
                <a:lnTo>
                  <a:pt x="4590437" y="4590438"/>
                </a:lnTo>
                <a:lnTo>
                  <a:pt x="0" y="45904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MY"/>
          </a:p>
        </p:txBody>
      </p:sp>
      <p:sp>
        <p:nvSpPr>
          <p:cNvPr id="12" name="Freeform 12">
            <a:extLst>
              <a:ext uri="{FF2B5EF4-FFF2-40B4-BE49-F238E27FC236}">
                <a16:creationId xmlns:a16="http://schemas.microsoft.com/office/drawing/2014/main" id="{CF38843E-E83B-4679-95C9-FA3E4DA1F54D}"/>
              </a:ext>
            </a:extLst>
          </p:cNvPr>
          <p:cNvSpPr>
            <a:spLocks noGrp="1"/>
          </p:cNvSpPr>
          <p:nvPr/>
        </p:nvSpPr>
        <p:spPr>
          <a:xfrm rot="5400000" flipV="1">
            <a:off x="10758311" y="-2561485"/>
            <a:ext cx="4369211" cy="4369211"/>
          </a:xfrm>
          <a:custGeom>
            <a:avLst/>
            <a:gdLst/>
            <a:ahLst/>
            <a:cxnLst/>
            <a:rect l="l" t="t" r="r" b="b"/>
            <a:pathLst>
              <a:path w="4369211" h="4369211">
                <a:moveTo>
                  <a:pt x="0" y="4369211"/>
                </a:moveTo>
                <a:lnTo>
                  <a:pt x="4369211" y="4369211"/>
                </a:lnTo>
                <a:lnTo>
                  <a:pt x="4369211" y="0"/>
                </a:lnTo>
                <a:lnTo>
                  <a:pt x="0" y="0"/>
                </a:lnTo>
                <a:lnTo>
                  <a:pt x="0" y="4369211"/>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MY"/>
          </a:p>
        </p:txBody>
      </p:sp>
      <p:sp>
        <p:nvSpPr>
          <p:cNvPr id="13" name="Rectangle 12">
            <a:extLst>
              <a:ext uri="{FF2B5EF4-FFF2-40B4-BE49-F238E27FC236}">
                <a16:creationId xmlns:a16="http://schemas.microsoft.com/office/drawing/2014/main" id="{5B189F85-ADF4-4467-9398-4B79A03FFD66}"/>
              </a:ext>
            </a:extLst>
          </p:cNvPr>
          <p:cNvSpPr>
            <a:spLocks noGrp="1"/>
          </p:cNvSpPr>
          <p:nvPr/>
        </p:nvSpPr>
        <p:spPr>
          <a:xfrm>
            <a:off x="7239000" y="3143250"/>
            <a:ext cx="2389909" cy="1428750"/>
          </a:xfrm>
          <a:prstGeom prst="rect">
            <a:avLst/>
          </a:prstGeom>
          <a:noFill/>
          <a:ln w="0">
            <a:noFill/>
          </a:ln>
        </p:spPr>
        <p:txBody>
          <a:bodyPr anchor="ctr">
            <a:normAutofit/>
          </a:bodyPr>
          <a:lstStyle/>
          <a:p>
            <a:pPr algn="ctr">
              <a:defRPr sz="6900" b="1">
                <a:solidFill>
                  <a:srgbClr val="000000"/>
                </a:solidFill>
                <a:latin typeface="Hero Bold"/>
                <a:ea typeface="Hero Bold"/>
                <a:cs typeface="Hero Bold"/>
              </a:defRPr>
            </a:pPr>
            <a:r>
              <a:rPr sz="6900" b="1" dirty="0">
                <a:solidFill>
                  <a:srgbClr val="000000"/>
                </a:solidFill>
                <a:latin typeface="Hero Bold"/>
                <a:ea typeface="Hero Bold"/>
                <a:cs typeface="Hero Bold"/>
              </a:rPr>
              <a:t>Q</a:t>
            </a:r>
            <a:r>
              <a:rPr lang="en-MY" sz="6900" b="1" dirty="0">
                <a:solidFill>
                  <a:srgbClr val="000000"/>
                </a:solidFill>
                <a:latin typeface="Hero Bold"/>
                <a:ea typeface="Hero Bold"/>
                <a:cs typeface="Hero Bold"/>
              </a:rPr>
              <a:t>&amp;A</a:t>
            </a:r>
            <a:endParaRPr sz="6900" b="1" dirty="0">
              <a:solidFill>
                <a:srgbClr val="000000"/>
              </a:solidFill>
              <a:latin typeface="Hero Bold"/>
              <a:ea typeface="Hero Bold"/>
              <a:cs typeface="Hero Bold"/>
            </a:endParaRPr>
          </a:p>
        </p:txBody>
      </p:sp>
      <p:sp>
        <p:nvSpPr>
          <p:cNvPr id="14" name="Rectangle 13">
            <a:extLst>
              <a:ext uri="{FF2B5EF4-FFF2-40B4-BE49-F238E27FC236}">
                <a16:creationId xmlns:a16="http://schemas.microsoft.com/office/drawing/2014/main" id="{EAA05CD0-2B90-4B6E-BA96-0AE85047CF7B}"/>
              </a:ext>
            </a:extLst>
          </p:cNvPr>
          <p:cNvSpPr>
            <a:spLocks noGrp="1"/>
          </p:cNvSpPr>
          <p:nvPr/>
        </p:nvSpPr>
        <p:spPr>
          <a:xfrm>
            <a:off x="4180175" y="4667250"/>
            <a:ext cx="8237827" cy="666750"/>
          </a:xfrm>
          <a:prstGeom prst="rect">
            <a:avLst/>
          </a:prstGeom>
          <a:noFill/>
          <a:ln w="0">
            <a:noFill/>
          </a:ln>
        </p:spPr>
        <p:txBody>
          <a:bodyPr anchor="ctr">
            <a:noAutofit/>
          </a:bodyPr>
          <a:lstStyle/>
          <a:p>
            <a:pPr algn="ctr">
              <a:defRPr sz="3000" b="1">
                <a:solidFill>
                  <a:srgbClr val="117C89"/>
                </a:solidFill>
                <a:latin typeface="Hero Bold"/>
                <a:ea typeface="Hero Bold"/>
                <a:cs typeface="Hero Bold"/>
              </a:defRPr>
            </a:pPr>
            <a:r>
              <a:rPr sz="8800" b="1" dirty="0">
                <a:solidFill>
                  <a:srgbClr val="117C89"/>
                </a:solidFill>
                <a:latin typeface="Hero Bold"/>
                <a:ea typeface="Hero Bold"/>
                <a:cs typeface="Hero Bold"/>
              </a:rPr>
              <a:t>Thank you</a:t>
            </a:r>
          </a:p>
        </p:txBody>
      </p:sp>
      <p:sp>
        <p:nvSpPr>
          <p:cNvPr id="15" name="Rectangle 14">
            <a:extLst>
              <a:ext uri="{FF2B5EF4-FFF2-40B4-BE49-F238E27FC236}">
                <a16:creationId xmlns:a16="http://schemas.microsoft.com/office/drawing/2014/main" id="{73A36F0B-F362-4FD6-954F-A23F97C58A63}"/>
              </a:ext>
            </a:extLst>
          </p:cNvPr>
          <p:cNvSpPr>
            <a:spLocks noGrp="1"/>
          </p:cNvSpPr>
          <p:nvPr/>
        </p:nvSpPr>
        <p:spPr>
          <a:xfrm>
            <a:off x="5957454" y="5914802"/>
            <a:ext cx="4953000" cy="619125"/>
          </a:xfrm>
          <a:prstGeom prst="rect">
            <a:avLst/>
          </a:prstGeom>
          <a:noFill/>
          <a:ln w="0">
            <a:noFill/>
          </a:ln>
        </p:spPr>
        <p:txBody>
          <a:bodyPr anchor="ctr">
            <a:normAutofit/>
          </a:bodyPr>
          <a:lstStyle/>
          <a:p>
            <a:pPr algn="ctr">
              <a:defRPr sz="2700" b="1">
                <a:solidFill>
                  <a:srgbClr val="000000"/>
                </a:solidFill>
                <a:latin typeface="Hero Bold"/>
                <a:ea typeface="Hero Bold"/>
                <a:cs typeface="Hero Bold"/>
              </a:defRPr>
            </a:pPr>
            <a:r>
              <a:rPr sz="2700" b="1">
                <a:solidFill>
                  <a:srgbClr val="000000"/>
                </a:solidFill>
                <a:latin typeface="Hero Bold"/>
                <a:ea typeface="Hero Bold"/>
                <a:cs typeface="Hero Bold"/>
              </a:rPr>
              <a:t>JomVoyage</a:t>
            </a:r>
          </a:p>
        </p:txBody>
      </p:sp>
      <p:sp>
        <p:nvSpPr>
          <p:cNvPr id="16" name="Rectangle 15">
            <a:extLst>
              <a:ext uri="{FF2B5EF4-FFF2-40B4-BE49-F238E27FC236}">
                <a16:creationId xmlns:a16="http://schemas.microsoft.com/office/drawing/2014/main" id="{69AA554A-42CC-4F3A-9498-0CD11027270C}"/>
              </a:ext>
            </a:extLst>
          </p:cNvPr>
          <p:cNvSpPr>
            <a:spLocks noGrp="1"/>
          </p:cNvSpPr>
          <p:nvPr/>
        </p:nvSpPr>
        <p:spPr>
          <a:xfrm>
            <a:off x="4385829" y="6533927"/>
            <a:ext cx="8096250" cy="1190625"/>
          </a:xfrm>
          <a:prstGeom prst="rect">
            <a:avLst/>
          </a:prstGeom>
          <a:noFill/>
          <a:ln w="0">
            <a:noFill/>
          </a:ln>
        </p:spPr>
        <p:txBody>
          <a:bodyPr anchor="ctr">
            <a:normAutofit/>
          </a:bodyPr>
          <a:lstStyle/>
          <a:p>
            <a:pPr algn="ctr">
              <a:defRPr sz="2100" b="0">
                <a:solidFill>
                  <a:srgbClr val="30434B"/>
                </a:solidFill>
                <a:latin typeface="Quicksand"/>
                <a:ea typeface="Quicksand"/>
                <a:cs typeface="Quicksand"/>
              </a:defRPr>
            </a:pPr>
            <a:r>
              <a:rPr sz="2100" b="0" dirty="0">
                <a:solidFill>
                  <a:srgbClr val="30434B"/>
                </a:solidFill>
                <a:latin typeface="Quicksand"/>
                <a:ea typeface="Quicksand"/>
                <a:cs typeface="Quicksand"/>
              </a:rPr>
              <a:t>Elderly-Friendly AI-Based Travel Recommendation Chatbot in Malaysia</a:t>
            </a:r>
          </a:p>
        </p:txBody>
      </p:sp>
    </p:spTree>
    <p:extLst>
      <p:ext uri="{BB962C8B-B14F-4D97-AF65-F5344CB8AC3E}">
        <p14:creationId xmlns:p14="http://schemas.microsoft.com/office/powerpoint/2010/main" val="1521910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1426</Words>
  <Application>Microsoft Office PowerPoint</Application>
  <DocSecurity>0</DocSecurity>
  <PresentationFormat>Custom</PresentationFormat>
  <Paragraphs>205</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Quicksand Bold</vt:lpstr>
      <vt:lpstr>Calibri</vt:lpstr>
      <vt:lpstr>Arial</vt:lpstr>
      <vt:lpstr>Hero Bold</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CHUM DAO SHEN</cp:lastModifiedBy>
  <cp:revision>3</cp:revision>
  <dcterms:created xsi:type="dcterms:W3CDTF">2026-09-06T17:18:59Z</dcterms:created>
  <dcterms:modified xsi:type="dcterms:W3CDTF">2026-09-07T06:44:13Z</dcterms:modified>
</cp:coreProperties>
</file>